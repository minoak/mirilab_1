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저희는 '미리랩'을 만들었습니다. 미리랩은 정책을 배포하기 '전에' AI 가상 시민 사회에서 '미리' 반응을 실험하는 랩(Lab)입니다. 아래 캐릭터들은 실제로 저희 시뮬레이션 속에서 살아가는 가상 시민들인데, 발표 마지막에 이 친구들이 마을에서 직접 움직이는 모습을 보여드리겠습니다. (팀명·발표자 이름은 슬라이드에 채워주세요)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발표는 여섯 부분입니다. 문제의식에서 출발해, 시스템 두 축을 보여드리고, 이 모양에 도달하기까지의 시행착오를 솔직하게 공유합니다. 그리고 '이걸 믿을 수 있나'에 대한 정량 검증, 마지막으로 확장 구현(게시판 RAG와 미리마을)과 한계를 말씀드립니다. — 섹션 단위로 발표자를 나누기 좋게 구성했습니다. 10분 버전이 필요하면 02·04·05를 한 장씩 줄이는 걸 추천합니다.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정부와 지자체는 매년 수천 건의 정책을 발표하지만, 정작 필요한 사람에게 닿지 못하는 구조적 누수가 반복됩니다. 모르거나, 어렵거나, 디지털이 벽이거나, 발표돼도 닿지 않거나. 기존 서비스는 전부 정책을 '찾는' 시민을 돕는 도구입니다. 정책을 '만드는' 입안자가 배포 전에 '누가 못 받을지'를 미리 보는 도구는 없습니다. 저희는 바로 그 빈자리를 노렸습니다.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미리랩의 한 줄 포지셔닝입니다. 같은 청년 월세 정책이라도 26세 청년은 5분 만에 신청해 혜택을 받고, 46세 중장년은 자녀를 위해 대신 신청해 주고, 74세 어르신은 6개월이 지나도 존재조차 모릅니다. '같은 정책, 다른 인생' — 이 갈림을 배포 전에 미리 보여주는 것이 미리랩입니다. 이 세 가지 색(수혜·경계·사각)이 오늘 발표 전체를 관통하는 색입니다.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시스템은 처음부터 이 모양이 아니었습니다. 처음엔 단일 LangGraph 파이프라인 하나가 전부였습니다 — react가 시민 반응을, interact가 전파를, aggregate가 집계까지 한 흐름에서 다 했습니다. 그런데 한 번의 호출이 인지·감정·점수·결과 예측까지 너무 많은 걸 판정하다 보니 두 가지가 터졌습니다. 하나는 출력 스키마가 자꾸 깨졌고, 또 하나는 같은 사람의 신청·수령을 여러 곳이 따로 판정해 서로 모순됐습니다. 그래서 책임을 쪼갰습니다. 축1(정보)은 시민의 첫 반응만 만들고, 축2(결과)가 그걸 시딩 삼아 시간 속에서 인생을 굴리고, 축3(요약)가 두 축을 읽어 집계하고 서술합니다 — 단방향이라 뒤로 흐르지 않고, 판정 지점이 하나라 모순이 안 생깁니다. LangGraph는 이제 전체가 아니라 축1만 담당하고, 게이지를 포함한 모든 화면 숫자는 축3 한 곳에서 나옵니다. 바닥엔 실제 한국 통계 기반 페르소나가 있고, 위는 Streamlit 7탭으로 통합됩니다. 데모는 Gemini 시뮬을 미리 녹화해 재생하는 방식이라 네트워크가 죽어도 진짜 결과로 시연됩니다. 시민 모델은 사이드바에서 선택 가능, 현재 기본은 gemini-3-flash.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페르소나가 어떻게 만들어졌는지가 신뢰의 출발점입니다. NVIDIA의 NeMo Data Designer가 두 단계로 빚습니다. 먼저 실제 한국 인구통계 분포에서 나이·성별·지역·직업·학력·가구형태를 뽑고, 성격 5요인 모형으로 성격의 결을 입힙니다 — 그래서 '76세·초졸·무직·하역종사원'처럼 통계적으로 함께 나타날 법한 조합이 자연스럽게 나옵니다. 그다음 LLM이 1차로 그 사람의 문화적 배경·전문성·인생 목표·취미를 채우고, 2차로 이 모두를 종합해 직업·가족·음식·여행 같은 영역별 인물 이야기를 완성합니다. 결과는 100만 명 × 26개 항목입니다. 핵심은 — 우리가 보고 싶은 반응을 손으로 심은 게 아니라 실제 분포에서 뽑았기 때문에, 정책 사각지대에 놓일 인물이 처음부터 표본 안에 들어 있다는 점입니다. 이게 다음 장의 '우리가 이 데이터를 어떻게 쓰는가'의 전제가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페르소나는 손으로 만들지 않았습니다. NVIDIA가 통계청·대법원·건보공단 등 실제 통계로 합성한 100만 행 데이터셋에서 seed 고정으로 샘플링합니다. 손으로 만들면 보고 싶은 반응을 심게 되니까요. 실제 분포에서 뽑으면 사각지대 인물이 '이미 시드 안에' 들어 있습니다. 데이터셋 자체의 현실 정합은 제작사(NVIDIA)가 카드에 검증·문서화했고(고령층 성비 1.52배, 최다 성씨 김 21.5% 등), 저희는 '거기서 쏠림 없이 뽑았는가'를 부트스트랩 1만회로 검증해 7개 변수 전부 통과했습니다(검증 ①, 뒤 04장). 데이터에 없는 신호는 순수 파이썬 규칙으로 유도하고, 정부 신뢰처럼 정보가 없는 값은 자리표시자임을 정직하게 표기합니다. 재현성이 발표 안정성이기도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축1은 시민 각자의 첫 반응(t0)을 만드는 단계입니다. 정책을 보고 반응문과 입장(찬성·반대·혼합), 익명 설문에 답합니다. 중요한 건 — LLM은 0~100 점수를 직접 매기지 않습니다. 설문 선택지만 고르고 숫자 변환은 코드가 합니다(판단은 LLM, 단위는 코드). 구버전엔 LLM에 점수를 직접 물었는데, 기분이 전 점수에 번지는 정서 후광 탓에 비대상 노인이 청년 정책에 수혜 70을 주는 버그가 있었고, 설문 전환으로 해소했습니다. LangGraph 노드 중 interact(다른 시민을 보고 입장 변화)는 측정해보니 메인 집계엔 도움이 안 돼, 지금은 SNS 채팅 탭 데모에서만 씁니다 — 덜어낸 흔적을 숨기지 않고 남겨둔 부분입니다. 화면에 뜨는 게이지·리포트 같은 집계는 이 단계가 아니라 축3에서 나옵니다. 이 탭은 데모로 직접 보여드립니다.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축 B 정책 인생극장입니다. 시민 전원을 1·3·6개월 시간 경과 속에서 살게 하고, 그 '실제 결과'에서 수혜·경계·사각 세 사람을 뽑아 카드로 보여줍니다. 카드를 펼치면 '알게 됨 → 신청 → 서류에서 막힘' 같은 여정 띠와 함께, 어떤 경로로 알게 됐고 어디서 막혔는지가 서사로 나옵니다. 장소 5곳이 사각지대의 표현 장치인데, 청년은 복지로에서 5분이면 끝나는 일이 고령 어르신에겐 어느 채널로도 닿지 못하는 일이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축3는 집계 단계입니다. 핵심은 — 화면에 뜨는 게이지와 리포트의 모든 숫자가 여기 한 곳(axis3)에서 나온다는 점입니다. 원래 LangGraph의 aggregate 노드도 게이지를 계산했지만, 지금은 axis3가 그 값을 덮어쓰기 때문에 실제 화면에 쓰이는 건 axis3 산출입니다. axis3는 축1의 시민 반응(t0)과 축2의 인생극장 결과를 입력으로 받아, 순수 파이썬 함수로 집계합니다 — LLM도 streamlit도 타지 않아서 같은 입력이면 늘 같은 숫자가 나옵니다. 게이지는 정책수용도·신청의향지수·사회혼란도 셋이고, 사회혼란도는 세 번의 재정의 끝에 '반발 강도 = 불만 점수 평균'으로 확정했습니다. 종합 리포트(.md)는 숫자와 인용을 코드가 채우고 LLM은 산문 네 칸만 쓰는 고정 양식이라, 매번 같은 틀로 나옵니다. 집계를 한 곳으로 모은 게 '판정 지점이 하나라 모순이 안 생긴다'는 재설계의 핵심입니다.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미리랩은 한 번에 설계되지 않았습니다. 처음엔 욕심껏 여덟 가지 기능을 구상했지만 — RAG 게시판, 시민 에이전트, SNS 전파, 감성 대시보드, 전파 그래프, 게시판 자동답변, A/B 정책 테스트, 쉬운 글 변환 — 4일 안에 '검증 가능한 핵심'만 남기기로 했습니다. 왼쪽이 처음 욕심, 오른쪽이 최종 형태입니다. 좁히는 과정엔 분명한 판단이 있었습니다. 전파 그래프는 통계에서 무작위로 뽑은 페르소나가 서로 모르는 독립 개인이라 그 사이에 전파선을 그릴 근거가 없어서 버렸고, '예측'이라는 단어는 '맞히는 도구냐'는 검증 공격을 부르기 때문에 '영향 시나리오'로 포지셔닝을 바꿨습니다. 중요한 건 — 좁힌 것들이 버려진 게 아니라 뒤에서 다른 모습으로 돌아온다는 점입니다. 전파는 미리마을로, RAG는 게시판으로 돌아왔습니다(05장). 다음은 이렇게 좁히는 과정에서 만난 구체적인 시행착오 세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시행착오, 저희가 '두 심판 문제'라고 부르는 버그입니다. 처음엔 시뮬레이션 전에 점수로 세 명을 '예측'해서 뽑았는데, 경계로 뽑힌 사람의 이야기가 '월세를 받았다'로 나오는 모순이 생겼습니다. 라벨을 정하는 심판과 이야기를 쓰는 심판이 달랐던 거죠. 핵심 통찰은 — 수혜·경계·사각은 점수가 아니라 '결과'라는 것. 그래서 전원을 먼저 살게 한 뒤 실제 결과에서 뽑는 방식으로 바꿨고, 이제 라벨과 이야기는 구조적으로 어긋날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시행착오 — 이건 두 막짜리입니다. 1막: 극단 정책 '전 국민 10억 지급'에 전원 찬성이 나왔습니다. 시민들이 '내가 받느냐'만 따지는 계산기였던 거죠. 프롬프트에 '현실적으로 판단하라'를 넣자 전원 반대로 바뀌어 해결된 듯 보였습니다. 2막: 그 처방이 정상 정책의 혼란도까지 끌어올리는 과교정을 만들었고, 결국 프롬프트를 전면 재설계하면서 판단 지시를 전부 철거했습니다 — 프롬프트는 무대만 제공하고, 판단은 페르소나 데이터에서 나오게. 진짜 답은 지시가 아니라 측정 방식(점수를 익명 설문로)과 모델 선택(Gemini 전환)이었습니다. '프롬프트로 조향하지 마라'가 이 시행착오의 최종 교훈이고, 이 원칙 위에서 다음 장의 검증이 돌아갑니다.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번째는 버그 하나가 아니라, 반복해서 발견한 설계 패턴입니다. LLM은 확률적이라 가끔 말이 안 되는 출력을 냅니다 — 신청했던 사람이 '몰랐다'로 퇴행하거나, 46세를 청년 정책 사각지대로 잘못 라벨하거나, 모르던 사람이 어느새 다 알게 되거나. 저희 답은 일관됩니다: 서사와 판단은 LLM에게 맡기되, 어겨선 안 되는 규칙(상태는 안 되돌아간다 / 대상 여부는 사실이다 / 모르는 사람은 만나야 안다)은 코드 가드가 보증합니다. 이 철학이 시스템 전체를 관통합니다.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'이걸 믿을 수 있나'에 답합니다. 먼저 분명히 — 미리랩은 미래를 맞히는 예측기가 아닙니다. 정책을 넣으면 어떤 일이 벌어질 수 있는지, 그 가능성과 서사를 보는 시뮬레이터입니다. 그래서 '과거 여론조사를 얼마나 맞혔나' 같은 정확도로는 평가하지 않습니다 — 그 지표는 약할 수밖에 없고, 솔직히 인정합니다. 대신 저희가 기댄 논리는 스트레스 테스트입니다. 말도 안 되는 극단 정책을 넣어도 시민들이 상식적인 방향으로 반응한다면, 평범한 정책에서의 반응도 믿을 수 있다는 겁니다. 그 위에서 세 가지를 봅니다 — 재료(시민이 한국 인구를 닮았는가), 작동(반응 차이를 만드는 게 페르소나인가), 강건성(극단 입력에도 상식을 지키는가). 방법론은 사전등록을 따릅니다 — 판정 기준을 실행 전에 박아두고, 결과가 나빠도 점수를 고치지 않습니다. 아래 그림이 ① 재료 검증입니다. 전체 100만 명 분포(회색)와 우리 24명(파랑)을 변수별로 비교해, 무작위로 뽑아도 생기는 어긋남의 정상 범위인지 부트스트랩 1만 번으로 판정했고, 7개 변수 전부 통과했습니다. 데이터셋 자체의 현실 정합은 NVIDIA가 카드에 검증·문서화한 것을 인용합니다.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검증 ②의 이야기는 저희 발표에서 가장 정직한 대목입니다. 기준을 먼저 등록하고 돌렸더니 0대 4로 떨어졌습니다 — 그리고 점수는 그대로 둔 채 원자료를 부검했더니, 떨어진 이유가 반전이었습니다. 우리 채점 기준은 나이와 소득만 보고 젊은 10명을 '대상자'라 표시했는데, 시뮬 속 시민들은 정책 원문의 별도거주·무주택·소득 요건까지 읽고 전원이 '나는 해당 안 됨'을 정확히 판정한 겁니다. 실제 청년월세도 신청자 3명 중 2명이 요건에서 탈락했으니, 시뮬이 현실을 맞게 재현했고 채점표가 그걸 몰랐던 거죠. 아래 그림이 진짜 증거입니다 — 익명이면 '나도 도움되겠지'로 낙관하던 응답(회색)이, 인물 카드가 들어가는 순간 자기 처지(영향 없음 99%)로 수렴합니다. 페르소나가 차이를 만든다는 건 분산이 아니라 이 '평균 이동'으로 증명됐습니다. 사전등록 원칙대로 점수는 0/4 그대로 두고, 채점 도구 재설계는 다음 사이클로 남겼습니다 — 기준이 틀렸다고 기준을 몰래 고치면 검증이 아니니까요.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검증 ③은 행동 벤치마크 — 일부러 만든 가상 정책 5종(일부는 농담조)을 넣고 사회가 상식 방향으로 갈라지는지 보는 고정 시험지입니다. 기대 방향은 실행 전에 등록했고, 7개 체크 전부 통과했습니다. 무임승차 폐지엔 60세 이상이 반대 57%로 갈라지고(미만은 6%), 여성에게서 걷어 남성에게 주는 부조리 정책엔 여성 전원이 반대합니다. 백미 두 개 — 전 국민 반려묘 보급의 유일한 찬성자는 페르소나 서사에 펫푸드 창업 꿈이 있는 시민이었고, 남성에게 돈을 주는 정책에 남성의 23%가 '우리 집 전체로는 0원'이라며 반대했습니다. 입장이 인구통계를 넘어 서사·가구 단위 사고와 정렬된다는 증거입니다. 그리고 이 벤치마크는 일회용이 아니라 — 모델이나 프롬프트를 바꿀 때마다 다시 돌려 '여전히 사람답게 구는가'를 확인하는 회귀 테스트로 씁니다. 5종 전부 데모 녹화본이라 지금 이 자리에서 키 없이 재생 시연도 가능합니다.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확장 파트 첫 번째, 게시판 RAG입니다. 2일차에 'MVP에서 제외'로 좁혔던 RAG가 마지막에 팀의 손으로 돌아왔습니다. 시민이나 입안자가 정책 문서에 질문하면, 벡터 검색으로 찾은 근거 '안에서만' 답하고 근거와 품질지표를 함께 보여줍니다. 협업 방식이 포인트인데 — 본체에는 자리와 반환 계약만 설계해 두고 팀원이 독립 패키지로 구현해서 마지막에 끼워 넣었습니다. 키가 없으면 추출식 폴백으로 동작하니 데모도 안전합니다.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확장, 미리마을입니다. Generative Agents 논문의 원형 — 에이전트가 공간에서 스케줄대로 살아가는 마을을 포켓몬식 오버월드로 구현했습니다. LLM이 10명 각자의 하루를 생성하면 브라우저는 LLM 호출 없이 재생만 합니다. 발표 중에도 안전하죠. 재미있는 시행착오가 있었는데, LLM이 짠 스케줄은 순간이동을 가정해서 막상 걸어가면 만남의 절반이 증발했습니다. 실제 도보 시간을 시뮬해서 만남을 다시 뽑았고요. 그리고 시키지 않았는데 캐릭터들이 서로를 일정에 엮고, 같은 카페 사장이 손님마다 다른 대화를 하는 '창발'이 나타났습니다. [Q&amp;A 대비 — "손으로 안 만든다더니 모순 아니냐": 축 A·B의 통계 샘플은 '대표성'이 목적이라 무작위 추출이 맞고, 미리마을은 '전파'가 목적이라 서로 아는 관계가 필수입니다. 무작위 샘플엔 관계가 없으니 손제작 — 목적이 다르면 재료도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미리마을에 정책을 주입하면 질문이 바뀝니다. '효과가 어떤가'가 아니라 '소식이 누구에게, 어떤 경로로 닿는가'. 주민센터 정책 담당 공무원 영희, 한 사람만 직무로 아는 상태로 시작하면, 마을 사람들이 스케줄대로 살다가 마주친 대화에서 소식이 옮습니다. 밤에는 각자 일기로 하루를 압축해 다음날의 기억이 됩니다. 실측 결과 하루 만에 10명 중 9명에게 퍼졌는데, 동선이 안 겹친 박어르신 한 분이 사각지대로 남았습니다. 12장에서 보신 '전파 게이트'가 바로 이 무대의 코드 가드입니다. 그리고 중요한 것 — 처음에 버렸던 '전파'가 여기서 부활했습니다. 여긴 서로 아는 마을이라 전파가 연출이 아니라 관계와 동선의 결과이기 때문입니다. → 이 슬라이드 직후 미리마을 재생 데모(60~90초): 발표 첫 장에서 약속한 '이 친구들이 직접 움직이는 모습'을 여기서 회수합니다. 녹화 재생이라 LLM 0콜, 발표장 네트워크와 무관하게 안전.</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기능 얘기를 마치기 전에, 4일 동안 4명이 서로의 작업을 깨지 않게 한 규율을 짧게 소개합니다. 공유 스키마는 변경 금지·추가만 허용하는 팀 계약으로 묶었고, 키 없이 도는 mock 모드와 헤드리스 회귀 스크립트 덕분에 누가 무엇을 바꿔도 안전하게 검증했습니다. 게시판 RAG가 마지막 날 본체를 한 줄도 안 깨고 들어올 수 있었던 게 이 규율의 실증입니다. (시간이 빠듯하면 이 장은 한 문장으로 줄이고 넘어가도 됩니다. 역할 분담 줄은 실제 팀 구성으로 채워주세요.)</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마무리 전에 한계를 저희 입으로 먼저 말씀드립니다. 미리랩은 미래를 맞히는 도구가 아니고, 그렇게 주장하지도 않습니다. 소득 판정은 휴리스틱 근사이고, '안 믿지만 받으면 좋지'를 분리할 실현 기대 측정축이 아직 없고, 표본은 작습니다. 그리고 가장 큰 공백을 정직하게 — 과거 정책 4건을 당시 여론조사와 직접 맞대본 갭 측정에서 찬성률 평균 오차가 27.4%p였고, 주범은 이념·가치 축 부재로 인한 '반대 진영 소실'이었습니다. 이건 프롬프트 수정이 아니라 페르소나 데이터 강화로 풀 문제로 진단해 뒀습니다. 저희가 보여드린 건 '정확한 예측'이 아니라 — 페르소나에 근거하고, 상식 방향으로 구조화되고, 기준을 먼저 등록하고 재는 '영향 시나리오'입니다. 이 정직한 선 긋기가 저희 설계의 일부입니다.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정리하면 — 미리랩은 실제 인구통계 기반 가상 시민에게 정책을 먼저 물어봐서, '같은 정책, 다른 인생'의 갈림을 배포 전에 보여주는 실험실입니다. 다음 단계의 1순위는 이념·가치 축 — 과거 정책 갭 측정에서 확인된 '반대 진영 소실'(찬성률 MAE 27.4%p)을 페르소나 데이터 강화로 푸는 일입니다. 이어서 실현 기대 문항, Gemini 기준 갭 리베이스라인, 미리마을 확장이 준비돼 있습니다. 들어주셔서 감사합니다. (Q&amp;A 예상 질문: ①'실제 사람 반응과 맞는지 확인했나' → 정직하게: 과거 정책 4건을 당시 여론조사와 직접 맞대봤고 평균 오차 27.4%p, 주범(이념축 부재)과 처방(데이터 강화)까지 진단해 둔 상태라고 답변. Park et al.도 human eval과 비교했음을 인지하고 있다고 덧붙이면 강함 ②비용은 → 시뮬 1회 1~2센트, 검증·벤치마크 전체 세트도 몇 달러 수준 ③실제 입안자가 어떻게 쓰나 → 4장 컨셉의 사각지대 발견 + 정책 개선 탭의 종합 리포트(.md)로 답변)</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 name="TextBox 2"/>
          <p:cNvSpPr txBox="1"/>
          <p:nvPr/>
        </p:nvSpPr>
        <p:spPr>
          <a:xfrm>
            <a:off x="914400" y="1417320"/>
            <a:ext cx="10362895" cy="3291840"/>
          </a:xfrm>
          <a:prstGeom prst="rect">
            <a:avLst/>
          </a:prstGeom>
          <a:noFill/>
        </p:spPr>
        <p:txBody>
          <a:bodyPr wrap="square" lIns="0" rIns="0" tIns="0" bIns="0">
            <a:spAutoFit/>
          </a:bodyPr>
          <a:lstStyle/>
          <a:p>
            <a:pPr algn="l">
              <a:lnSpc>
                <a:spcPct val="112000"/>
              </a:lnSpc>
              <a:spcBef>
                <a:spcPts val="0"/>
              </a:spcBef>
              <a:spcAft>
                <a:spcPts val="200"/>
              </a:spcAft>
            </a:pPr>
            <a:r>
              <a:rPr sz="6400" b="1" i="0">
                <a:solidFill>
                  <a:srgbClr val="1F3A5F"/>
                </a:solidFill>
                <a:latin typeface="맑은 고딕"/>
                <a:ea typeface="맑은 고딕"/>
                <a:cs typeface="맑은 고딕"/>
              </a:rPr>
              <a:t>미리랩</a:t>
            </a:r>
          </a:p>
          <a:p>
            <a:pPr algn="l">
              <a:lnSpc>
                <a:spcPct val="112000"/>
              </a:lnSpc>
              <a:spcBef>
                <a:spcPts val="0"/>
              </a:spcBef>
              <a:spcAft>
                <a:spcPts val="1800"/>
              </a:spcAft>
            </a:pPr>
            <a:r>
              <a:rPr sz="2000" b="1" i="0">
                <a:solidFill>
                  <a:srgbClr val="2D6CDF"/>
                </a:solidFill>
                <a:latin typeface="맑은 고딕"/>
                <a:ea typeface="맑은 고딕"/>
                <a:cs typeface="맑은 고딕"/>
              </a:rPr>
              <a:t>MiriLab — AI 시민 사회 정책 실험실</a:t>
            </a:r>
          </a:p>
          <a:p>
            <a:pPr algn="l">
              <a:lnSpc>
                <a:spcPct val="112000"/>
              </a:lnSpc>
              <a:spcBef>
                <a:spcPts val="0"/>
              </a:spcBef>
              <a:spcAft>
                <a:spcPts val="200"/>
              </a:spcAft>
            </a:pPr>
            <a:r>
              <a:rPr sz="2200" b="0" i="0">
                <a:solidFill>
                  <a:srgbClr val="1F2937"/>
                </a:solidFill>
                <a:latin typeface="맑은 고딕"/>
                <a:ea typeface="맑은 고딕"/>
                <a:cs typeface="맑은 고딕"/>
              </a:rPr>
              <a:t>정책을 배포하기 전에,</a:t>
            </a:r>
          </a:p>
          <a:p>
            <a:pPr algn="l">
              <a:lnSpc>
                <a:spcPct val="112000"/>
              </a:lnSpc>
              <a:spcBef>
                <a:spcPts val="0"/>
              </a:spcBef>
              <a:spcAft>
                <a:spcPts val="1600"/>
              </a:spcAft>
            </a:pPr>
            <a:r>
              <a:rPr sz="2200" b="0" i="0">
                <a:solidFill>
                  <a:srgbClr val="1F2937"/>
                </a:solidFill>
                <a:latin typeface="맑은 고딕"/>
                <a:ea typeface="맑은 고딕"/>
                <a:cs typeface="맑은 고딕"/>
              </a:rPr>
              <a:t>실제 한국 인구통계 기반 </a:t>
            </a:r>
            <a:r>
              <a:rPr sz="2200" b="1" i="0">
                <a:solidFill>
                  <a:srgbClr val="2D6CDF"/>
                </a:solidFill>
                <a:latin typeface="맑은 고딕"/>
                <a:ea typeface="맑은 고딕"/>
                <a:cs typeface="맑은 고딕"/>
              </a:rPr>
              <a:t>AI 가상 시민</a:t>
            </a:r>
            <a:r>
              <a:rPr sz="2200" b="0" i="0">
                <a:solidFill>
                  <a:srgbClr val="1F2937"/>
                </a:solidFill>
                <a:latin typeface="맑은 고딕"/>
                <a:ea typeface="맑은 고딕"/>
                <a:cs typeface="맑은 고딕"/>
              </a:rPr>
              <a:t>에게 먼저 물어본다.</a:t>
            </a:r>
          </a:p>
          <a:p>
            <a:pPr algn="l">
              <a:lnSpc>
                <a:spcPct val="112000"/>
              </a:lnSpc>
              <a:spcBef>
                <a:spcPts val="0"/>
              </a:spcBef>
              <a:spcAft>
                <a:spcPts val="0"/>
              </a:spcAft>
            </a:pPr>
            <a:r>
              <a:rPr sz="1500" b="1" i="0">
                <a:solidFill>
                  <a:srgbClr val="2E9E6B"/>
                </a:solidFill>
                <a:latin typeface="맑은 고딕"/>
                <a:ea typeface="맑은 고딕"/>
                <a:cs typeface="맑은 고딕"/>
              </a:rPr>
              <a:t>수혜 </a:t>
            </a:r>
            <a:r>
              <a:rPr sz="1500" b="0" i="0">
                <a:solidFill>
                  <a:srgbClr val="6B7280"/>
                </a:solidFill>
                <a:latin typeface="맑은 고딕"/>
                <a:ea typeface="맑은 고딕"/>
                <a:cs typeface="맑은 고딕"/>
              </a:rPr>
              <a:t>·  </a:t>
            </a:r>
            <a:r>
              <a:rPr sz="1500" b="1" i="0">
                <a:solidFill>
                  <a:srgbClr val="E8902A"/>
                </a:solidFill>
                <a:latin typeface="맑은 고딕"/>
                <a:ea typeface="맑은 고딕"/>
                <a:cs typeface="맑은 고딕"/>
              </a:rPr>
              <a:t>경계 </a:t>
            </a:r>
            <a:r>
              <a:rPr sz="1500" b="0" i="0">
                <a:solidFill>
                  <a:srgbClr val="6B7280"/>
                </a:solidFill>
                <a:latin typeface="맑은 고딕"/>
                <a:ea typeface="맑은 고딕"/>
                <a:cs typeface="맑은 고딕"/>
              </a:rPr>
              <a:t>·  </a:t>
            </a:r>
            <a:r>
              <a:rPr sz="1500" b="1" i="0">
                <a:solidFill>
                  <a:srgbClr val="D9534F"/>
                </a:solidFill>
                <a:latin typeface="맑은 고딕"/>
                <a:ea typeface="맑은 고딕"/>
                <a:cs typeface="맑은 고딕"/>
              </a:rPr>
              <a:t>사각지대 </a:t>
            </a:r>
            <a:r>
              <a:rPr sz="1500" b="0" i="0">
                <a:solidFill>
                  <a:srgbClr val="6B7280"/>
                </a:solidFill>
                <a:latin typeface="맑은 고딕"/>
                <a:ea typeface="맑은 고딕"/>
                <a:cs typeface="맑은 고딕"/>
              </a:rPr>
              <a:t>— 같은 정책, 다른 인생</a:t>
            </a:r>
          </a:p>
        </p:txBody>
      </p:sp>
      <p:pic>
        <p:nvPicPr>
          <p:cNvPr id="4" name="Picture 3" descr="sprite_minsu.png"/>
          <p:cNvPicPr>
            <a:picLocks noChangeAspect="1"/>
          </p:cNvPicPr>
          <p:nvPr/>
        </p:nvPicPr>
        <p:blipFill>
          <a:blip r:embed="rId2"/>
          <a:stretch>
            <a:fillRect/>
          </a:stretch>
        </p:blipFill>
        <p:spPr>
          <a:xfrm>
            <a:off x="914400" y="5120640"/>
            <a:ext cx="566928" cy="566928"/>
          </a:xfrm>
          <a:prstGeom prst="rect">
            <a:avLst/>
          </a:prstGeom>
        </p:spPr>
      </p:pic>
      <p:pic>
        <p:nvPicPr>
          <p:cNvPr id="5" name="Picture 4" descr="sprite_sua.png"/>
          <p:cNvPicPr>
            <a:picLocks noChangeAspect="1"/>
          </p:cNvPicPr>
          <p:nvPr/>
        </p:nvPicPr>
        <p:blipFill>
          <a:blip r:embed="rId3"/>
          <a:stretch>
            <a:fillRect/>
          </a:stretch>
        </p:blipFill>
        <p:spPr>
          <a:xfrm>
            <a:off x="1627632" y="5120640"/>
            <a:ext cx="566928" cy="566928"/>
          </a:xfrm>
          <a:prstGeom prst="rect">
            <a:avLst/>
          </a:prstGeom>
        </p:spPr>
      </p:pic>
      <p:pic>
        <p:nvPicPr>
          <p:cNvPr id="6" name="Picture 5" descr="sprite_owner.png"/>
          <p:cNvPicPr>
            <a:picLocks noChangeAspect="1"/>
          </p:cNvPicPr>
          <p:nvPr/>
        </p:nvPicPr>
        <p:blipFill>
          <a:blip r:embed="rId4"/>
          <a:stretch>
            <a:fillRect/>
          </a:stretch>
        </p:blipFill>
        <p:spPr>
          <a:xfrm>
            <a:off x="2340864" y="5120640"/>
            <a:ext cx="566928" cy="566928"/>
          </a:xfrm>
          <a:prstGeom prst="rect">
            <a:avLst/>
          </a:prstGeom>
        </p:spPr>
      </p:pic>
      <p:pic>
        <p:nvPicPr>
          <p:cNvPr id="7" name="Picture 6" descr="sprite_staff.png"/>
          <p:cNvPicPr>
            <a:picLocks noChangeAspect="1"/>
          </p:cNvPicPr>
          <p:nvPr/>
        </p:nvPicPr>
        <p:blipFill>
          <a:blip r:embed="rId5"/>
          <a:stretch>
            <a:fillRect/>
          </a:stretch>
        </p:blipFill>
        <p:spPr>
          <a:xfrm>
            <a:off x="3054096" y="5120640"/>
            <a:ext cx="566928" cy="566928"/>
          </a:xfrm>
          <a:prstGeom prst="rect">
            <a:avLst/>
          </a:prstGeom>
        </p:spPr>
      </p:pic>
      <p:pic>
        <p:nvPicPr>
          <p:cNvPr id="8" name="Picture 7" descr="sprite_grandma.png"/>
          <p:cNvPicPr>
            <a:picLocks noChangeAspect="1"/>
          </p:cNvPicPr>
          <p:nvPr/>
        </p:nvPicPr>
        <p:blipFill>
          <a:blip r:embed="rId6"/>
          <a:stretch>
            <a:fillRect/>
          </a:stretch>
        </p:blipFill>
        <p:spPr>
          <a:xfrm>
            <a:off x="3767328" y="5120640"/>
            <a:ext cx="566928" cy="566928"/>
          </a:xfrm>
          <a:prstGeom prst="rect">
            <a:avLst/>
          </a:prstGeom>
        </p:spPr>
      </p:pic>
      <p:pic>
        <p:nvPicPr>
          <p:cNvPr id="9" name="Picture 8" descr="sprite_oldman.png"/>
          <p:cNvPicPr>
            <a:picLocks noChangeAspect="1"/>
          </p:cNvPicPr>
          <p:nvPr/>
        </p:nvPicPr>
        <p:blipFill>
          <a:blip r:embed="rId7"/>
          <a:stretch>
            <a:fillRect/>
          </a:stretch>
        </p:blipFill>
        <p:spPr>
          <a:xfrm>
            <a:off x="4480560" y="5120640"/>
            <a:ext cx="566928" cy="566928"/>
          </a:xfrm>
          <a:prstGeom prst="rect">
            <a:avLst/>
          </a:prstGeom>
        </p:spPr>
      </p:pic>
      <p:pic>
        <p:nvPicPr>
          <p:cNvPr id="10" name="Picture 9" descr="sprite_miyoung.png"/>
          <p:cNvPicPr>
            <a:picLocks noChangeAspect="1"/>
          </p:cNvPicPr>
          <p:nvPr/>
        </p:nvPicPr>
        <p:blipFill>
          <a:blip r:embed="rId8"/>
          <a:stretch>
            <a:fillRect/>
          </a:stretch>
        </p:blipFill>
        <p:spPr>
          <a:xfrm>
            <a:off x="5193792" y="5120640"/>
            <a:ext cx="566928" cy="566928"/>
          </a:xfrm>
          <a:prstGeom prst="rect">
            <a:avLst/>
          </a:prstGeom>
        </p:spPr>
      </p:pic>
      <p:pic>
        <p:nvPicPr>
          <p:cNvPr id="11" name="Picture 10" descr="sprite_junho.png"/>
          <p:cNvPicPr>
            <a:picLocks noChangeAspect="1"/>
          </p:cNvPicPr>
          <p:nvPr/>
        </p:nvPicPr>
        <p:blipFill>
          <a:blip r:embed="rId9"/>
          <a:stretch>
            <a:fillRect/>
          </a:stretch>
        </p:blipFill>
        <p:spPr>
          <a:xfrm>
            <a:off x="5907024" y="5120640"/>
            <a:ext cx="566928" cy="566928"/>
          </a:xfrm>
          <a:prstGeom prst="rect">
            <a:avLst/>
          </a:prstGeom>
        </p:spPr>
      </p:pic>
      <p:pic>
        <p:nvPicPr>
          <p:cNvPr id="12" name="Picture 11" descr="sprite_jimin.png"/>
          <p:cNvPicPr>
            <a:picLocks noChangeAspect="1"/>
          </p:cNvPicPr>
          <p:nvPr/>
        </p:nvPicPr>
        <p:blipFill>
          <a:blip r:embed="rId10"/>
          <a:stretch>
            <a:fillRect/>
          </a:stretch>
        </p:blipFill>
        <p:spPr>
          <a:xfrm>
            <a:off x="6620256" y="5120640"/>
            <a:ext cx="566928" cy="566928"/>
          </a:xfrm>
          <a:prstGeom prst="rect">
            <a:avLst/>
          </a:prstGeom>
        </p:spPr>
      </p:pic>
      <p:pic>
        <p:nvPicPr>
          <p:cNvPr id="13" name="Picture 12" descr="sprite_daeun.png"/>
          <p:cNvPicPr>
            <a:picLocks noChangeAspect="1"/>
          </p:cNvPicPr>
          <p:nvPr/>
        </p:nvPicPr>
        <p:blipFill>
          <a:blip r:embed="rId11"/>
          <a:stretch>
            <a:fillRect/>
          </a:stretch>
        </p:blipFill>
        <p:spPr>
          <a:xfrm>
            <a:off x="7333488" y="5120640"/>
            <a:ext cx="566928" cy="566928"/>
          </a:xfrm>
          <a:prstGeom prst="rect">
            <a:avLst/>
          </a:prstGeom>
        </p:spPr>
      </p:pic>
      <p:sp>
        <p:nvSpPr>
          <p:cNvPr id="14" name="TextBox 13"/>
          <p:cNvSpPr txBox="1"/>
          <p:nvPr/>
        </p:nvSpPr>
        <p:spPr>
          <a:xfrm>
            <a:off x="914400" y="5989320"/>
            <a:ext cx="10362895" cy="548640"/>
          </a:xfrm>
          <a:prstGeom prst="rect">
            <a:avLst/>
          </a:prstGeom>
          <a:noFill/>
        </p:spPr>
        <p:txBody>
          <a:bodyPr wrap="square" lIns="0" rIns="0" tIns="0" bIns="0">
            <a:spAutoFit/>
          </a:bodyPr>
          <a:lstStyle/>
          <a:p>
            <a:pPr algn="l">
              <a:lnSpc>
                <a:spcPct val="112000"/>
              </a:lnSpc>
              <a:spcBef>
                <a:spcPts val="0"/>
              </a:spcBef>
              <a:spcAft>
                <a:spcPts val="0"/>
              </a:spcAft>
            </a:pPr>
            <a:r>
              <a:rPr sz="1300" b="0" i="0">
                <a:solidFill>
                  <a:srgbClr val="6B7280"/>
                </a:solidFill>
                <a:latin typeface="맑은 고딕"/>
                <a:ea typeface="맑은 고딕"/>
                <a:cs typeface="맑은 고딕"/>
              </a:rPr>
              <a:t>DLthon 2  ·  팀명/발표자 (채워주세요)  ·  2026. 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발표 흐름</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발표 순서 (약 12~15분)</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2</a:t>
            </a:r>
          </a:p>
        </p:txBody>
      </p:sp>
      <p:sp>
        <p:nvSpPr>
          <p:cNvPr id="6" name="Rounded Rectangle 5"/>
          <p:cNvSpPr/>
          <p:nvPr/>
        </p:nvSpPr>
        <p:spPr>
          <a:xfrm>
            <a:off x="548640" y="1600200"/>
            <a:ext cx="11091672" cy="676656"/>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7" name="Oval 6"/>
          <p:cNvSpPr/>
          <p:nvPr/>
        </p:nvSpPr>
        <p:spPr>
          <a:xfrm>
            <a:off x="713232" y="1719072"/>
            <a:ext cx="438912" cy="43891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300" b="1" i="0">
                <a:solidFill>
                  <a:srgbClr val="FFFFFF"/>
                </a:solidFill>
                <a:latin typeface="맑은 고딕"/>
                <a:ea typeface="맑은 고딕"/>
                <a:cs typeface="맑은 고딕"/>
              </a:rPr>
              <a:t>01</a:t>
            </a:r>
          </a:p>
        </p:txBody>
      </p:sp>
      <p:sp>
        <p:nvSpPr>
          <p:cNvPr id="8" name="TextBox 7"/>
          <p:cNvSpPr txBox="1"/>
          <p:nvPr/>
        </p:nvSpPr>
        <p:spPr>
          <a:xfrm>
            <a:off x="1371600" y="1682496"/>
            <a:ext cx="8595360" cy="548640"/>
          </a:xfrm>
          <a:prstGeom prst="rect">
            <a:avLst/>
          </a:prstGeom>
          <a:noFill/>
        </p:spPr>
        <p:txBody>
          <a:bodyPr wrap="square" lIns="0" rIns="0" tIns="0" bIns="0" anchor="ctr">
            <a:spAutoFit/>
          </a:bodyPr>
          <a:lstStyle/>
          <a:p>
            <a:pPr algn="l">
              <a:lnSpc>
                <a:spcPct val="112000"/>
              </a:lnSpc>
              <a:spcBef>
                <a:spcPts val="0"/>
              </a:spcBef>
              <a:spcAft>
                <a:spcPts val="0"/>
              </a:spcAft>
            </a:pPr>
            <a:r>
              <a:rPr sz="1500" b="1" i="0">
                <a:solidFill>
                  <a:srgbClr val="1F3A5F"/>
                </a:solidFill>
                <a:latin typeface="맑은 고딕"/>
                <a:ea typeface="맑은 고딕"/>
                <a:cs typeface="맑은 고딕"/>
              </a:rPr>
              <a:t>문제와 컨셉   </a:t>
            </a:r>
            <a:r>
              <a:rPr sz="1250" b="0" i="0">
                <a:solidFill>
                  <a:srgbClr val="6B7280"/>
                </a:solidFill>
                <a:latin typeface="맑은 고딕"/>
                <a:ea typeface="맑은 고딕"/>
                <a:cs typeface="맑은 고딕"/>
              </a:rPr>
              <a:t>정책은 왜 시민에게 닿지 못하는가 → 미리랩의 답</a:t>
            </a:r>
          </a:p>
        </p:txBody>
      </p:sp>
      <p:sp>
        <p:nvSpPr>
          <p:cNvPr id="9" name="TextBox 8"/>
          <p:cNvSpPr txBox="1"/>
          <p:nvPr/>
        </p:nvSpPr>
        <p:spPr>
          <a:xfrm>
            <a:off x="10058400" y="1682496"/>
            <a:ext cx="1417320" cy="548640"/>
          </a:xfrm>
          <a:prstGeom prst="rect">
            <a:avLst/>
          </a:prstGeom>
          <a:noFill/>
        </p:spPr>
        <p:txBody>
          <a:bodyPr wrap="square" lIns="0" rIns="0" tIns="0" bIns="0" anchor="ctr">
            <a:spAutoFit/>
          </a:bodyPr>
          <a:lstStyle/>
          <a:p>
            <a:pPr algn="r">
              <a:lnSpc>
                <a:spcPct val="112000"/>
              </a:lnSpc>
              <a:spcBef>
                <a:spcPts val="0"/>
              </a:spcBef>
              <a:spcAft>
                <a:spcPts val="0"/>
              </a:spcAft>
            </a:pPr>
            <a:r>
              <a:rPr sz="1200" b="1" i="0">
                <a:solidFill>
                  <a:srgbClr val="1F3A5F"/>
                </a:solidFill>
                <a:latin typeface="맑은 고딕"/>
                <a:ea typeface="맑은 고딕"/>
                <a:cs typeface="맑은 고딕"/>
              </a:rPr>
              <a:t>약 2분</a:t>
            </a:r>
          </a:p>
        </p:txBody>
      </p:sp>
      <p:sp>
        <p:nvSpPr>
          <p:cNvPr id="10" name="Rounded Rectangle 9"/>
          <p:cNvSpPr/>
          <p:nvPr/>
        </p:nvSpPr>
        <p:spPr>
          <a:xfrm>
            <a:off x="548640" y="2386584"/>
            <a:ext cx="11091672" cy="676656"/>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1" name="Oval 10"/>
          <p:cNvSpPr/>
          <p:nvPr/>
        </p:nvSpPr>
        <p:spPr>
          <a:xfrm>
            <a:off x="713232" y="2505456"/>
            <a:ext cx="438912" cy="438912"/>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300" b="1" i="0">
                <a:solidFill>
                  <a:srgbClr val="FFFFFF"/>
                </a:solidFill>
                <a:latin typeface="맑은 고딕"/>
                <a:ea typeface="맑은 고딕"/>
                <a:cs typeface="맑은 고딕"/>
              </a:rPr>
              <a:t>02</a:t>
            </a:r>
          </a:p>
        </p:txBody>
      </p:sp>
      <p:sp>
        <p:nvSpPr>
          <p:cNvPr id="12" name="TextBox 11"/>
          <p:cNvSpPr txBox="1"/>
          <p:nvPr/>
        </p:nvSpPr>
        <p:spPr>
          <a:xfrm>
            <a:off x="1371600" y="2468879"/>
            <a:ext cx="8595360" cy="548640"/>
          </a:xfrm>
          <a:prstGeom prst="rect">
            <a:avLst/>
          </a:prstGeom>
          <a:noFill/>
        </p:spPr>
        <p:txBody>
          <a:bodyPr wrap="square" lIns="0" rIns="0" tIns="0" bIns="0" anchor="ctr">
            <a:spAutoFit/>
          </a:bodyPr>
          <a:lstStyle/>
          <a:p>
            <a:pPr algn="l">
              <a:lnSpc>
                <a:spcPct val="112000"/>
              </a:lnSpc>
              <a:spcBef>
                <a:spcPts val="0"/>
              </a:spcBef>
              <a:spcAft>
                <a:spcPts val="0"/>
              </a:spcAft>
            </a:pPr>
            <a:r>
              <a:rPr sz="1500" b="1" i="0">
                <a:solidFill>
                  <a:srgbClr val="1F3A5F"/>
                </a:solidFill>
                <a:latin typeface="맑은 고딕"/>
                <a:ea typeface="맑은 고딕"/>
                <a:cs typeface="맑은 고딕"/>
              </a:rPr>
              <a:t>시스템   </a:t>
            </a:r>
            <a:r>
              <a:rPr sz="1250" b="0" i="0">
                <a:solidFill>
                  <a:srgbClr val="6B7280"/>
                </a:solidFill>
                <a:latin typeface="맑은 고딕"/>
                <a:ea typeface="맑은 고딕"/>
                <a:cs typeface="맑은 고딕"/>
              </a:rPr>
              <a:t>페르소나 파이프라인 + 두 축(시민 반응 / 정책 인생극장)</a:t>
            </a:r>
          </a:p>
        </p:txBody>
      </p:sp>
      <p:sp>
        <p:nvSpPr>
          <p:cNvPr id="13" name="TextBox 12"/>
          <p:cNvSpPr txBox="1"/>
          <p:nvPr/>
        </p:nvSpPr>
        <p:spPr>
          <a:xfrm>
            <a:off x="10058400" y="2468879"/>
            <a:ext cx="1417320" cy="548640"/>
          </a:xfrm>
          <a:prstGeom prst="rect">
            <a:avLst/>
          </a:prstGeom>
          <a:noFill/>
        </p:spPr>
        <p:txBody>
          <a:bodyPr wrap="square" lIns="0" rIns="0" tIns="0" bIns="0" anchor="ctr">
            <a:spAutoFit/>
          </a:bodyPr>
          <a:lstStyle/>
          <a:p>
            <a:pPr algn="r">
              <a:lnSpc>
                <a:spcPct val="112000"/>
              </a:lnSpc>
              <a:spcBef>
                <a:spcPts val="0"/>
              </a:spcBef>
              <a:spcAft>
                <a:spcPts val="0"/>
              </a:spcAft>
            </a:pPr>
            <a:r>
              <a:rPr sz="1200" b="1" i="0">
                <a:solidFill>
                  <a:srgbClr val="2D6CDF"/>
                </a:solidFill>
                <a:latin typeface="맑은 고딕"/>
                <a:ea typeface="맑은 고딕"/>
                <a:cs typeface="맑은 고딕"/>
              </a:rPr>
              <a:t>약 3분</a:t>
            </a:r>
          </a:p>
        </p:txBody>
      </p:sp>
      <p:sp>
        <p:nvSpPr>
          <p:cNvPr id="14" name="Rounded Rectangle 13"/>
          <p:cNvSpPr/>
          <p:nvPr/>
        </p:nvSpPr>
        <p:spPr>
          <a:xfrm>
            <a:off x="548640" y="3172968"/>
            <a:ext cx="11091672" cy="676656"/>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5" name="Oval 14"/>
          <p:cNvSpPr/>
          <p:nvPr/>
        </p:nvSpPr>
        <p:spPr>
          <a:xfrm>
            <a:off x="713232" y="3291839"/>
            <a:ext cx="438912" cy="438912"/>
          </a:xfrm>
          <a:prstGeom prst="ellipse">
            <a:avLst/>
          </a:prstGeom>
          <a:solidFill>
            <a:srgbClr val="E890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300" b="1" i="0">
                <a:solidFill>
                  <a:srgbClr val="FFFFFF"/>
                </a:solidFill>
                <a:latin typeface="맑은 고딕"/>
                <a:ea typeface="맑은 고딕"/>
                <a:cs typeface="맑은 고딕"/>
              </a:rPr>
              <a:t>03</a:t>
            </a:r>
          </a:p>
        </p:txBody>
      </p:sp>
      <p:sp>
        <p:nvSpPr>
          <p:cNvPr id="16" name="TextBox 15"/>
          <p:cNvSpPr txBox="1"/>
          <p:nvPr/>
        </p:nvSpPr>
        <p:spPr>
          <a:xfrm>
            <a:off x="1371600" y="3255263"/>
            <a:ext cx="8595360" cy="548640"/>
          </a:xfrm>
          <a:prstGeom prst="rect">
            <a:avLst/>
          </a:prstGeom>
          <a:noFill/>
        </p:spPr>
        <p:txBody>
          <a:bodyPr wrap="square" lIns="0" rIns="0" tIns="0" bIns="0" anchor="ctr">
            <a:spAutoFit/>
          </a:bodyPr>
          <a:lstStyle/>
          <a:p>
            <a:pPr algn="l">
              <a:lnSpc>
                <a:spcPct val="112000"/>
              </a:lnSpc>
              <a:spcBef>
                <a:spcPts val="0"/>
              </a:spcBef>
              <a:spcAft>
                <a:spcPts val="0"/>
              </a:spcAft>
            </a:pPr>
            <a:r>
              <a:rPr sz="1500" b="1" i="0">
                <a:solidFill>
                  <a:srgbClr val="1F3A5F"/>
                </a:solidFill>
                <a:latin typeface="맑은 고딕"/>
                <a:ea typeface="맑은 고딕"/>
                <a:cs typeface="맑은 고딕"/>
              </a:rPr>
              <a:t>시행착오   </a:t>
            </a:r>
            <a:r>
              <a:rPr sz="1250" b="0" i="0">
                <a:solidFill>
                  <a:srgbClr val="6B7280"/>
                </a:solidFill>
                <a:latin typeface="맑은 고딕"/>
                <a:ea typeface="맑은 고딕"/>
                <a:cs typeface="맑은 고딕"/>
              </a:rPr>
              <a:t>스코프 조정과 시행착오 3가지</a:t>
            </a:r>
          </a:p>
        </p:txBody>
      </p:sp>
      <p:sp>
        <p:nvSpPr>
          <p:cNvPr id="17" name="TextBox 16"/>
          <p:cNvSpPr txBox="1"/>
          <p:nvPr/>
        </p:nvSpPr>
        <p:spPr>
          <a:xfrm>
            <a:off x="10058400" y="3255263"/>
            <a:ext cx="1417320" cy="548640"/>
          </a:xfrm>
          <a:prstGeom prst="rect">
            <a:avLst/>
          </a:prstGeom>
          <a:noFill/>
        </p:spPr>
        <p:txBody>
          <a:bodyPr wrap="square" lIns="0" rIns="0" tIns="0" bIns="0" anchor="ctr">
            <a:spAutoFit/>
          </a:bodyPr>
          <a:lstStyle/>
          <a:p>
            <a:pPr algn="r">
              <a:lnSpc>
                <a:spcPct val="112000"/>
              </a:lnSpc>
              <a:spcBef>
                <a:spcPts val="0"/>
              </a:spcBef>
              <a:spcAft>
                <a:spcPts val="0"/>
              </a:spcAft>
            </a:pPr>
            <a:r>
              <a:rPr sz="1200" b="1" i="0">
                <a:solidFill>
                  <a:srgbClr val="E8902A"/>
                </a:solidFill>
                <a:latin typeface="맑은 고딕"/>
                <a:ea typeface="맑은 고딕"/>
                <a:cs typeface="맑은 고딕"/>
              </a:rPr>
              <a:t>약 3분</a:t>
            </a:r>
          </a:p>
        </p:txBody>
      </p:sp>
      <p:sp>
        <p:nvSpPr>
          <p:cNvPr id="18" name="Rounded Rectangle 17"/>
          <p:cNvSpPr/>
          <p:nvPr/>
        </p:nvSpPr>
        <p:spPr>
          <a:xfrm>
            <a:off x="548640" y="3959352"/>
            <a:ext cx="11091672" cy="676656"/>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9" name="Oval 18"/>
          <p:cNvSpPr/>
          <p:nvPr/>
        </p:nvSpPr>
        <p:spPr>
          <a:xfrm>
            <a:off x="713232" y="4078224"/>
            <a:ext cx="438912" cy="438912"/>
          </a:xfrm>
          <a:prstGeom prst="ellipse">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300" b="1" i="0">
                <a:solidFill>
                  <a:srgbClr val="FFFFFF"/>
                </a:solidFill>
                <a:latin typeface="맑은 고딕"/>
                <a:ea typeface="맑은 고딕"/>
                <a:cs typeface="맑은 고딕"/>
              </a:rPr>
              <a:t>04</a:t>
            </a:r>
          </a:p>
        </p:txBody>
      </p:sp>
      <p:sp>
        <p:nvSpPr>
          <p:cNvPr id="20" name="TextBox 19"/>
          <p:cNvSpPr txBox="1"/>
          <p:nvPr/>
        </p:nvSpPr>
        <p:spPr>
          <a:xfrm>
            <a:off x="1371600" y="4041648"/>
            <a:ext cx="8595360" cy="548640"/>
          </a:xfrm>
          <a:prstGeom prst="rect">
            <a:avLst/>
          </a:prstGeom>
          <a:noFill/>
        </p:spPr>
        <p:txBody>
          <a:bodyPr wrap="square" lIns="0" rIns="0" tIns="0" bIns="0" anchor="ctr">
            <a:spAutoFit/>
          </a:bodyPr>
          <a:lstStyle/>
          <a:p>
            <a:pPr algn="l">
              <a:lnSpc>
                <a:spcPct val="112000"/>
              </a:lnSpc>
              <a:spcBef>
                <a:spcPts val="0"/>
              </a:spcBef>
              <a:spcAft>
                <a:spcPts val="0"/>
              </a:spcAft>
            </a:pPr>
            <a:r>
              <a:rPr sz="1500" b="1" i="0">
                <a:solidFill>
                  <a:srgbClr val="1F3A5F"/>
                </a:solidFill>
                <a:latin typeface="맑은 고딕"/>
                <a:ea typeface="맑은 고딕"/>
                <a:cs typeface="맑은 고딕"/>
              </a:rPr>
              <a:t>신뢰성 검증   </a:t>
            </a:r>
            <a:r>
              <a:rPr sz="1250" b="0" i="0">
                <a:solidFill>
                  <a:srgbClr val="6B7280"/>
                </a:solidFill>
                <a:latin typeface="맑은 고딕"/>
                <a:ea typeface="맑은 고딕"/>
                <a:cs typeface="맑은 고딕"/>
              </a:rPr>
              <a:t>검증 3축(재료·작동·한계) + 사전등록 + 행동 벤치마크</a:t>
            </a:r>
          </a:p>
        </p:txBody>
      </p:sp>
      <p:sp>
        <p:nvSpPr>
          <p:cNvPr id="21" name="TextBox 20"/>
          <p:cNvSpPr txBox="1"/>
          <p:nvPr/>
        </p:nvSpPr>
        <p:spPr>
          <a:xfrm>
            <a:off x="10058400" y="4041648"/>
            <a:ext cx="1417320" cy="548640"/>
          </a:xfrm>
          <a:prstGeom prst="rect">
            <a:avLst/>
          </a:prstGeom>
          <a:noFill/>
        </p:spPr>
        <p:txBody>
          <a:bodyPr wrap="square" lIns="0" rIns="0" tIns="0" bIns="0" anchor="ctr">
            <a:spAutoFit/>
          </a:bodyPr>
          <a:lstStyle/>
          <a:p>
            <a:pPr algn="r">
              <a:lnSpc>
                <a:spcPct val="112000"/>
              </a:lnSpc>
              <a:spcBef>
                <a:spcPts val="0"/>
              </a:spcBef>
              <a:spcAft>
                <a:spcPts val="0"/>
              </a:spcAft>
            </a:pPr>
            <a:r>
              <a:rPr sz="1200" b="1" i="0">
                <a:solidFill>
                  <a:srgbClr val="2E9E6B"/>
                </a:solidFill>
                <a:latin typeface="맑은 고딕"/>
                <a:ea typeface="맑은 고딕"/>
                <a:cs typeface="맑은 고딕"/>
              </a:rPr>
              <a:t>약 3분</a:t>
            </a:r>
          </a:p>
        </p:txBody>
      </p:sp>
      <p:sp>
        <p:nvSpPr>
          <p:cNvPr id="22" name="Rounded Rectangle 21"/>
          <p:cNvSpPr/>
          <p:nvPr/>
        </p:nvSpPr>
        <p:spPr>
          <a:xfrm>
            <a:off x="548640" y="4745736"/>
            <a:ext cx="11091672" cy="676656"/>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23" name="Oval 22"/>
          <p:cNvSpPr/>
          <p:nvPr/>
        </p:nvSpPr>
        <p:spPr>
          <a:xfrm>
            <a:off x="713232" y="4864608"/>
            <a:ext cx="438912" cy="438912"/>
          </a:xfrm>
          <a:prstGeom prst="ellipse">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300" b="1" i="0">
                <a:solidFill>
                  <a:srgbClr val="FFFFFF"/>
                </a:solidFill>
                <a:latin typeface="맑은 고딕"/>
                <a:ea typeface="맑은 고딕"/>
                <a:cs typeface="맑은 고딕"/>
              </a:rPr>
              <a:t>05</a:t>
            </a:r>
          </a:p>
        </p:txBody>
      </p:sp>
      <p:sp>
        <p:nvSpPr>
          <p:cNvPr id="24" name="TextBox 23"/>
          <p:cNvSpPr txBox="1"/>
          <p:nvPr/>
        </p:nvSpPr>
        <p:spPr>
          <a:xfrm>
            <a:off x="1371600" y="4828032"/>
            <a:ext cx="8595360" cy="548640"/>
          </a:xfrm>
          <a:prstGeom prst="rect">
            <a:avLst/>
          </a:prstGeom>
          <a:noFill/>
        </p:spPr>
        <p:txBody>
          <a:bodyPr wrap="square" lIns="0" rIns="0" tIns="0" bIns="0" anchor="ctr">
            <a:spAutoFit/>
          </a:bodyPr>
          <a:lstStyle/>
          <a:p>
            <a:pPr algn="l">
              <a:lnSpc>
                <a:spcPct val="112000"/>
              </a:lnSpc>
              <a:spcBef>
                <a:spcPts val="0"/>
              </a:spcBef>
              <a:spcAft>
                <a:spcPts val="0"/>
              </a:spcAft>
            </a:pPr>
            <a:r>
              <a:rPr sz="1500" b="1" i="0">
                <a:solidFill>
                  <a:srgbClr val="1F3A5F"/>
                </a:solidFill>
                <a:latin typeface="맑은 고딕"/>
                <a:ea typeface="맑은 고딕"/>
                <a:cs typeface="맑은 고딕"/>
              </a:rPr>
              <a:t>확장 구현   </a:t>
            </a:r>
            <a:r>
              <a:rPr sz="1250" b="0" i="0">
                <a:solidFill>
                  <a:srgbClr val="6B7280"/>
                </a:solidFill>
                <a:latin typeface="맑은 고딕"/>
                <a:ea typeface="맑은 고딕"/>
                <a:cs typeface="맑은 고딕"/>
              </a:rPr>
              <a:t>게시판 RAG + 미리마을 + 60초 라이브 재생 데모</a:t>
            </a:r>
          </a:p>
        </p:txBody>
      </p:sp>
      <p:sp>
        <p:nvSpPr>
          <p:cNvPr id="25" name="TextBox 24"/>
          <p:cNvSpPr txBox="1"/>
          <p:nvPr/>
        </p:nvSpPr>
        <p:spPr>
          <a:xfrm>
            <a:off x="10058400" y="4828032"/>
            <a:ext cx="1417320" cy="548640"/>
          </a:xfrm>
          <a:prstGeom prst="rect">
            <a:avLst/>
          </a:prstGeom>
          <a:noFill/>
        </p:spPr>
        <p:txBody>
          <a:bodyPr wrap="square" lIns="0" rIns="0" tIns="0" bIns="0" anchor="ctr">
            <a:spAutoFit/>
          </a:bodyPr>
          <a:lstStyle/>
          <a:p>
            <a:pPr algn="r">
              <a:lnSpc>
                <a:spcPct val="112000"/>
              </a:lnSpc>
              <a:spcBef>
                <a:spcPts val="0"/>
              </a:spcBef>
              <a:spcAft>
                <a:spcPts val="0"/>
              </a:spcAft>
            </a:pPr>
            <a:r>
              <a:rPr sz="1200" b="1" i="0">
                <a:solidFill>
                  <a:srgbClr val="D9534F"/>
                </a:solidFill>
                <a:latin typeface="맑은 고딕"/>
                <a:ea typeface="맑은 고딕"/>
                <a:cs typeface="맑은 고딕"/>
              </a:rPr>
              <a:t>약 3분</a:t>
            </a:r>
          </a:p>
        </p:txBody>
      </p:sp>
      <p:sp>
        <p:nvSpPr>
          <p:cNvPr id="26" name="Rounded Rectangle 25"/>
          <p:cNvSpPr/>
          <p:nvPr/>
        </p:nvSpPr>
        <p:spPr>
          <a:xfrm>
            <a:off x="548640" y="5532120"/>
            <a:ext cx="11091672" cy="676656"/>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27" name="Oval 26"/>
          <p:cNvSpPr/>
          <p:nvPr/>
        </p:nvSpPr>
        <p:spPr>
          <a:xfrm>
            <a:off x="713232" y="5650992"/>
            <a:ext cx="438912" cy="438912"/>
          </a:xfrm>
          <a:prstGeom prst="ellipse">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300" b="1" i="0">
                <a:solidFill>
                  <a:srgbClr val="FFFFFF"/>
                </a:solidFill>
                <a:latin typeface="맑은 고딕"/>
                <a:ea typeface="맑은 고딕"/>
                <a:cs typeface="맑은 고딕"/>
              </a:rPr>
              <a:t>06</a:t>
            </a:r>
          </a:p>
        </p:txBody>
      </p:sp>
      <p:sp>
        <p:nvSpPr>
          <p:cNvPr id="28" name="TextBox 27"/>
          <p:cNvSpPr txBox="1"/>
          <p:nvPr/>
        </p:nvSpPr>
        <p:spPr>
          <a:xfrm>
            <a:off x="1371600" y="5614416"/>
            <a:ext cx="8595360" cy="548640"/>
          </a:xfrm>
          <a:prstGeom prst="rect">
            <a:avLst/>
          </a:prstGeom>
          <a:noFill/>
        </p:spPr>
        <p:txBody>
          <a:bodyPr wrap="square" lIns="0" rIns="0" tIns="0" bIns="0" anchor="ctr">
            <a:spAutoFit/>
          </a:bodyPr>
          <a:lstStyle/>
          <a:p>
            <a:pPr algn="l">
              <a:lnSpc>
                <a:spcPct val="112000"/>
              </a:lnSpc>
              <a:spcBef>
                <a:spcPts val="0"/>
              </a:spcBef>
              <a:spcAft>
                <a:spcPts val="0"/>
              </a:spcAft>
            </a:pPr>
            <a:r>
              <a:rPr sz="1500" b="1" i="0">
                <a:solidFill>
                  <a:srgbClr val="1F3A5F"/>
                </a:solidFill>
                <a:latin typeface="맑은 고딕"/>
                <a:ea typeface="맑은 고딕"/>
                <a:cs typeface="맑은 고딕"/>
              </a:rPr>
              <a:t>한계와 마무리   </a:t>
            </a:r>
            <a:r>
              <a:rPr sz="1250" b="0" i="0">
                <a:solidFill>
                  <a:srgbClr val="6B7280"/>
                </a:solidFill>
                <a:latin typeface="맑은 고딕"/>
                <a:ea typeface="맑은 고딕"/>
                <a:cs typeface="맑은 고딕"/>
              </a:rPr>
              <a:t>팀 규율 · 한계 · 핵심 메시지 · Q&amp;A</a:t>
            </a:r>
          </a:p>
        </p:txBody>
      </p:sp>
      <p:sp>
        <p:nvSpPr>
          <p:cNvPr id="29" name="TextBox 28"/>
          <p:cNvSpPr txBox="1"/>
          <p:nvPr/>
        </p:nvSpPr>
        <p:spPr>
          <a:xfrm>
            <a:off x="10058400" y="5614416"/>
            <a:ext cx="1417320" cy="548640"/>
          </a:xfrm>
          <a:prstGeom prst="rect">
            <a:avLst/>
          </a:prstGeom>
          <a:noFill/>
        </p:spPr>
        <p:txBody>
          <a:bodyPr wrap="square" lIns="0" rIns="0" tIns="0" bIns="0" anchor="ctr">
            <a:spAutoFit/>
          </a:bodyPr>
          <a:lstStyle/>
          <a:p>
            <a:pPr algn="r">
              <a:lnSpc>
                <a:spcPct val="112000"/>
              </a:lnSpc>
              <a:spcBef>
                <a:spcPts val="0"/>
              </a:spcBef>
              <a:spcAft>
                <a:spcPts val="0"/>
              </a:spcAft>
            </a:pPr>
            <a:r>
              <a:rPr sz="1200" b="1" i="0">
                <a:solidFill>
                  <a:srgbClr val="6B7280"/>
                </a:solidFill>
                <a:latin typeface="맑은 고딕"/>
                <a:ea typeface="맑은 고딕"/>
                <a:cs typeface="맑은 고딕"/>
              </a:rPr>
              <a:t>약 2분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01 문제</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정책은 왜 시민에게 닿지 못하는가</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3</a:t>
            </a:r>
          </a:p>
        </p:txBody>
      </p:sp>
      <p:sp>
        <p:nvSpPr>
          <p:cNvPr id="6" name="Rounded Rectangle 5"/>
          <p:cNvSpPr/>
          <p:nvPr/>
        </p:nvSpPr>
        <p:spPr>
          <a:xfrm>
            <a:off x="548640" y="1691640"/>
            <a:ext cx="2679192" cy="1600200"/>
          </a:xfrm>
          <a:prstGeom prst="roundRect">
            <a:avLst>
              <a:gd name="adj" fmla="val 8000"/>
            </a:avLst>
          </a:prstGeom>
          <a:solidFill>
            <a:srgbClr val="FCECEB"/>
          </a:solidFill>
          <a:ln w="12700">
            <a:solidFill>
              <a:srgbClr val="D9534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7" name="TextBox 6"/>
          <p:cNvSpPr txBox="1"/>
          <p:nvPr/>
        </p:nvSpPr>
        <p:spPr>
          <a:xfrm>
            <a:off x="713232" y="1874519"/>
            <a:ext cx="2377440" cy="1280160"/>
          </a:xfrm>
          <a:prstGeom prst="rect">
            <a:avLst/>
          </a:prstGeom>
          <a:noFill/>
        </p:spPr>
        <p:txBody>
          <a:bodyPr wrap="square" lIns="0" rIns="0" tIns="0" bIns="0">
            <a:spAutoFit/>
          </a:bodyPr>
          <a:lstStyle/>
          <a:p>
            <a:pPr algn="l">
              <a:lnSpc>
                <a:spcPct val="112000"/>
              </a:lnSpc>
              <a:spcBef>
                <a:spcPts val="0"/>
              </a:spcBef>
              <a:spcAft>
                <a:spcPts val="600"/>
              </a:spcAft>
            </a:pPr>
            <a:r>
              <a:rPr sz="1600" b="1" i="0">
                <a:solidFill>
                  <a:srgbClr val="D9534F"/>
                </a:solidFill>
                <a:latin typeface="맑은 고딕"/>
                <a:ea typeface="맑은 고딕"/>
                <a:cs typeface="맑은 고딕"/>
              </a:rPr>
              <a:t>정보 격차</a:t>
            </a:r>
          </a:p>
          <a:p>
            <a:pPr algn="l">
              <a:lnSpc>
                <a:spcPct val="120000"/>
              </a:lnSpc>
              <a:spcBef>
                <a:spcPts val="0"/>
              </a:spcBef>
              <a:spcAft>
                <a:spcPts val="100"/>
              </a:spcAft>
            </a:pPr>
            <a:r>
              <a:rPr sz="1250" b="0" i="0">
                <a:solidFill>
                  <a:srgbClr val="1F2937"/>
                </a:solidFill>
                <a:latin typeface="맑은 고딕"/>
                <a:ea typeface="맑은 고딕"/>
                <a:cs typeface="맑은 고딕"/>
              </a:rPr>
              <a:t>내가 대상자인지</a:t>
            </a:r>
          </a:p>
          <a:p>
            <a:pPr algn="l">
              <a:lnSpc>
                <a:spcPct val="120000"/>
              </a:lnSpc>
              <a:spcBef>
                <a:spcPts val="0"/>
              </a:spcBef>
              <a:spcAft>
                <a:spcPts val="100"/>
              </a:spcAft>
            </a:pPr>
            <a:r>
              <a:rPr sz="1250" b="0" i="0">
                <a:solidFill>
                  <a:srgbClr val="1F2937"/>
                </a:solidFill>
                <a:latin typeface="맑은 고딕"/>
                <a:ea typeface="맑은 고딕"/>
                <a:cs typeface="맑은 고딕"/>
              </a:rPr>
              <a:t>조차 모른다</a:t>
            </a:r>
          </a:p>
        </p:txBody>
      </p:sp>
      <p:sp>
        <p:nvSpPr>
          <p:cNvPr id="8" name="Rounded Rectangle 7"/>
          <p:cNvSpPr/>
          <p:nvPr/>
        </p:nvSpPr>
        <p:spPr>
          <a:xfrm>
            <a:off x="3355848" y="1691640"/>
            <a:ext cx="2679192" cy="1600200"/>
          </a:xfrm>
          <a:prstGeom prst="roundRect">
            <a:avLst>
              <a:gd name="adj" fmla="val 8000"/>
            </a:avLst>
          </a:prstGeom>
          <a:solidFill>
            <a:srgbClr val="FCECEB"/>
          </a:solidFill>
          <a:ln w="12700">
            <a:solidFill>
              <a:srgbClr val="D9534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9" name="TextBox 8"/>
          <p:cNvSpPr txBox="1"/>
          <p:nvPr/>
        </p:nvSpPr>
        <p:spPr>
          <a:xfrm>
            <a:off x="3520440" y="1874519"/>
            <a:ext cx="2377440" cy="1280160"/>
          </a:xfrm>
          <a:prstGeom prst="rect">
            <a:avLst/>
          </a:prstGeom>
          <a:noFill/>
        </p:spPr>
        <p:txBody>
          <a:bodyPr wrap="square" lIns="0" rIns="0" tIns="0" bIns="0">
            <a:spAutoFit/>
          </a:bodyPr>
          <a:lstStyle/>
          <a:p>
            <a:pPr algn="l">
              <a:lnSpc>
                <a:spcPct val="112000"/>
              </a:lnSpc>
              <a:spcBef>
                <a:spcPts val="0"/>
              </a:spcBef>
              <a:spcAft>
                <a:spcPts val="600"/>
              </a:spcAft>
            </a:pPr>
            <a:r>
              <a:rPr sz="1600" b="1" i="0">
                <a:solidFill>
                  <a:srgbClr val="D9534F"/>
                </a:solidFill>
                <a:latin typeface="맑은 고딕"/>
                <a:ea typeface="맑은 고딕"/>
                <a:cs typeface="맑은 고딕"/>
              </a:rPr>
              <a:t>이해도 부족</a:t>
            </a:r>
          </a:p>
          <a:p>
            <a:pPr algn="l">
              <a:lnSpc>
                <a:spcPct val="120000"/>
              </a:lnSpc>
              <a:spcBef>
                <a:spcPts val="0"/>
              </a:spcBef>
              <a:spcAft>
                <a:spcPts val="100"/>
              </a:spcAft>
            </a:pPr>
            <a:r>
              <a:rPr sz="1250" b="0" i="0">
                <a:solidFill>
                  <a:srgbClr val="1F2937"/>
                </a:solidFill>
                <a:latin typeface="맑은 고딕"/>
                <a:ea typeface="맑은 고딕"/>
                <a:cs typeface="맑은 고딕"/>
              </a:rPr>
              <a:t>문구가 어렵고</a:t>
            </a:r>
          </a:p>
          <a:p>
            <a:pPr algn="l">
              <a:lnSpc>
                <a:spcPct val="120000"/>
              </a:lnSpc>
              <a:spcBef>
                <a:spcPts val="0"/>
              </a:spcBef>
              <a:spcAft>
                <a:spcPts val="100"/>
              </a:spcAft>
            </a:pPr>
            <a:r>
              <a:rPr sz="1250" b="0" i="0">
                <a:solidFill>
                  <a:srgbClr val="1F2937"/>
                </a:solidFill>
                <a:latin typeface="맑은 고딕"/>
                <a:ea typeface="맑은 고딕"/>
                <a:cs typeface="맑은 고딕"/>
              </a:rPr>
              <a:t>신청 조건이 불명확하다</a:t>
            </a:r>
          </a:p>
        </p:txBody>
      </p:sp>
      <p:sp>
        <p:nvSpPr>
          <p:cNvPr id="10" name="Rounded Rectangle 9"/>
          <p:cNvSpPr/>
          <p:nvPr/>
        </p:nvSpPr>
        <p:spPr>
          <a:xfrm>
            <a:off x="6163056" y="1691640"/>
            <a:ext cx="2679192" cy="1600200"/>
          </a:xfrm>
          <a:prstGeom prst="roundRect">
            <a:avLst>
              <a:gd name="adj" fmla="val 8000"/>
            </a:avLst>
          </a:prstGeom>
          <a:solidFill>
            <a:srgbClr val="FCECEB"/>
          </a:solidFill>
          <a:ln w="12700">
            <a:solidFill>
              <a:srgbClr val="D9534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1" name="TextBox 10"/>
          <p:cNvSpPr txBox="1"/>
          <p:nvPr/>
        </p:nvSpPr>
        <p:spPr>
          <a:xfrm>
            <a:off x="6327648" y="1874519"/>
            <a:ext cx="2377440" cy="1280160"/>
          </a:xfrm>
          <a:prstGeom prst="rect">
            <a:avLst/>
          </a:prstGeom>
          <a:noFill/>
        </p:spPr>
        <p:txBody>
          <a:bodyPr wrap="square" lIns="0" rIns="0" tIns="0" bIns="0">
            <a:spAutoFit/>
          </a:bodyPr>
          <a:lstStyle/>
          <a:p>
            <a:pPr algn="l">
              <a:lnSpc>
                <a:spcPct val="112000"/>
              </a:lnSpc>
              <a:spcBef>
                <a:spcPts val="0"/>
              </a:spcBef>
              <a:spcAft>
                <a:spcPts val="600"/>
              </a:spcAft>
            </a:pPr>
            <a:r>
              <a:rPr sz="1600" b="1" i="0">
                <a:solidFill>
                  <a:srgbClr val="D9534F"/>
                </a:solidFill>
                <a:latin typeface="맑은 고딕"/>
                <a:ea typeface="맑은 고딕"/>
                <a:cs typeface="맑은 고딕"/>
              </a:rPr>
              <a:t>디지털 장벽</a:t>
            </a:r>
          </a:p>
          <a:p>
            <a:pPr algn="l">
              <a:lnSpc>
                <a:spcPct val="120000"/>
              </a:lnSpc>
              <a:spcBef>
                <a:spcPts val="0"/>
              </a:spcBef>
              <a:spcAft>
                <a:spcPts val="100"/>
              </a:spcAft>
            </a:pPr>
            <a:r>
              <a:rPr sz="1250" b="0" i="0">
                <a:solidFill>
                  <a:srgbClr val="1F2937"/>
                </a:solidFill>
                <a:latin typeface="맑은 고딕"/>
                <a:ea typeface="맑은 고딕"/>
                <a:cs typeface="맑은 고딕"/>
              </a:rPr>
              <a:t>시니어에겐 온라인 신청</a:t>
            </a:r>
          </a:p>
          <a:p>
            <a:pPr algn="l">
              <a:lnSpc>
                <a:spcPct val="120000"/>
              </a:lnSpc>
              <a:spcBef>
                <a:spcPts val="0"/>
              </a:spcBef>
              <a:spcAft>
                <a:spcPts val="100"/>
              </a:spcAft>
            </a:pPr>
            <a:r>
              <a:rPr sz="1250" b="0" i="0">
                <a:solidFill>
                  <a:srgbClr val="1F2937"/>
                </a:solidFill>
                <a:latin typeface="맑은 고딕"/>
                <a:ea typeface="맑은 고딕"/>
                <a:cs typeface="맑은 고딕"/>
              </a:rPr>
              <a:t>자체가 벽이다</a:t>
            </a:r>
          </a:p>
        </p:txBody>
      </p:sp>
      <p:sp>
        <p:nvSpPr>
          <p:cNvPr id="12" name="Rounded Rectangle 11"/>
          <p:cNvSpPr/>
          <p:nvPr/>
        </p:nvSpPr>
        <p:spPr>
          <a:xfrm>
            <a:off x="8970264" y="1691640"/>
            <a:ext cx="2679192" cy="1600200"/>
          </a:xfrm>
          <a:prstGeom prst="roundRect">
            <a:avLst>
              <a:gd name="adj" fmla="val 8000"/>
            </a:avLst>
          </a:prstGeom>
          <a:solidFill>
            <a:srgbClr val="FCECEB"/>
          </a:solidFill>
          <a:ln w="12700">
            <a:solidFill>
              <a:srgbClr val="D9534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9134856" y="1874519"/>
            <a:ext cx="2377440" cy="1280160"/>
          </a:xfrm>
          <a:prstGeom prst="rect">
            <a:avLst/>
          </a:prstGeom>
          <a:noFill/>
        </p:spPr>
        <p:txBody>
          <a:bodyPr wrap="square" lIns="0" rIns="0" tIns="0" bIns="0">
            <a:spAutoFit/>
          </a:bodyPr>
          <a:lstStyle/>
          <a:p>
            <a:pPr algn="l">
              <a:lnSpc>
                <a:spcPct val="112000"/>
              </a:lnSpc>
              <a:spcBef>
                <a:spcPts val="0"/>
              </a:spcBef>
              <a:spcAft>
                <a:spcPts val="600"/>
              </a:spcAft>
            </a:pPr>
            <a:r>
              <a:rPr sz="1600" b="1" i="0">
                <a:solidFill>
                  <a:srgbClr val="D9534F"/>
                </a:solidFill>
                <a:latin typeface="맑은 고딕"/>
                <a:ea typeface="맑은 고딕"/>
                <a:cs typeface="맑은 고딕"/>
              </a:rPr>
              <a:t>도달 실패</a:t>
            </a:r>
          </a:p>
          <a:p>
            <a:pPr algn="l">
              <a:lnSpc>
                <a:spcPct val="120000"/>
              </a:lnSpc>
              <a:spcBef>
                <a:spcPts val="0"/>
              </a:spcBef>
              <a:spcAft>
                <a:spcPts val="100"/>
              </a:spcAft>
            </a:pPr>
            <a:r>
              <a:rPr sz="1250" b="0" i="0">
                <a:solidFill>
                  <a:srgbClr val="1F2937"/>
                </a:solidFill>
                <a:latin typeface="맑은 고딕"/>
                <a:ea typeface="맑은 고딕"/>
                <a:cs typeface="맑은 고딕"/>
              </a:rPr>
              <a:t>발표돼도 닿지 않는다</a:t>
            </a:r>
          </a:p>
          <a:p>
            <a:pPr algn="l">
              <a:lnSpc>
                <a:spcPct val="120000"/>
              </a:lnSpc>
              <a:spcBef>
                <a:spcPts val="0"/>
              </a:spcBef>
              <a:spcAft>
                <a:spcPts val="100"/>
              </a:spcAft>
            </a:pPr>
            <a:r>
              <a:rPr sz="1250" b="0" i="0">
                <a:solidFill>
                  <a:srgbClr val="1F2937"/>
                </a:solidFill>
                <a:latin typeface="맑은 고딕"/>
                <a:ea typeface="맑은 고딕"/>
                <a:cs typeface="맑은 고딕"/>
              </a:rPr>
              <a:t>— “그림의 떡”</a:t>
            </a:r>
          </a:p>
        </p:txBody>
      </p:sp>
      <p:sp>
        <p:nvSpPr>
          <p:cNvPr id="14" name="Rounded Rectangle 13"/>
          <p:cNvSpPr/>
          <p:nvPr/>
        </p:nvSpPr>
        <p:spPr>
          <a:xfrm>
            <a:off x="548640" y="3657600"/>
            <a:ext cx="11091672" cy="2377440"/>
          </a:xfrm>
          <a:prstGeom prst="roundRect">
            <a:avLst>
              <a:gd name="adj" fmla="val 8000"/>
            </a:avLst>
          </a:prstGeom>
          <a:solidFill>
            <a:srgbClr val="EAF0F8"/>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5" name="TextBox 14"/>
          <p:cNvSpPr txBox="1"/>
          <p:nvPr/>
        </p:nvSpPr>
        <p:spPr>
          <a:xfrm>
            <a:off x="868680" y="3886200"/>
            <a:ext cx="10515600" cy="2011680"/>
          </a:xfrm>
          <a:prstGeom prst="rect">
            <a:avLst/>
          </a:prstGeom>
          <a:noFill/>
        </p:spPr>
        <p:txBody>
          <a:bodyPr wrap="square" lIns="0" rIns="0" tIns="0" bIns="0">
            <a:spAutoFit/>
          </a:bodyPr>
          <a:lstStyle/>
          <a:p>
            <a:pPr algn="l">
              <a:lnSpc>
                <a:spcPct val="112000"/>
              </a:lnSpc>
              <a:spcBef>
                <a:spcPts val="0"/>
              </a:spcBef>
              <a:spcAft>
                <a:spcPts val="800"/>
              </a:spcAft>
            </a:pPr>
            <a:r>
              <a:rPr sz="1500" b="1" i="0">
                <a:solidFill>
                  <a:srgbClr val="1F3A5F"/>
                </a:solidFill>
                <a:latin typeface="맑은 고딕"/>
                <a:ea typeface="맑은 고딕"/>
                <a:cs typeface="맑은 고딕"/>
              </a:rPr>
              <a:t>기존 서비스의 한계</a:t>
            </a:r>
          </a:p>
          <a:p>
            <a:pPr algn="l">
              <a:lnSpc>
                <a:spcPct val="112000"/>
              </a:lnSpc>
              <a:spcBef>
                <a:spcPts val="0"/>
              </a:spcBef>
              <a:spcAft>
                <a:spcPts val="600"/>
              </a:spcAft>
            </a:pPr>
            <a:r>
              <a:rPr sz="1500" b="0" i="0">
                <a:solidFill>
                  <a:srgbClr val="1F2937"/>
                </a:solidFill>
                <a:latin typeface="맑은 고딕"/>
                <a:ea typeface="맑은 고딕"/>
                <a:cs typeface="맑은 고딕"/>
              </a:rPr>
              <a:t>정부24 챗봇 · 복지로  →  정책을 </a:t>
            </a:r>
            <a:r>
              <a:rPr sz="1500" b="1" i="0">
                <a:solidFill>
                  <a:srgbClr val="2D6CDF"/>
                </a:solidFill>
                <a:latin typeface="맑은 고딕"/>
                <a:ea typeface="맑은 고딕"/>
                <a:cs typeface="맑은 고딕"/>
              </a:rPr>
              <a:t>‘찾는’ 사람</a:t>
            </a:r>
            <a:r>
              <a:rPr sz="1500" b="0" i="0">
                <a:solidFill>
                  <a:srgbClr val="1F2937"/>
                </a:solidFill>
                <a:latin typeface="맑은 고딕"/>
                <a:ea typeface="맑은 고딕"/>
                <a:cs typeface="맑은 고딕"/>
              </a:rPr>
              <a:t>을 돕는다 (검색·매칭)</a:t>
            </a:r>
          </a:p>
          <a:p>
            <a:pPr algn="l">
              <a:lnSpc>
                <a:spcPct val="112000"/>
              </a:lnSpc>
              <a:spcBef>
                <a:spcPts val="0"/>
              </a:spcBef>
              <a:spcAft>
                <a:spcPts val="200"/>
              </a:spcAft>
            </a:pPr>
            <a:r>
              <a:rPr sz="1500" b="0" i="0">
                <a:solidFill>
                  <a:srgbClr val="1F2937"/>
                </a:solidFill>
                <a:latin typeface="맑은 고딕"/>
                <a:ea typeface="맑은 고딕"/>
                <a:cs typeface="맑은 고딕"/>
              </a:rPr>
              <a:t>그러나 정책을 </a:t>
            </a:r>
            <a:r>
              <a:rPr sz="1500" b="1" i="0">
                <a:solidFill>
                  <a:srgbClr val="D9534F"/>
                </a:solidFill>
                <a:latin typeface="맑은 고딕"/>
                <a:ea typeface="맑은 고딕"/>
                <a:cs typeface="맑은 고딕"/>
              </a:rPr>
              <a:t>‘만드는’ 사람(입안자)</a:t>
            </a:r>
            <a:r>
              <a:rPr sz="1500" b="0" i="0">
                <a:solidFill>
                  <a:srgbClr val="1F2937"/>
                </a:solidFill>
                <a:latin typeface="맑은 고딕"/>
                <a:ea typeface="맑은 고딕"/>
                <a:cs typeface="맑은 고딕"/>
              </a:rPr>
              <a:t>이 “이 정책, 배포하면 누가 못 받을까?”를</a:t>
            </a:r>
          </a:p>
          <a:p>
            <a:pPr algn="l">
              <a:lnSpc>
                <a:spcPct val="112000"/>
              </a:lnSpc>
              <a:spcBef>
                <a:spcPts val="0"/>
              </a:spcBef>
              <a:spcAft>
                <a:spcPts val="0"/>
              </a:spcAft>
            </a:pPr>
            <a:r>
              <a:rPr sz="1500" b="1" i="0">
                <a:solidFill>
                  <a:srgbClr val="1F2937"/>
                </a:solidFill>
                <a:latin typeface="맑은 고딕"/>
                <a:ea typeface="맑은 고딕"/>
                <a:cs typeface="맑은 고딕"/>
              </a:rPr>
              <a:t>배포 전에 미리 볼 수 있는 도구는 없다.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01 컨셉</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미리랩 — 정책을 시민 입장에서 미리 실험한다</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4</a:t>
            </a:r>
          </a:p>
        </p:txBody>
      </p:sp>
      <p:sp>
        <p:nvSpPr>
          <p:cNvPr id="6" name="Rounded Rectangle 5"/>
          <p:cNvSpPr/>
          <p:nvPr/>
        </p:nvSpPr>
        <p:spPr>
          <a:xfrm>
            <a:off x="548640" y="1600200"/>
            <a:ext cx="11091672" cy="960120"/>
          </a:xfrm>
          <a:prstGeom prst="roundRect">
            <a:avLst>
              <a:gd name="adj" fmla="val 8000"/>
            </a:avLst>
          </a:prstGeom>
          <a:solidFill>
            <a:srgbClr val="EAF0F8"/>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7" name="TextBox 6"/>
          <p:cNvSpPr txBox="1"/>
          <p:nvPr/>
        </p:nvSpPr>
        <p:spPr>
          <a:xfrm>
            <a:off x="868680" y="1783080"/>
            <a:ext cx="10515600" cy="640080"/>
          </a:xfrm>
          <a:prstGeom prst="rect">
            <a:avLst/>
          </a:prstGeom>
          <a:noFill/>
        </p:spPr>
        <p:txBody>
          <a:bodyPr wrap="square" lIns="0" rIns="0" tIns="0" bIns="0" anchor="ctr">
            <a:spAutoFit/>
          </a:bodyPr>
          <a:lstStyle/>
          <a:p>
            <a:pPr algn="ctr">
              <a:lnSpc>
                <a:spcPct val="112000"/>
              </a:lnSpc>
              <a:spcBef>
                <a:spcPts val="0"/>
              </a:spcBef>
              <a:spcAft>
                <a:spcPts val="0"/>
              </a:spcAft>
            </a:pPr>
            <a:r>
              <a:rPr sz="1700" b="1" i="0">
                <a:solidFill>
                  <a:srgbClr val="1F3A5F"/>
                </a:solidFill>
                <a:latin typeface="맑은 고딕"/>
                <a:ea typeface="맑은 고딕"/>
                <a:cs typeface="맑은 고딕"/>
              </a:rPr>
              <a:t>“누가 이해 못 하고 · 누가 신청 못 하고 · 어디서 막히는지”</a:t>
            </a:r>
            <a:r>
              <a:rPr sz="1700" b="0" i="0">
                <a:solidFill>
                  <a:srgbClr val="1F2937"/>
                </a:solidFill>
                <a:latin typeface="맑은 고딕"/>
                <a:ea typeface="맑은 고딕"/>
                <a:cs typeface="맑은 고딕"/>
              </a:rPr>
              <a:t>를 배포 전에 보여준다</a:t>
            </a:r>
          </a:p>
        </p:txBody>
      </p:sp>
      <p:sp>
        <p:nvSpPr>
          <p:cNvPr id="8" name="TextBox 7"/>
          <p:cNvSpPr txBox="1"/>
          <p:nvPr/>
        </p:nvSpPr>
        <p:spPr>
          <a:xfrm>
            <a:off x="548640" y="2788920"/>
            <a:ext cx="11091672" cy="411480"/>
          </a:xfrm>
          <a:prstGeom prst="rect">
            <a:avLst/>
          </a:prstGeom>
          <a:noFill/>
        </p:spPr>
        <p:txBody>
          <a:bodyPr wrap="square" lIns="0" rIns="0" tIns="0" bIns="0">
            <a:spAutoFit/>
          </a:bodyPr>
          <a:lstStyle/>
          <a:p>
            <a:pPr algn="l">
              <a:lnSpc>
                <a:spcPct val="112000"/>
              </a:lnSpc>
              <a:spcBef>
                <a:spcPts val="0"/>
              </a:spcBef>
              <a:spcAft>
                <a:spcPts val="0"/>
              </a:spcAft>
            </a:pPr>
            <a:r>
              <a:rPr sz="1500" b="1" i="0">
                <a:solidFill>
                  <a:srgbClr val="1F2937"/>
                </a:solidFill>
                <a:latin typeface="맑은 고딕"/>
                <a:ea typeface="맑은 고딕"/>
                <a:cs typeface="맑은 고딕"/>
              </a:rPr>
              <a:t>핵심 장면 — 같은 ‘청년 월세 지원’ 정책, 6개월 후</a:t>
            </a:r>
          </a:p>
        </p:txBody>
      </p:sp>
      <p:sp>
        <p:nvSpPr>
          <p:cNvPr id="9" name="Rounded Rectangle 8"/>
          <p:cNvSpPr/>
          <p:nvPr/>
        </p:nvSpPr>
        <p:spPr>
          <a:xfrm>
            <a:off x="548640" y="3291840"/>
            <a:ext cx="3593592" cy="210312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0" name="Rounded Rectangle 9"/>
          <p:cNvSpPr/>
          <p:nvPr/>
        </p:nvSpPr>
        <p:spPr>
          <a:xfrm>
            <a:off x="548640" y="3291840"/>
            <a:ext cx="64008" cy="21031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1" name="TextBox 10"/>
          <p:cNvSpPr txBox="1"/>
          <p:nvPr/>
        </p:nvSpPr>
        <p:spPr>
          <a:xfrm>
            <a:off x="731520" y="3401568"/>
            <a:ext cx="3273552" cy="1883663"/>
          </a:xfrm>
          <a:prstGeom prst="rect">
            <a:avLst/>
          </a:prstGeom>
          <a:noFill/>
        </p:spPr>
        <p:txBody>
          <a:bodyPr wrap="square" lIns="0" rIns="0" tIns="0" bIns="0">
            <a:spAutoFit/>
          </a:bodyPr>
          <a:lstStyle/>
          <a:p>
            <a:pPr algn="l">
              <a:lnSpc>
                <a:spcPct val="112000"/>
              </a:lnSpc>
              <a:spcBef>
                <a:spcPts val="0"/>
              </a:spcBef>
              <a:spcAft>
                <a:spcPts val="400"/>
              </a:spcAft>
            </a:pPr>
            <a:r>
              <a:rPr sz="1400" b="1" i="0">
                <a:solidFill>
                  <a:srgbClr val="2E9E6B"/>
                </a:solidFill>
                <a:latin typeface="맑은 고딕"/>
                <a:ea typeface="맑은 고딕"/>
                <a:cs typeface="맑은 고딕"/>
              </a:rPr>
              <a:t>수혜  ·  A (26세 청년)</a:t>
            </a:r>
          </a:p>
          <a:p>
            <a:pPr algn="l">
              <a:lnSpc>
                <a:spcPct val="115000"/>
              </a:lnSpc>
              <a:spcBef>
                <a:spcPts val="0"/>
              </a:spcBef>
              <a:spcAft>
                <a:spcPts val="200"/>
              </a:spcAft>
            </a:pPr>
            <a:r>
              <a:rPr sz="1300" b="0" i="0">
                <a:solidFill>
                  <a:srgbClr val="1F2937"/>
                </a:solidFill>
                <a:latin typeface="맑은 고딕"/>
                <a:ea typeface="맑은 고딕"/>
                <a:cs typeface="맑은 고딕"/>
              </a:rPr>
              <a:t>복지로에서 5분 만에 신청,</a:t>
            </a:r>
          </a:p>
          <a:p>
            <a:pPr algn="l">
              <a:lnSpc>
                <a:spcPct val="115000"/>
              </a:lnSpc>
              <a:spcBef>
                <a:spcPts val="0"/>
              </a:spcBef>
              <a:spcAft>
                <a:spcPts val="200"/>
              </a:spcAft>
            </a:pPr>
            <a:r>
              <a:rPr sz="1300" b="0" i="0">
                <a:solidFill>
                  <a:srgbClr val="1F2937"/>
                </a:solidFill>
                <a:latin typeface="맑은 고딕"/>
                <a:ea typeface="맑은 고딕"/>
                <a:cs typeface="맑은 고딕"/>
              </a:rPr>
              <a:t>월세 부담이 줄어</a:t>
            </a:r>
          </a:p>
          <a:p>
            <a:pPr algn="l">
              <a:lnSpc>
                <a:spcPct val="115000"/>
              </a:lnSpc>
              <a:spcBef>
                <a:spcPts val="0"/>
              </a:spcBef>
              <a:spcAft>
                <a:spcPts val="200"/>
              </a:spcAft>
            </a:pPr>
            <a:r>
              <a:rPr sz="1300" b="0" i="0">
                <a:solidFill>
                  <a:srgbClr val="1F2937"/>
                </a:solidFill>
                <a:latin typeface="맑은 고딕"/>
                <a:ea typeface="맑은 고딕"/>
                <a:cs typeface="맑은 고딕"/>
              </a:rPr>
              <a:t>첫 저축을 시작했다.</a:t>
            </a:r>
          </a:p>
        </p:txBody>
      </p:sp>
      <p:sp>
        <p:nvSpPr>
          <p:cNvPr id="12" name="Rounded Rectangle 11"/>
          <p:cNvSpPr/>
          <p:nvPr/>
        </p:nvSpPr>
        <p:spPr>
          <a:xfrm>
            <a:off x="4297680" y="3291840"/>
            <a:ext cx="3593592" cy="2103120"/>
          </a:xfrm>
          <a:prstGeom prst="roundRect">
            <a:avLst>
              <a:gd name="adj" fmla="val 8000"/>
            </a:avLst>
          </a:prstGeom>
          <a:solidFill>
            <a:srgbClr val="FDF3E4"/>
          </a:solidFill>
          <a:ln w="12700">
            <a:solidFill>
              <a:srgbClr val="E8902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Rounded Rectangle 12"/>
          <p:cNvSpPr/>
          <p:nvPr/>
        </p:nvSpPr>
        <p:spPr>
          <a:xfrm>
            <a:off x="4297680" y="3291840"/>
            <a:ext cx="64008" cy="2103120"/>
          </a:xfrm>
          <a:prstGeom prst="roundRect">
            <a:avLst>
              <a:gd name="adj" fmla="val 50000"/>
            </a:avLst>
          </a:prstGeom>
          <a:solidFill>
            <a:srgbClr val="E890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4" name="TextBox 13"/>
          <p:cNvSpPr txBox="1"/>
          <p:nvPr/>
        </p:nvSpPr>
        <p:spPr>
          <a:xfrm>
            <a:off x="4480560" y="3401568"/>
            <a:ext cx="3273552" cy="1883663"/>
          </a:xfrm>
          <a:prstGeom prst="rect">
            <a:avLst/>
          </a:prstGeom>
          <a:noFill/>
        </p:spPr>
        <p:txBody>
          <a:bodyPr wrap="square" lIns="0" rIns="0" tIns="0" bIns="0">
            <a:spAutoFit/>
          </a:bodyPr>
          <a:lstStyle/>
          <a:p>
            <a:pPr algn="l">
              <a:lnSpc>
                <a:spcPct val="112000"/>
              </a:lnSpc>
              <a:spcBef>
                <a:spcPts val="0"/>
              </a:spcBef>
              <a:spcAft>
                <a:spcPts val="400"/>
              </a:spcAft>
            </a:pPr>
            <a:r>
              <a:rPr sz="1400" b="1" i="0">
                <a:solidFill>
                  <a:srgbClr val="E8902A"/>
                </a:solidFill>
                <a:latin typeface="맑은 고딕"/>
                <a:ea typeface="맑은 고딕"/>
                <a:cs typeface="맑은 고딕"/>
              </a:rPr>
              <a:t>경계  ·  B (46세 중장년)</a:t>
            </a:r>
          </a:p>
          <a:p>
            <a:pPr algn="l">
              <a:lnSpc>
                <a:spcPct val="115000"/>
              </a:lnSpc>
              <a:spcBef>
                <a:spcPts val="0"/>
              </a:spcBef>
              <a:spcAft>
                <a:spcPts val="200"/>
              </a:spcAft>
            </a:pPr>
            <a:r>
              <a:rPr sz="1300" b="0" i="0">
                <a:solidFill>
                  <a:srgbClr val="1F2937"/>
                </a:solidFill>
                <a:latin typeface="맑은 고딕"/>
                <a:ea typeface="맑은 고딕"/>
                <a:cs typeface="맑은 고딕"/>
              </a:rPr>
              <a:t>본인은 대상이 아니지만</a:t>
            </a:r>
          </a:p>
          <a:p>
            <a:pPr algn="l">
              <a:lnSpc>
                <a:spcPct val="115000"/>
              </a:lnSpc>
              <a:spcBef>
                <a:spcPts val="0"/>
              </a:spcBef>
              <a:spcAft>
                <a:spcPts val="200"/>
              </a:spcAft>
            </a:pPr>
            <a:r>
              <a:rPr sz="1300" b="0" i="0">
                <a:solidFill>
                  <a:srgbClr val="1F2937"/>
                </a:solidFill>
                <a:latin typeface="맑은 고딕"/>
                <a:ea typeface="맑은 고딕"/>
                <a:cs typeface="맑은 고딕"/>
              </a:rPr>
              <a:t>자녀를 위해 알아보고</a:t>
            </a:r>
          </a:p>
          <a:p>
            <a:pPr algn="l">
              <a:lnSpc>
                <a:spcPct val="115000"/>
              </a:lnSpc>
              <a:spcBef>
                <a:spcPts val="0"/>
              </a:spcBef>
              <a:spcAft>
                <a:spcPts val="200"/>
              </a:spcAft>
            </a:pPr>
            <a:r>
              <a:rPr sz="1300" b="0" i="0">
                <a:solidFill>
                  <a:srgbClr val="1F2937"/>
                </a:solidFill>
                <a:latin typeface="맑은 고딕"/>
                <a:ea typeface="맑은 고딕"/>
                <a:cs typeface="맑은 고딕"/>
              </a:rPr>
              <a:t>대신 신청해 준다.</a:t>
            </a:r>
          </a:p>
        </p:txBody>
      </p:sp>
      <p:sp>
        <p:nvSpPr>
          <p:cNvPr id="15" name="Rounded Rectangle 14"/>
          <p:cNvSpPr/>
          <p:nvPr/>
        </p:nvSpPr>
        <p:spPr>
          <a:xfrm>
            <a:off x="8046720" y="3291840"/>
            <a:ext cx="3593592" cy="2103120"/>
          </a:xfrm>
          <a:prstGeom prst="roundRect">
            <a:avLst>
              <a:gd name="adj" fmla="val 8000"/>
            </a:avLst>
          </a:prstGeom>
          <a:solidFill>
            <a:srgbClr val="FCECEB"/>
          </a:solidFill>
          <a:ln w="12700">
            <a:solidFill>
              <a:srgbClr val="D9534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6" name="Rounded Rectangle 15"/>
          <p:cNvSpPr/>
          <p:nvPr/>
        </p:nvSpPr>
        <p:spPr>
          <a:xfrm>
            <a:off x="8046720" y="3291840"/>
            <a:ext cx="64008" cy="2103120"/>
          </a:xfrm>
          <a:prstGeom prst="roundRect">
            <a:avLst>
              <a:gd name="adj" fmla="val 50000"/>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7" name="TextBox 16"/>
          <p:cNvSpPr txBox="1"/>
          <p:nvPr/>
        </p:nvSpPr>
        <p:spPr>
          <a:xfrm>
            <a:off x="8229600" y="3401568"/>
            <a:ext cx="3273552" cy="1883663"/>
          </a:xfrm>
          <a:prstGeom prst="rect">
            <a:avLst/>
          </a:prstGeom>
          <a:noFill/>
        </p:spPr>
        <p:txBody>
          <a:bodyPr wrap="square" lIns="0" rIns="0" tIns="0" bIns="0">
            <a:spAutoFit/>
          </a:bodyPr>
          <a:lstStyle/>
          <a:p>
            <a:pPr algn="l">
              <a:lnSpc>
                <a:spcPct val="112000"/>
              </a:lnSpc>
              <a:spcBef>
                <a:spcPts val="0"/>
              </a:spcBef>
              <a:spcAft>
                <a:spcPts val="400"/>
              </a:spcAft>
            </a:pPr>
            <a:r>
              <a:rPr sz="1400" b="1" i="0">
                <a:solidFill>
                  <a:srgbClr val="D9534F"/>
                </a:solidFill>
                <a:latin typeface="맑은 고딕"/>
                <a:ea typeface="맑은 고딕"/>
                <a:cs typeface="맑은 고딕"/>
              </a:rPr>
              <a:t>사각지대  ·  C (74세 고령)</a:t>
            </a:r>
          </a:p>
          <a:p>
            <a:pPr algn="l">
              <a:lnSpc>
                <a:spcPct val="115000"/>
              </a:lnSpc>
              <a:spcBef>
                <a:spcPts val="0"/>
              </a:spcBef>
              <a:spcAft>
                <a:spcPts val="200"/>
              </a:spcAft>
            </a:pPr>
            <a:r>
              <a:rPr sz="1300" b="0" i="0">
                <a:solidFill>
                  <a:srgbClr val="1F2937"/>
                </a:solidFill>
                <a:latin typeface="맑은 고딕"/>
                <a:ea typeface="맑은 고딕"/>
                <a:cs typeface="맑은 고딕"/>
              </a:rPr>
              <a:t>6개월이 지나도</a:t>
            </a:r>
          </a:p>
          <a:p>
            <a:pPr algn="l">
              <a:lnSpc>
                <a:spcPct val="115000"/>
              </a:lnSpc>
              <a:spcBef>
                <a:spcPts val="0"/>
              </a:spcBef>
              <a:spcAft>
                <a:spcPts val="200"/>
              </a:spcAft>
            </a:pPr>
            <a:r>
              <a:rPr sz="1300" b="0" i="0">
                <a:solidFill>
                  <a:srgbClr val="1F2937"/>
                </a:solidFill>
                <a:latin typeface="맑은 고딕"/>
                <a:ea typeface="맑은 고딕"/>
                <a:cs typeface="맑은 고딕"/>
              </a:rPr>
              <a:t>정책의 존재조차</a:t>
            </a:r>
          </a:p>
          <a:p>
            <a:pPr algn="l">
              <a:lnSpc>
                <a:spcPct val="115000"/>
              </a:lnSpc>
              <a:spcBef>
                <a:spcPts val="0"/>
              </a:spcBef>
              <a:spcAft>
                <a:spcPts val="200"/>
              </a:spcAft>
            </a:pPr>
            <a:r>
              <a:rPr sz="1300" b="0" i="0">
                <a:solidFill>
                  <a:srgbClr val="1F2937"/>
                </a:solidFill>
                <a:latin typeface="맑은 고딕"/>
                <a:ea typeface="맑은 고딕"/>
                <a:cs typeface="맑은 고딕"/>
              </a:rPr>
              <a:t>알지 못했다.</a:t>
            </a:r>
          </a:p>
        </p:txBody>
      </p:sp>
      <p:sp>
        <p:nvSpPr>
          <p:cNvPr id="18" name="TextBox 17"/>
          <p:cNvSpPr txBox="1"/>
          <p:nvPr/>
        </p:nvSpPr>
        <p:spPr>
          <a:xfrm>
            <a:off x="548640" y="5623560"/>
            <a:ext cx="11091672" cy="548640"/>
          </a:xfrm>
          <a:prstGeom prst="rect">
            <a:avLst/>
          </a:prstGeom>
          <a:noFill/>
        </p:spPr>
        <p:txBody>
          <a:bodyPr wrap="square" lIns="0" rIns="0" tIns="0" bIns="0">
            <a:spAutoFit/>
          </a:bodyPr>
          <a:lstStyle/>
          <a:p>
            <a:pPr algn="ctr">
              <a:lnSpc>
                <a:spcPct val="112000"/>
              </a:lnSpc>
              <a:spcBef>
                <a:spcPts val="0"/>
              </a:spcBef>
              <a:spcAft>
                <a:spcPts val="0"/>
              </a:spcAft>
            </a:pPr>
            <a:r>
              <a:rPr sz="1800" b="1" i="0">
                <a:solidFill>
                  <a:srgbClr val="1F3A5F"/>
                </a:solidFill>
                <a:latin typeface="맑은 고딕"/>
                <a:ea typeface="맑은 고딕"/>
                <a:cs typeface="맑은 고딕"/>
              </a:rPr>
              <a:t>“같은 정책, 다른 인생.” — 미리랩은 이 갈림을 배포 전에 보여준다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02 시스템</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300" b="1" i="0">
                <a:solidFill>
                  <a:srgbClr val="1F3A5F"/>
                </a:solidFill>
                <a:latin typeface="맑은 고딕"/>
                <a:ea typeface="맑은 고딕"/>
                <a:cs typeface="맑은 고딕"/>
              </a:rPr>
              <a:t>시스템 — 단일 LangGraph에서 3축 단방향으로</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5</a:t>
            </a:r>
          </a:p>
        </p:txBody>
      </p:sp>
      <p:sp>
        <p:nvSpPr>
          <p:cNvPr id="6" name="Rounded Rectangle 5"/>
          <p:cNvSpPr/>
          <p:nvPr/>
        </p:nvSpPr>
        <p:spPr>
          <a:xfrm>
            <a:off x="548640" y="1371600"/>
            <a:ext cx="11091672" cy="731520"/>
          </a:xfrm>
          <a:prstGeom prst="roundRect">
            <a:avLst>
              <a:gd name="adj" fmla="val 8000"/>
            </a:avLst>
          </a:prstGeom>
          <a:solidFill>
            <a:srgbClr val="F1F3F7"/>
          </a:solidFill>
          <a:ln w="1270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7" name="TextBox 6"/>
          <p:cNvSpPr txBox="1"/>
          <p:nvPr/>
        </p:nvSpPr>
        <p:spPr>
          <a:xfrm>
            <a:off x="658368" y="1444752"/>
            <a:ext cx="10872216" cy="585216"/>
          </a:xfrm>
          <a:prstGeom prst="rect">
            <a:avLst/>
          </a:prstGeom>
          <a:noFill/>
        </p:spPr>
        <p:txBody>
          <a:bodyPr wrap="square" lIns="0" rIns="0" tIns="0" bIns="0">
            <a:spAutoFit/>
          </a:bodyPr>
          <a:lstStyle/>
          <a:p>
            <a:pPr algn="l">
              <a:lnSpc>
                <a:spcPct val="112000"/>
              </a:lnSpc>
              <a:spcBef>
                <a:spcPts val="0"/>
              </a:spcBef>
              <a:spcAft>
                <a:spcPts val="200"/>
              </a:spcAft>
            </a:pPr>
            <a:r>
              <a:rPr sz="1400" b="1" i="0">
                <a:solidFill>
                  <a:srgbClr val="6B7280"/>
                </a:solidFill>
                <a:latin typeface="맑은 고딕"/>
                <a:ea typeface="맑은 고딕"/>
                <a:cs typeface="맑은 고딕"/>
              </a:rPr>
              <a:t>v1 · 단일 LangGraph:  react → interact → aggregate</a:t>
            </a:r>
          </a:p>
          <a:p>
            <a:pPr algn="l">
              <a:lnSpc>
                <a:spcPct val="112000"/>
              </a:lnSpc>
              <a:spcBef>
                <a:spcPts val="0"/>
              </a:spcBef>
              <a:spcAft>
                <a:spcPts val="100"/>
              </a:spcAft>
            </a:pPr>
            <a:r>
              <a:rPr sz="1150" b="0" i="0">
                <a:solidFill>
                  <a:srgbClr val="1F2937"/>
                </a:solidFill>
                <a:latin typeface="맑은 고딕"/>
                <a:ea typeface="맑은 고딕"/>
                <a:cs typeface="맑은 고딕"/>
              </a:rPr>
              <a:t>한 호출이 인지·점수·결과까지 다 판정  →  출력 과밀 · 축 간 모순</a:t>
            </a:r>
          </a:p>
        </p:txBody>
      </p:sp>
      <p:sp>
        <p:nvSpPr>
          <p:cNvPr id="8" name="TextBox 7"/>
          <p:cNvSpPr txBox="1"/>
          <p:nvPr/>
        </p:nvSpPr>
        <p:spPr>
          <a:xfrm>
            <a:off x="5074920" y="2121408"/>
            <a:ext cx="457200" cy="365760"/>
          </a:xfrm>
          <a:prstGeom prst="rect">
            <a:avLst/>
          </a:prstGeom>
          <a:noFill/>
        </p:spPr>
        <p:txBody>
          <a:bodyPr wrap="square" lIns="0" rIns="0" tIns="0" bIns="0">
            <a:spAutoFit/>
          </a:bodyPr>
          <a:lstStyle/>
          <a:p>
            <a:pPr algn="ctr">
              <a:lnSpc>
                <a:spcPct val="112000"/>
              </a:lnSpc>
              <a:spcBef>
                <a:spcPts val="0"/>
              </a:spcBef>
              <a:spcAft>
                <a:spcPts val="0"/>
              </a:spcAft>
            </a:pPr>
            <a:r>
              <a:rPr sz="1800" b="1" i="0">
                <a:solidFill>
                  <a:srgbClr val="6B7280"/>
                </a:solidFill>
                <a:latin typeface="맑은 고딕"/>
                <a:ea typeface="맑은 고딕"/>
                <a:cs typeface="맑은 고딕"/>
              </a:rPr>
              <a:t>↓</a:t>
            </a:r>
          </a:p>
        </p:txBody>
      </p:sp>
      <p:sp>
        <p:nvSpPr>
          <p:cNvPr id="9" name="TextBox 8"/>
          <p:cNvSpPr txBox="1"/>
          <p:nvPr/>
        </p:nvSpPr>
        <p:spPr>
          <a:xfrm>
            <a:off x="5577840" y="2176272"/>
            <a:ext cx="5669280" cy="320040"/>
          </a:xfrm>
          <a:prstGeom prst="rect">
            <a:avLst/>
          </a:prstGeom>
          <a:noFill/>
        </p:spPr>
        <p:txBody>
          <a:bodyPr wrap="square" lIns="0" rIns="0" tIns="0" bIns="0">
            <a:spAutoFit/>
          </a:bodyPr>
          <a:lstStyle/>
          <a:p>
            <a:pPr algn="l">
              <a:lnSpc>
                <a:spcPct val="112000"/>
              </a:lnSpc>
              <a:spcBef>
                <a:spcPts val="0"/>
              </a:spcBef>
              <a:spcAft>
                <a:spcPts val="0"/>
              </a:spcAft>
            </a:pPr>
            <a:r>
              <a:rPr sz="1200" b="1" i="0">
                <a:solidFill>
                  <a:srgbClr val="2D6CDF"/>
                </a:solidFill>
                <a:latin typeface="맑은 고딕"/>
                <a:ea typeface="맑은 고딕"/>
                <a:cs typeface="맑은 고딕"/>
              </a:rPr>
              <a:t>재설계 — 책임을 쪼개 단방향으로</a:t>
            </a:r>
          </a:p>
        </p:txBody>
      </p:sp>
      <p:sp>
        <p:nvSpPr>
          <p:cNvPr id="10" name="Rounded Rectangle 9"/>
          <p:cNvSpPr/>
          <p:nvPr/>
        </p:nvSpPr>
        <p:spPr>
          <a:xfrm>
            <a:off x="548640" y="2606040"/>
            <a:ext cx="11091672" cy="3611880"/>
          </a:xfrm>
          <a:prstGeom prst="roundRect">
            <a:avLst>
              <a:gd name="adj" fmla="val 3000"/>
            </a:avLst>
          </a:prstGeom>
          <a:no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1" name="TextBox 10"/>
          <p:cNvSpPr txBox="1"/>
          <p:nvPr/>
        </p:nvSpPr>
        <p:spPr>
          <a:xfrm>
            <a:off x="777240" y="2670048"/>
            <a:ext cx="5486400" cy="292608"/>
          </a:xfrm>
          <a:prstGeom prst="rect">
            <a:avLst/>
          </a:prstGeom>
          <a:noFill/>
        </p:spPr>
        <p:txBody>
          <a:bodyPr wrap="square" lIns="0" rIns="0" tIns="0" bIns="0">
            <a:spAutoFit/>
          </a:bodyPr>
          <a:lstStyle/>
          <a:p>
            <a:pPr algn="l">
              <a:lnSpc>
                <a:spcPct val="112000"/>
              </a:lnSpc>
              <a:spcBef>
                <a:spcPts val="0"/>
              </a:spcBef>
              <a:spcAft>
                <a:spcPts val="0"/>
              </a:spcAft>
            </a:pPr>
            <a:r>
              <a:rPr sz="1300" b="1" i="0">
                <a:solidFill>
                  <a:srgbClr val="2E9E6B"/>
                </a:solidFill>
                <a:latin typeface="맑은 고딕"/>
                <a:ea typeface="맑은 고딕"/>
                <a:cs typeface="맑은 고딕"/>
              </a:rPr>
              <a:t>v2 · 3축 단방향 파이프라인</a:t>
            </a:r>
          </a:p>
        </p:txBody>
      </p:sp>
      <p:sp>
        <p:nvSpPr>
          <p:cNvPr id="12" name="Rounded Rectangle 11"/>
          <p:cNvSpPr/>
          <p:nvPr/>
        </p:nvSpPr>
        <p:spPr>
          <a:xfrm>
            <a:off x="914400" y="3063240"/>
            <a:ext cx="10360152" cy="548640"/>
          </a:xfrm>
          <a:prstGeom prst="roundRect">
            <a:avLst>
              <a:gd name="adj" fmla="val 8000"/>
            </a:avLst>
          </a:prstGeom>
          <a:solidFill>
            <a:srgbClr val="EAF0F8"/>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1024128" y="3136392"/>
            <a:ext cx="10140696" cy="402335"/>
          </a:xfrm>
          <a:prstGeom prst="rect">
            <a:avLst/>
          </a:prstGeom>
          <a:noFill/>
        </p:spPr>
        <p:txBody>
          <a:bodyPr wrap="square" lIns="0" rIns="0" tIns="0" bIns="0">
            <a:spAutoFit/>
          </a:bodyPr>
          <a:lstStyle/>
          <a:p>
            <a:pPr algn="l">
              <a:lnSpc>
                <a:spcPct val="112000"/>
              </a:lnSpc>
              <a:spcBef>
                <a:spcPts val="0"/>
              </a:spcBef>
              <a:spcAft>
                <a:spcPts val="200"/>
              </a:spcAft>
            </a:pPr>
            <a:r>
              <a:rPr sz="1250" b="1" i="0">
                <a:solidFill>
                  <a:srgbClr val="1F3A5F"/>
                </a:solidFill>
                <a:latin typeface="맑은 고딕"/>
                <a:ea typeface="맑은 고딕"/>
                <a:cs typeface="맑은 고딕"/>
              </a:rPr>
              <a:t>페르소나 — Nemotron-Personas-Korea (실제 한국 통계 기반)</a:t>
            </a:r>
          </a:p>
        </p:txBody>
      </p:sp>
      <p:sp>
        <p:nvSpPr>
          <p:cNvPr id="14" name="TextBox 13"/>
          <p:cNvSpPr txBox="1"/>
          <p:nvPr/>
        </p:nvSpPr>
        <p:spPr>
          <a:xfrm>
            <a:off x="5870448" y="3630168"/>
            <a:ext cx="457200" cy="365760"/>
          </a:xfrm>
          <a:prstGeom prst="rect">
            <a:avLst/>
          </a:prstGeom>
          <a:noFill/>
        </p:spPr>
        <p:txBody>
          <a:bodyPr wrap="square" lIns="0" rIns="0" tIns="0" bIns="0">
            <a:spAutoFit/>
          </a:bodyPr>
          <a:lstStyle/>
          <a:p>
            <a:pPr algn="ctr">
              <a:lnSpc>
                <a:spcPct val="112000"/>
              </a:lnSpc>
              <a:spcBef>
                <a:spcPts val="0"/>
              </a:spcBef>
              <a:spcAft>
                <a:spcPts val="0"/>
              </a:spcAft>
            </a:pPr>
            <a:r>
              <a:rPr sz="1500" b="1" i="0">
                <a:solidFill>
                  <a:srgbClr val="6B7280"/>
                </a:solidFill>
                <a:latin typeface="맑은 고딕"/>
                <a:ea typeface="맑은 고딕"/>
                <a:cs typeface="맑은 고딕"/>
              </a:rPr>
              <a:t>↓</a:t>
            </a:r>
          </a:p>
        </p:txBody>
      </p:sp>
      <p:sp>
        <p:nvSpPr>
          <p:cNvPr id="15" name="Rounded Rectangle 14"/>
          <p:cNvSpPr/>
          <p:nvPr/>
        </p:nvSpPr>
        <p:spPr>
          <a:xfrm>
            <a:off x="914400" y="4023360"/>
            <a:ext cx="3200400" cy="91440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6" name="TextBox 15"/>
          <p:cNvSpPr txBox="1"/>
          <p:nvPr/>
        </p:nvSpPr>
        <p:spPr>
          <a:xfrm>
            <a:off x="1024128" y="4096512"/>
            <a:ext cx="2980944" cy="768096"/>
          </a:xfrm>
          <a:prstGeom prst="rect">
            <a:avLst/>
          </a:prstGeom>
          <a:noFill/>
        </p:spPr>
        <p:txBody>
          <a:bodyPr wrap="square" lIns="0" rIns="0" tIns="0" bIns="0">
            <a:spAutoFit/>
          </a:bodyPr>
          <a:lstStyle/>
          <a:p>
            <a:pPr algn="l">
              <a:lnSpc>
                <a:spcPct val="112000"/>
              </a:lnSpc>
              <a:spcBef>
                <a:spcPts val="0"/>
              </a:spcBef>
              <a:spcAft>
                <a:spcPts val="200"/>
              </a:spcAft>
            </a:pPr>
            <a:r>
              <a:rPr sz="1400" b="1" i="0">
                <a:solidFill>
                  <a:srgbClr val="2E9E6B"/>
                </a:solidFill>
                <a:latin typeface="맑은 고딕"/>
                <a:ea typeface="맑은 고딕"/>
                <a:cs typeface="맑은 고딕"/>
              </a:rPr>
              <a:t>축1 · 정보</a:t>
            </a:r>
          </a:p>
          <a:p>
            <a:pPr algn="l">
              <a:lnSpc>
                <a:spcPct val="112000"/>
              </a:lnSpc>
              <a:spcBef>
                <a:spcPts val="0"/>
              </a:spcBef>
              <a:spcAft>
                <a:spcPts val="100"/>
              </a:spcAft>
            </a:pPr>
            <a:r>
              <a:rPr sz="1200" b="0" i="0">
                <a:solidFill>
                  <a:srgbClr val="1F2937"/>
                </a:solidFill>
                <a:latin typeface="맑은 고딕"/>
                <a:ea typeface="맑은 고딕"/>
                <a:cs typeface="맑은 고딕"/>
              </a:rPr>
              <a:t>react — t0 반응</a:t>
            </a:r>
          </a:p>
        </p:txBody>
      </p:sp>
      <p:sp>
        <p:nvSpPr>
          <p:cNvPr id="17" name="Rounded Rectangle 16"/>
          <p:cNvSpPr/>
          <p:nvPr/>
        </p:nvSpPr>
        <p:spPr>
          <a:xfrm>
            <a:off x="4498848" y="4023360"/>
            <a:ext cx="3200400" cy="914400"/>
          </a:xfrm>
          <a:prstGeom prst="roundRect">
            <a:avLst>
              <a:gd name="adj" fmla="val 8000"/>
            </a:avLst>
          </a:prstGeom>
          <a:solidFill>
            <a:srgbClr val="FDF3E4"/>
          </a:solidFill>
          <a:ln w="12700">
            <a:solidFill>
              <a:srgbClr val="E8902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8" name="TextBox 17"/>
          <p:cNvSpPr txBox="1"/>
          <p:nvPr/>
        </p:nvSpPr>
        <p:spPr>
          <a:xfrm>
            <a:off x="4608576" y="4096512"/>
            <a:ext cx="2980944" cy="768096"/>
          </a:xfrm>
          <a:prstGeom prst="rect">
            <a:avLst/>
          </a:prstGeom>
          <a:noFill/>
        </p:spPr>
        <p:txBody>
          <a:bodyPr wrap="square" lIns="0" rIns="0" tIns="0" bIns="0">
            <a:spAutoFit/>
          </a:bodyPr>
          <a:lstStyle/>
          <a:p>
            <a:pPr algn="l">
              <a:lnSpc>
                <a:spcPct val="112000"/>
              </a:lnSpc>
              <a:spcBef>
                <a:spcPts val="0"/>
              </a:spcBef>
              <a:spcAft>
                <a:spcPts val="200"/>
              </a:spcAft>
            </a:pPr>
            <a:r>
              <a:rPr sz="1400" b="1" i="0">
                <a:solidFill>
                  <a:srgbClr val="E8902A"/>
                </a:solidFill>
                <a:latin typeface="맑은 고딕"/>
                <a:ea typeface="맑은 고딕"/>
                <a:cs typeface="맑은 고딕"/>
              </a:rPr>
              <a:t>축2 · 결과</a:t>
            </a:r>
          </a:p>
          <a:p>
            <a:pPr algn="l">
              <a:lnSpc>
                <a:spcPct val="112000"/>
              </a:lnSpc>
              <a:spcBef>
                <a:spcPts val="0"/>
              </a:spcBef>
              <a:spcAft>
                <a:spcPts val="100"/>
              </a:spcAft>
            </a:pPr>
            <a:r>
              <a:rPr sz="1200" b="0" i="0">
                <a:solidFill>
                  <a:srgbClr val="1F2937"/>
                </a:solidFill>
                <a:latin typeface="맑은 고딕"/>
                <a:ea typeface="맑은 고딕"/>
                <a:cs typeface="맑은 고딕"/>
              </a:rPr>
              <a:t>인생극장 · 대조 3명</a:t>
            </a:r>
          </a:p>
        </p:txBody>
      </p:sp>
      <p:sp>
        <p:nvSpPr>
          <p:cNvPr id="19" name="Rounded Rectangle 18"/>
          <p:cNvSpPr/>
          <p:nvPr/>
        </p:nvSpPr>
        <p:spPr>
          <a:xfrm>
            <a:off x="8074152" y="4023360"/>
            <a:ext cx="3200400" cy="914400"/>
          </a:xfrm>
          <a:prstGeom prst="roundRect">
            <a:avLst>
              <a:gd name="adj" fmla="val 8000"/>
            </a:avLst>
          </a:prstGeom>
          <a:solidFill>
            <a:srgbClr val="EAF0F8"/>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20" name="TextBox 19"/>
          <p:cNvSpPr txBox="1"/>
          <p:nvPr/>
        </p:nvSpPr>
        <p:spPr>
          <a:xfrm>
            <a:off x="8183879" y="4096512"/>
            <a:ext cx="2980944" cy="768096"/>
          </a:xfrm>
          <a:prstGeom prst="rect">
            <a:avLst/>
          </a:prstGeom>
          <a:noFill/>
        </p:spPr>
        <p:txBody>
          <a:bodyPr wrap="square" lIns="0" rIns="0" tIns="0" bIns="0">
            <a:spAutoFit/>
          </a:bodyPr>
          <a:lstStyle/>
          <a:p>
            <a:pPr algn="l">
              <a:lnSpc>
                <a:spcPct val="112000"/>
              </a:lnSpc>
              <a:spcBef>
                <a:spcPts val="0"/>
              </a:spcBef>
              <a:spcAft>
                <a:spcPts val="200"/>
              </a:spcAft>
            </a:pPr>
            <a:r>
              <a:rPr sz="1400" b="1" i="0">
                <a:solidFill>
                  <a:srgbClr val="1F3A5F"/>
                </a:solidFill>
                <a:latin typeface="맑은 고딕"/>
                <a:ea typeface="맑은 고딕"/>
                <a:cs typeface="맑은 고딕"/>
              </a:rPr>
              <a:t>축3 · 요약</a:t>
            </a:r>
          </a:p>
          <a:p>
            <a:pPr algn="l">
              <a:lnSpc>
                <a:spcPct val="112000"/>
              </a:lnSpc>
              <a:spcBef>
                <a:spcPts val="0"/>
              </a:spcBef>
              <a:spcAft>
                <a:spcPts val="100"/>
              </a:spcAft>
            </a:pPr>
            <a:r>
              <a:rPr sz="1200" b="0" i="0">
                <a:solidFill>
                  <a:srgbClr val="1F2937"/>
                </a:solidFill>
                <a:latin typeface="맑은 고딕"/>
                <a:ea typeface="맑은 고딕"/>
                <a:cs typeface="맑은 고딕"/>
              </a:rPr>
              <a:t>집계·서술 (axis3)</a:t>
            </a:r>
          </a:p>
        </p:txBody>
      </p:sp>
      <p:sp>
        <p:nvSpPr>
          <p:cNvPr id="21" name="TextBox 20"/>
          <p:cNvSpPr txBox="1"/>
          <p:nvPr/>
        </p:nvSpPr>
        <p:spPr>
          <a:xfrm>
            <a:off x="4041648" y="4343400"/>
            <a:ext cx="457200" cy="365760"/>
          </a:xfrm>
          <a:prstGeom prst="rect">
            <a:avLst/>
          </a:prstGeom>
          <a:noFill/>
        </p:spPr>
        <p:txBody>
          <a:bodyPr wrap="square" lIns="0" rIns="0" tIns="0" bIns="0">
            <a:spAutoFit/>
          </a:bodyPr>
          <a:lstStyle/>
          <a:p>
            <a:pPr algn="ctr">
              <a:lnSpc>
                <a:spcPct val="112000"/>
              </a:lnSpc>
              <a:spcBef>
                <a:spcPts val="0"/>
              </a:spcBef>
              <a:spcAft>
                <a:spcPts val="0"/>
              </a:spcAft>
            </a:pPr>
            <a:r>
              <a:rPr sz="1800" b="1" i="0">
                <a:solidFill>
                  <a:srgbClr val="6B7280"/>
                </a:solidFill>
                <a:latin typeface="맑은 고딕"/>
                <a:ea typeface="맑은 고딕"/>
                <a:cs typeface="맑은 고딕"/>
              </a:rPr>
              <a:t>→</a:t>
            </a:r>
          </a:p>
        </p:txBody>
      </p:sp>
      <p:sp>
        <p:nvSpPr>
          <p:cNvPr id="22" name="TextBox 21"/>
          <p:cNvSpPr txBox="1"/>
          <p:nvPr/>
        </p:nvSpPr>
        <p:spPr>
          <a:xfrm>
            <a:off x="7616952" y="4343400"/>
            <a:ext cx="457200" cy="365760"/>
          </a:xfrm>
          <a:prstGeom prst="rect">
            <a:avLst/>
          </a:prstGeom>
          <a:noFill/>
        </p:spPr>
        <p:txBody>
          <a:bodyPr wrap="square" lIns="0" rIns="0" tIns="0" bIns="0">
            <a:spAutoFit/>
          </a:bodyPr>
          <a:lstStyle/>
          <a:p>
            <a:pPr algn="ctr">
              <a:lnSpc>
                <a:spcPct val="112000"/>
              </a:lnSpc>
              <a:spcBef>
                <a:spcPts val="0"/>
              </a:spcBef>
              <a:spcAft>
                <a:spcPts val="0"/>
              </a:spcAft>
            </a:pPr>
            <a:r>
              <a:rPr sz="1800" b="1" i="0">
                <a:solidFill>
                  <a:srgbClr val="6B7280"/>
                </a:solidFill>
                <a:latin typeface="맑은 고딕"/>
                <a:ea typeface="맑은 고딕"/>
                <a:cs typeface="맑은 고딕"/>
              </a:rPr>
              <a:t>→</a:t>
            </a:r>
          </a:p>
        </p:txBody>
      </p:sp>
      <p:sp>
        <p:nvSpPr>
          <p:cNvPr id="23" name="TextBox 22"/>
          <p:cNvSpPr txBox="1"/>
          <p:nvPr/>
        </p:nvSpPr>
        <p:spPr>
          <a:xfrm>
            <a:off x="914400" y="5047488"/>
            <a:ext cx="10058400" cy="274320"/>
          </a:xfrm>
          <a:prstGeom prst="rect">
            <a:avLst/>
          </a:prstGeom>
          <a:noFill/>
        </p:spPr>
        <p:txBody>
          <a:bodyPr wrap="square" lIns="0" rIns="0" tIns="0" bIns="0">
            <a:spAutoFit/>
          </a:bodyPr>
          <a:lstStyle/>
          <a:p>
            <a:pPr algn="l">
              <a:lnSpc>
                <a:spcPct val="112000"/>
              </a:lnSpc>
              <a:spcBef>
                <a:spcPts val="0"/>
              </a:spcBef>
              <a:spcAft>
                <a:spcPts val="0"/>
              </a:spcAft>
            </a:pPr>
            <a:r>
              <a:rPr sz="1150" b="0" i="0">
                <a:solidFill>
                  <a:srgbClr val="6B7280"/>
                </a:solidFill>
                <a:latin typeface="맑은 고딕"/>
                <a:ea typeface="맑은 고딕"/>
                <a:cs typeface="맑은 고딕"/>
              </a:rPr>
              <a:t>LangGraph는 이제 축1만 담당 · 게이지 포함 모든 집계는 축3로 단일화</a:t>
            </a:r>
          </a:p>
        </p:txBody>
      </p:sp>
      <p:sp>
        <p:nvSpPr>
          <p:cNvPr id="24" name="TextBox 23"/>
          <p:cNvSpPr txBox="1"/>
          <p:nvPr/>
        </p:nvSpPr>
        <p:spPr>
          <a:xfrm>
            <a:off x="5870448" y="5285232"/>
            <a:ext cx="457200" cy="365760"/>
          </a:xfrm>
          <a:prstGeom prst="rect">
            <a:avLst/>
          </a:prstGeom>
          <a:noFill/>
        </p:spPr>
        <p:txBody>
          <a:bodyPr wrap="square" lIns="0" rIns="0" tIns="0" bIns="0">
            <a:spAutoFit/>
          </a:bodyPr>
          <a:lstStyle/>
          <a:p>
            <a:pPr algn="ctr">
              <a:lnSpc>
                <a:spcPct val="112000"/>
              </a:lnSpc>
              <a:spcBef>
                <a:spcPts val="0"/>
              </a:spcBef>
              <a:spcAft>
                <a:spcPts val="0"/>
              </a:spcAft>
            </a:pPr>
            <a:r>
              <a:rPr sz="1500" b="1" i="0">
                <a:solidFill>
                  <a:srgbClr val="6B7280"/>
                </a:solidFill>
                <a:latin typeface="맑은 고딕"/>
                <a:ea typeface="맑은 고딕"/>
                <a:cs typeface="맑은 고딕"/>
              </a:rPr>
              <a:t>↓</a:t>
            </a:r>
          </a:p>
        </p:txBody>
      </p:sp>
      <p:sp>
        <p:nvSpPr>
          <p:cNvPr id="25" name="Rounded Rectangle 24"/>
          <p:cNvSpPr/>
          <p:nvPr/>
        </p:nvSpPr>
        <p:spPr>
          <a:xfrm>
            <a:off x="914400" y="5623560"/>
            <a:ext cx="10360152" cy="502920"/>
          </a:xfrm>
          <a:prstGeom prst="roundRect">
            <a:avLst>
              <a:gd name="adj" fmla="val 8000"/>
            </a:avLst>
          </a:prstGeom>
          <a:solidFill>
            <a:srgbClr val="F4F6FA"/>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26" name="TextBox 25"/>
          <p:cNvSpPr txBox="1"/>
          <p:nvPr/>
        </p:nvSpPr>
        <p:spPr>
          <a:xfrm>
            <a:off x="1024128" y="5696712"/>
            <a:ext cx="10140696" cy="356616"/>
          </a:xfrm>
          <a:prstGeom prst="rect">
            <a:avLst/>
          </a:prstGeom>
          <a:noFill/>
        </p:spPr>
        <p:txBody>
          <a:bodyPr wrap="square" lIns="0" rIns="0" tIns="0" bIns="0">
            <a:spAutoFit/>
          </a:bodyPr>
          <a:lstStyle/>
          <a:p>
            <a:pPr algn="l">
              <a:lnSpc>
                <a:spcPct val="112000"/>
              </a:lnSpc>
              <a:spcBef>
                <a:spcPts val="0"/>
              </a:spcBef>
              <a:spcAft>
                <a:spcPts val="200"/>
              </a:spcAft>
            </a:pPr>
            <a:r>
              <a:rPr sz="1250" b="1" i="0">
                <a:solidFill>
                  <a:srgbClr val="1F3A5F"/>
                </a:solidFill>
                <a:latin typeface="맑은 고딕"/>
                <a:ea typeface="맑은 고딕"/>
                <a:cs typeface="맑은 고딕"/>
              </a:rPr>
              <a:t>Streamlit 7탭 · 데모 = Gemini 시뮬 녹화 재생 (네트워크 0콜)</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02 시스템</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페르소나 — 어떻게 만들어진 데이터인가</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6</a:t>
            </a:r>
          </a:p>
        </p:txBody>
      </p:sp>
      <p:sp>
        <p:nvSpPr>
          <p:cNvPr id="6" name="TextBox 5"/>
          <p:cNvSpPr txBox="1"/>
          <p:nvPr/>
        </p:nvSpPr>
        <p:spPr>
          <a:xfrm>
            <a:off x="548640" y="1417320"/>
            <a:ext cx="11091672" cy="457200"/>
          </a:xfrm>
          <a:prstGeom prst="rect">
            <a:avLst/>
          </a:prstGeom>
          <a:noFill/>
        </p:spPr>
        <p:txBody>
          <a:bodyPr wrap="square" lIns="0" rIns="0" tIns="0" bIns="0">
            <a:spAutoFit/>
          </a:bodyPr>
          <a:lstStyle/>
          <a:p>
            <a:pPr algn="l">
              <a:lnSpc>
                <a:spcPct val="112000"/>
              </a:lnSpc>
              <a:spcBef>
                <a:spcPts val="0"/>
              </a:spcBef>
              <a:spcAft>
                <a:spcPts val="0"/>
              </a:spcAft>
            </a:pPr>
            <a:r>
              <a:rPr sz="1400" b="1" i="0">
                <a:solidFill>
                  <a:srgbClr val="1F3A5F"/>
                </a:solidFill>
                <a:latin typeface="맑은 고딕"/>
                <a:ea typeface="맑은 고딕"/>
                <a:cs typeface="맑은 고딕"/>
              </a:rPr>
              <a:t>NVIDIA가 실제 통계에서 뽑아 LLM으로 2단계로 빚어 공개한 데이터셋 — 우리는 이걸 가져다 쓴다</a:t>
            </a:r>
          </a:p>
        </p:txBody>
      </p:sp>
      <p:sp>
        <p:nvSpPr>
          <p:cNvPr id="7" name="TextBox 6"/>
          <p:cNvSpPr txBox="1"/>
          <p:nvPr/>
        </p:nvSpPr>
        <p:spPr>
          <a:xfrm>
            <a:off x="548640" y="2084831"/>
            <a:ext cx="11091672" cy="256032"/>
          </a:xfrm>
          <a:prstGeom prst="rect">
            <a:avLst/>
          </a:prstGeom>
          <a:noFill/>
        </p:spPr>
        <p:txBody>
          <a:bodyPr wrap="square" lIns="0" rIns="0" tIns="0" bIns="0">
            <a:spAutoFit/>
          </a:bodyPr>
          <a:lstStyle/>
          <a:p>
            <a:pPr algn="l">
              <a:lnSpc>
                <a:spcPct val="112000"/>
              </a:lnSpc>
              <a:spcBef>
                <a:spcPts val="0"/>
              </a:spcBef>
              <a:spcAft>
                <a:spcPts val="0"/>
              </a:spcAft>
            </a:pPr>
            <a:r>
              <a:rPr sz="1100" b="0" i="0">
                <a:solidFill>
                  <a:srgbClr val="6B7280"/>
                </a:solidFill>
                <a:latin typeface="맑은 고딕"/>
                <a:ea typeface="맑은 고딕"/>
                <a:cs typeface="맑은 고딕"/>
              </a:rPr>
              <a:t>NVIDIA가 데이터셋을 만든 과정 (우리 작업이 아니라 데이터 출처)</a:t>
            </a:r>
          </a:p>
        </p:txBody>
      </p:sp>
      <p:sp>
        <p:nvSpPr>
          <p:cNvPr id="8" name="Rounded Rectangle 7"/>
          <p:cNvSpPr/>
          <p:nvPr/>
        </p:nvSpPr>
        <p:spPr>
          <a:xfrm>
            <a:off x="548640" y="2395728"/>
            <a:ext cx="3291840" cy="1554480"/>
          </a:xfrm>
          <a:prstGeom prst="roundRect">
            <a:avLst>
              <a:gd name="adj" fmla="val 8000"/>
            </a:avLst>
          </a:prstGeom>
          <a:solidFill>
            <a:srgbClr val="EAF0F8"/>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9" name="TextBox 8"/>
          <p:cNvSpPr txBox="1"/>
          <p:nvPr/>
        </p:nvSpPr>
        <p:spPr>
          <a:xfrm>
            <a:off x="658368" y="2468880"/>
            <a:ext cx="3072384" cy="1408176"/>
          </a:xfrm>
          <a:prstGeom prst="rect">
            <a:avLst/>
          </a:prstGeom>
          <a:noFill/>
        </p:spPr>
        <p:txBody>
          <a:bodyPr wrap="square" lIns="0" rIns="0" tIns="0" bIns="0">
            <a:spAutoFit/>
          </a:bodyPr>
          <a:lstStyle/>
          <a:p>
            <a:pPr algn="l">
              <a:lnSpc>
                <a:spcPct val="112000"/>
              </a:lnSpc>
              <a:spcBef>
                <a:spcPts val="0"/>
              </a:spcBef>
              <a:spcAft>
                <a:spcPts val="200"/>
              </a:spcAft>
            </a:pPr>
            <a:r>
              <a:rPr sz="1350" b="1" i="0">
                <a:solidFill>
                  <a:srgbClr val="1F3A5F"/>
                </a:solidFill>
                <a:latin typeface="맑은 고딕"/>
                <a:ea typeface="맑은 고딕"/>
                <a:cs typeface="맑은 고딕"/>
              </a:rPr>
              <a:t>① 실제 분포에서 뽑기</a:t>
            </a:r>
          </a:p>
          <a:p>
            <a:pPr algn="l">
              <a:lnSpc>
                <a:spcPct val="112000"/>
              </a:lnSpc>
              <a:spcBef>
                <a:spcPts val="0"/>
              </a:spcBef>
              <a:spcAft>
                <a:spcPts val="100"/>
              </a:spcAft>
            </a:pPr>
            <a:r>
              <a:rPr sz="1150" b="0" i="0">
                <a:solidFill>
                  <a:srgbClr val="1F2937"/>
                </a:solidFill>
                <a:latin typeface="맑은 고딕"/>
                <a:ea typeface="맑은 고딕"/>
                <a:cs typeface="맑은 고딕"/>
              </a:rPr>
              <a:t>인구통계: 나이·성별·지역·</a:t>
            </a:r>
          </a:p>
          <a:p>
            <a:pPr algn="l">
              <a:lnSpc>
                <a:spcPct val="112000"/>
              </a:lnSpc>
              <a:spcBef>
                <a:spcPts val="0"/>
              </a:spcBef>
              <a:spcAft>
                <a:spcPts val="100"/>
              </a:spcAft>
            </a:pPr>
            <a:r>
              <a:rPr sz="1150" b="0" i="0">
                <a:solidFill>
                  <a:srgbClr val="1F2937"/>
                </a:solidFill>
                <a:latin typeface="맑은 고딕"/>
                <a:ea typeface="맑은 고딕"/>
                <a:cs typeface="맑은 고딕"/>
              </a:rPr>
              <a:t>직업·학력·가구형태</a:t>
            </a:r>
          </a:p>
          <a:p>
            <a:pPr algn="l">
              <a:lnSpc>
                <a:spcPct val="112000"/>
              </a:lnSpc>
              <a:spcBef>
                <a:spcPts val="0"/>
              </a:spcBef>
              <a:spcAft>
                <a:spcPts val="100"/>
              </a:spcAft>
            </a:pPr>
            <a:r>
              <a:rPr sz="1150" b="0" i="0">
                <a:solidFill>
                  <a:srgbClr val="1F2937"/>
                </a:solidFill>
                <a:latin typeface="맑은 고딕"/>
                <a:ea typeface="맑은 고딕"/>
                <a:cs typeface="맑은 고딕"/>
              </a:rPr>
              <a:t>+ 성격 5요인을 입힘</a:t>
            </a:r>
          </a:p>
        </p:txBody>
      </p:sp>
      <p:sp>
        <p:nvSpPr>
          <p:cNvPr id="10" name="TextBox 9"/>
          <p:cNvSpPr txBox="1"/>
          <p:nvPr/>
        </p:nvSpPr>
        <p:spPr>
          <a:xfrm>
            <a:off x="3886200" y="2971800"/>
            <a:ext cx="457200" cy="365760"/>
          </a:xfrm>
          <a:prstGeom prst="rect">
            <a:avLst/>
          </a:prstGeom>
          <a:noFill/>
        </p:spPr>
        <p:txBody>
          <a:bodyPr wrap="square" lIns="0" rIns="0" tIns="0" bIns="0">
            <a:spAutoFit/>
          </a:bodyPr>
          <a:lstStyle/>
          <a:p>
            <a:pPr algn="ctr">
              <a:lnSpc>
                <a:spcPct val="112000"/>
              </a:lnSpc>
              <a:spcBef>
                <a:spcPts val="0"/>
              </a:spcBef>
              <a:spcAft>
                <a:spcPts val="0"/>
              </a:spcAft>
            </a:pPr>
            <a:r>
              <a:rPr sz="1800" b="1" i="0">
                <a:solidFill>
                  <a:srgbClr val="6B7280"/>
                </a:solidFill>
                <a:latin typeface="맑은 고딕"/>
                <a:ea typeface="맑은 고딕"/>
                <a:cs typeface="맑은 고딕"/>
              </a:rPr>
              <a:t>→</a:t>
            </a:r>
          </a:p>
        </p:txBody>
      </p:sp>
      <p:sp>
        <p:nvSpPr>
          <p:cNvPr id="11" name="Rounded Rectangle 10"/>
          <p:cNvSpPr/>
          <p:nvPr/>
        </p:nvSpPr>
        <p:spPr>
          <a:xfrm>
            <a:off x="4343400" y="2395728"/>
            <a:ext cx="3291840" cy="155448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2" name="TextBox 11"/>
          <p:cNvSpPr txBox="1"/>
          <p:nvPr/>
        </p:nvSpPr>
        <p:spPr>
          <a:xfrm>
            <a:off x="4453128" y="2468880"/>
            <a:ext cx="3072384" cy="1408176"/>
          </a:xfrm>
          <a:prstGeom prst="rect">
            <a:avLst/>
          </a:prstGeom>
          <a:noFill/>
        </p:spPr>
        <p:txBody>
          <a:bodyPr wrap="square" lIns="0" rIns="0" tIns="0" bIns="0">
            <a:spAutoFit/>
          </a:bodyPr>
          <a:lstStyle/>
          <a:p>
            <a:pPr algn="l">
              <a:lnSpc>
                <a:spcPct val="112000"/>
              </a:lnSpc>
              <a:spcBef>
                <a:spcPts val="0"/>
              </a:spcBef>
              <a:spcAft>
                <a:spcPts val="200"/>
              </a:spcAft>
            </a:pPr>
            <a:r>
              <a:rPr sz="1350" b="1" i="0">
                <a:solidFill>
                  <a:srgbClr val="2E9E6B"/>
                </a:solidFill>
                <a:latin typeface="맑은 고딕"/>
                <a:ea typeface="맑은 고딕"/>
                <a:cs typeface="맑은 고딕"/>
              </a:rPr>
              <a:t>② LLM 1차 — 살 붙이기</a:t>
            </a:r>
          </a:p>
          <a:p>
            <a:pPr algn="l">
              <a:lnSpc>
                <a:spcPct val="112000"/>
              </a:lnSpc>
              <a:spcBef>
                <a:spcPts val="0"/>
              </a:spcBef>
              <a:spcAft>
                <a:spcPts val="100"/>
              </a:spcAft>
            </a:pPr>
            <a:r>
              <a:rPr sz="1150" b="0" i="0">
                <a:solidFill>
                  <a:srgbClr val="1F2937"/>
                </a:solidFill>
                <a:latin typeface="맑은 고딕"/>
                <a:ea typeface="맑은 고딕"/>
                <a:cs typeface="맑은 고딕"/>
              </a:rPr>
              <a:t>문화적 배경 · 전문성</a:t>
            </a:r>
          </a:p>
          <a:p>
            <a:pPr algn="l">
              <a:lnSpc>
                <a:spcPct val="112000"/>
              </a:lnSpc>
              <a:spcBef>
                <a:spcPts val="0"/>
              </a:spcBef>
              <a:spcAft>
                <a:spcPts val="100"/>
              </a:spcAft>
            </a:pPr>
            <a:r>
              <a:rPr sz="1150" b="0" i="0">
                <a:solidFill>
                  <a:srgbClr val="1F2937"/>
                </a:solidFill>
                <a:latin typeface="맑은 고딕"/>
                <a:ea typeface="맑은 고딕"/>
                <a:cs typeface="맑은 고딕"/>
              </a:rPr>
              <a:t>인생 목표 · 취미</a:t>
            </a:r>
          </a:p>
          <a:p>
            <a:pPr algn="l">
              <a:lnSpc>
                <a:spcPct val="112000"/>
              </a:lnSpc>
              <a:spcBef>
                <a:spcPts val="0"/>
              </a:spcBef>
              <a:spcAft>
                <a:spcPts val="100"/>
              </a:spcAft>
            </a:pPr>
            <a:r>
              <a:rPr sz="1150" b="0" i="0">
                <a:solidFill>
                  <a:srgbClr val="1F2937"/>
                </a:solidFill>
                <a:latin typeface="맑은 고딕"/>
                <a:ea typeface="맑은 고딕"/>
                <a:cs typeface="맑은 고딕"/>
              </a:rPr>
              <a:t>(4가지 특성 생성)</a:t>
            </a:r>
          </a:p>
        </p:txBody>
      </p:sp>
      <p:sp>
        <p:nvSpPr>
          <p:cNvPr id="13" name="TextBox 12"/>
          <p:cNvSpPr txBox="1"/>
          <p:nvPr/>
        </p:nvSpPr>
        <p:spPr>
          <a:xfrm>
            <a:off x="7680960" y="2971800"/>
            <a:ext cx="457200" cy="365760"/>
          </a:xfrm>
          <a:prstGeom prst="rect">
            <a:avLst/>
          </a:prstGeom>
          <a:noFill/>
        </p:spPr>
        <p:txBody>
          <a:bodyPr wrap="square" lIns="0" rIns="0" tIns="0" bIns="0">
            <a:spAutoFit/>
          </a:bodyPr>
          <a:lstStyle/>
          <a:p>
            <a:pPr algn="ctr">
              <a:lnSpc>
                <a:spcPct val="112000"/>
              </a:lnSpc>
              <a:spcBef>
                <a:spcPts val="0"/>
              </a:spcBef>
              <a:spcAft>
                <a:spcPts val="0"/>
              </a:spcAft>
            </a:pPr>
            <a:r>
              <a:rPr sz="1800" b="1" i="0">
                <a:solidFill>
                  <a:srgbClr val="6B7280"/>
                </a:solidFill>
                <a:latin typeface="맑은 고딕"/>
                <a:ea typeface="맑은 고딕"/>
                <a:cs typeface="맑은 고딕"/>
              </a:rPr>
              <a:t>→</a:t>
            </a:r>
          </a:p>
        </p:txBody>
      </p:sp>
      <p:sp>
        <p:nvSpPr>
          <p:cNvPr id="14" name="Rounded Rectangle 13"/>
          <p:cNvSpPr/>
          <p:nvPr/>
        </p:nvSpPr>
        <p:spPr>
          <a:xfrm>
            <a:off x="8138160" y="2395728"/>
            <a:ext cx="3502152" cy="1554480"/>
          </a:xfrm>
          <a:prstGeom prst="roundRect">
            <a:avLst>
              <a:gd name="adj" fmla="val 8000"/>
            </a:avLst>
          </a:prstGeom>
          <a:solidFill>
            <a:srgbClr val="FDF3E4"/>
          </a:solidFill>
          <a:ln w="12700">
            <a:solidFill>
              <a:srgbClr val="E8902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5" name="TextBox 14"/>
          <p:cNvSpPr txBox="1"/>
          <p:nvPr/>
        </p:nvSpPr>
        <p:spPr>
          <a:xfrm>
            <a:off x="8247888" y="2468880"/>
            <a:ext cx="3282696" cy="1408176"/>
          </a:xfrm>
          <a:prstGeom prst="rect">
            <a:avLst/>
          </a:prstGeom>
          <a:noFill/>
        </p:spPr>
        <p:txBody>
          <a:bodyPr wrap="square" lIns="0" rIns="0" tIns="0" bIns="0">
            <a:spAutoFit/>
          </a:bodyPr>
          <a:lstStyle/>
          <a:p>
            <a:pPr algn="l">
              <a:lnSpc>
                <a:spcPct val="112000"/>
              </a:lnSpc>
              <a:spcBef>
                <a:spcPts val="0"/>
              </a:spcBef>
              <a:spcAft>
                <a:spcPts val="200"/>
              </a:spcAft>
            </a:pPr>
            <a:r>
              <a:rPr sz="1350" b="1" i="0">
                <a:solidFill>
                  <a:srgbClr val="E8902A"/>
                </a:solidFill>
                <a:latin typeface="맑은 고딕"/>
                <a:ea typeface="맑은 고딕"/>
                <a:cs typeface="맑은 고딕"/>
              </a:rPr>
              <a:t>③ LLM 2차 — 종합</a:t>
            </a:r>
          </a:p>
          <a:p>
            <a:pPr algn="l">
              <a:lnSpc>
                <a:spcPct val="112000"/>
              </a:lnSpc>
              <a:spcBef>
                <a:spcPts val="0"/>
              </a:spcBef>
              <a:spcAft>
                <a:spcPts val="100"/>
              </a:spcAft>
            </a:pPr>
            <a:r>
              <a:rPr sz="1150" b="0" i="0">
                <a:solidFill>
                  <a:srgbClr val="1F2937"/>
                </a:solidFill>
                <a:latin typeface="맑은 고딕"/>
                <a:ea typeface="맑은 고딕"/>
                <a:cs typeface="맑은 고딕"/>
              </a:rPr>
              <a:t>직업·가족·음식·여행 등</a:t>
            </a:r>
          </a:p>
          <a:p>
            <a:pPr algn="l">
              <a:lnSpc>
                <a:spcPct val="112000"/>
              </a:lnSpc>
              <a:spcBef>
                <a:spcPts val="0"/>
              </a:spcBef>
              <a:spcAft>
                <a:spcPts val="100"/>
              </a:spcAft>
            </a:pPr>
            <a:r>
              <a:rPr sz="1150" b="0" i="0">
                <a:solidFill>
                  <a:srgbClr val="1F2937"/>
                </a:solidFill>
                <a:latin typeface="맑은 고딕"/>
                <a:ea typeface="맑은 고딕"/>
                <a:cs typeface="맑은 고딕"/>
              </a:rPr>
              <a:t>영역별 인물 이야기 완성</a:t>
            </a:r>
          </a:p>
          <a:p>
            <a:pPr algn="l">
              <a:lnSpc>
                <a:spcPct val="112000"/>
              </a:lnSpc>
              <a:spcBef>
                <a:spcPts val="0"/>
              </a:spcBef>
              <a:spcAft>
                <a:spcPts val="100"/>
              </a:spcAft>
            </a:pPr>
            <a:r>
              <a:rPr sz="1150" b="0" i="0">
                <a:solidFill>
                  <a:srgbClr val="1F2937"/>
                </a:solidFill>
                <a:latin typeface="맑은 고딕"/>
                <a:ea typeface="맑은 고딕"/>
                <a:cs typeface="맑은 고딕"/>
              </a:rPr>
              <a:t>(7가지 서사)</a:t>
            </a:r>
          </a:p>
        </p:txBody>
      </p:sp>
      <p:sp>
        <p:nvSpPr>
          <p:cNvPr id="16" name="Rounded Rectangle 15"/>
          <p:cNvSpPr/>
          <p:nvPr/>
        </p:nvSpPr>
        <p:spPr>
          <a:xfrm>
            <a:off x="548640" y="4251960"/>
            <a:ext cx="11091672" cy="1554480"/>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7" name="TextBox 16"/>
          <p:cNvSpPr txBox="1"/>
          <p:nvPr/>
        </p:nvSpPr>
        <p:spPr>
          <a:xfrm>
            <a:off x="777240" y="4389120"/>
            <a:ext cx="10607040" cy="1325880"/>
          </a:xfrm>
          <a:prstGeom prst="rect">
            <a:avLst/>
          </a:prstGeom>
          <a:noFill/>
        </p:spPr>
        <p:txBody>
          <a:bodyPr wrap="square" lIns="0" rIns="0" tIns="0" bIns="0">
            <a:spAutoFit/>
          </a:bodyPr>
          <a:lstStyle/>
          <a:p>
            <a:pPr algn="l">
              <a:lnSpc>
                <a:spcPct val="112000"/>
              </a:lnSpc>
              <a:spcBef>
                <a:spcPts val="0"/>
              </a:spcBef>
              <a:spcAft>
                <a:spcPts val="600"/>
              </a:spcAft>
            </a:pPr>
            <a:r>
              <a:rPr sz="1400" b="1" i="0">
                <a:solidFill>
                  <a:srgbClr val="1F3A5F"/>
                </a:solidFill>
                <a:latin typeface="맑은 고딕"/>
                <a:ea typeface="맑은 고딕"/>
                <a:cs typeface="맑은 고딕"/>
              </a:rPr>
              <a:t>결과 — </a:t>
            </a:r>
            <a:r>
              <a:rPr sz="1400" b="1" i="0">
                <a:solidFill>
                  <a:srgbClr val="2D6CDF"/>
                </a:solidFill>
                <a:latin typeface="맑은 고딕"/>
                <a:ea typeface="맑은 고딕"/>
                <a:cs typeface="맑은 고딕"/>
              </a:rPr>
              <a:t>100만 명 × 26개 항목</a:t>
            </a:r>
            <a:r>
              <a:rPr sz="1400" b="0" i="0">
                <a:solidFill>
                  <a:srgbClr val="1F2937"/>
                </a:solidFill>
                <a:latin typeface="맑은 고딕"/>
                <a:ea typeface="맑은 고딕"/>
                <a:cs typeface="맑은 고딕"/>
              </a:rPr>
              <a:t>  (인구통계 12개 + LLM이 쓴 인물 서사 14개)</a:t>
            </a:r>
          </a:p>
          <a:p>
            <a:pPr algn="l">
              <a:lnSpc>
                <a:spcPct val="125000"/>
              </a:lnSpc>
              <a:spcBef>
                <a:spcPts val="0"/>
              </a:spcBef>
              <a:spcAft>
                <a:spcPts val="800"/>
              </a:spcAft>
            </a:pPr>
            <a:r>
              <a:rPr sz="1200" b="0" i="0">
                <a:solidFill>
                  <a:srgbClr val="6B7280"/>
                </a:solidFill>
                <a:latin typeface="맑은 고딕"/>
                <a:ea typeface="맑은 고딕"/>
                <a:cs typeface="맑은 고딕"/>
              </a:rPr>
              <a:t>위 ①②③의 특성과 인물 서사가 데이터셋 컬럼에 그대로 들어 있다 — 도식이 아니라 실제 데이터.</a:t>
            </a:r>
          </a:p>
          <a:p>
            <a:pPr algn="l">
              <a:lnSpc>
                <a:spcPct val="125000"/>
              </a:lnSpc>
              <a:spcBef>
                <a:spcPts val="0"/>
              </a:spcBef>
              <a:spcAft>
                <a:spcPts val="0"/>
              </a:spcAft>
            </a:pPr>
            <a:r>
              <a:rPr sz="1300" b="1" i="0">
                <a:solidFill>
                  <a:srgbClr val="2E9E6B"/>
                </a:solidFill>
                <a:latin typeface="맑은 고딕"/>
                <a:ea typeface="맑은 고딕"/>
                <a:cs typeface="맑은 고딕"/>
              </a:rPr>
              <a:t>→ 통계적으로 실재하고 성격으로 일관된 시민. </a:t>
            </a:r>
            <a:r>
              <a:rPr sz="1300" b="1" i="0">
                <a:solidFill>
                  <a:srgbClr val="1F2937"/>
                </a:solidFill>
                <a:latin typeface="맑은 고딕"/>
                <a:ea typeface="맑은 고딕"/>
                <a:cs typeface="맑은 고딕"/>
              </a:rPr>
              <a:t>사각지대 인물이 처음부터 표본 안에 들어 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02 시스템</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페르소나 — 손으로 만들지 않고 통계에서 뽑는다</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7</a:t>
            </a:r>
          </a:p>
        </p:txBody>
      </p:sp>
      <p:sp>
        <p:nvSpPr>
          <p:cNvPr id="6" name="TextBox 5"/>
          <p:cNvSpPr txBox="1"/>
          <p:nvPr/>
        </p:nvSpPr>
        <p:spPr>
          <a:xfrm>
            <a:off x="548640" y="1600200"/>
            <a:ext cx="5394960" cy="4206240"/>
          </a:xfrm>
          <a:prstGeom prst="rect">
            <a:avLst/>
          </a:prstGeom>
          <a:noFill/>
        </p:spPr>
        <p:txBody>
          <a:bodyPr wrap="square" lIns="0" rIns="0" tIns="0" bIns="0">
            <a:spAutoFit/>
          </a:bodyPr>
          <a:lstStyle/>
          <a:p>
            <a:pPr algn="l">
              <a:lnSpc>
                <a:spcPct val="112000"/>
              </a:lnSpc>
              <a:spcBef>
                <a:spcPts val="0"/>
              </a:spcBef>
              <a:spcAft>
                <a:spcPts val="800"/>
              </a:spcAft>
            </a:pPr>
            <a:r>
              <a:rPr sz="1600" b="1" i="0">
                <a:solidFill>
                  <a:srgbClr val="1F3A5F"/>
                </a:solidFill>
                <a:latin typeface="맑은 고딕"/>
                <a:ea typeface="맑은 고딕"/>
                <a:cs typeface="맑은 고딕"/>
              </a:rPr>
              <a:t>원칙: 그럴듯한 가짜 대신 실제 통계</a:t>
            </a:r>
          </a:p>
          <a:p>
            <a:pPr algn="l">
              <a:lnSpc>
                <a:spcPct val="118000"/>
              </a:lnSpc>
              <a:spcBef>
                <a:spcPts val="0"/>
              </a:spcBef>
              <a:spcAft>
                <a:spcPts val="700"/>
              </a:spcAft>
            </a:pPr>
            <a:r>
              <a:rPr sz="1350" b="1" i="0">
                <a:solidFill>
                  <a:srgbClr val="2D6CDF"/>
                </a:solidFill>
                <a:latin typeface="맑은 고딕"/>
                <a:ea typeface="맑은 고딕"/>
                <a:cs typeface="맑은 고딕"/>
              </a:rPr>
              <a:t>•  </a:t>
            </a:r>
            <a:r>
              <a:rPr sz="1350" b="1" i="0">
                <a:solidFill>
                  <a:srgbClr val="2D6CDF"/>
                </a:solidFill>
                <a:latin typeface="맑은 고딕"/>
                <a:ea typeface="맑은 고딕"/>
                <a:cs typeface="맑은 고딕"/>
              </a:rPr>
              <a:t>nvidia/Nemotron-Personas-Korea</a:t>
            </a:r>
            <a:r>
              <a:rPr sz="1350" b="0" i="0">
                <a:solidFill>
                  <a:srgbClr val="1F2937"/>
                </a:solidFill>
                <a:latin typeface="맑은 고딕"/>
                <a:ea typeface="맑은 고딕"/>
                <a:cs typeface="맑은 고딕"/>
              </a:rPr>
              <a:t>  — 통계청·대법원·건보공단 기반 합성 데이터셋</a:t>
            </a:r>
          </a:p>
          <a:p>
            <a:pPr algn="l">
              <a:lnSpc>
                <a:spcPct val="118000"/>
              </a:lnSpc>
              <a:spcBef>
                <a:spcPts val="0"/>
              </a:spcBef>
              <a:spcAft>
                <a:spcPts val="700"/>
              </a:spcAft>
            </a:pPr>
            <a:r>
              <a:rPr sz="1350" b="1" i="0">
                <a:solidFill>
                  <a:srgbClr val="2D6CDF"/>
                </a:solidFill>
                <a:latin typeface="맑은 고딕"/>
                <a:ea typeface="맑은 고딕"/>
                <a:cs typeface="맑은 고딕"/>
              </a:rPr>
              <a:t>•  </a:t>
            </a:r>
            <a:r>
              <a:rPr sz="1350" b="0" i="0">
                <a:solidFill>
                  <a:srgbClr val="1F2937"/>
                </a:solidFill>
                <a:latin typeface="맑은 고딕"/>
                <a:ea typeface="맑은 고딕"/>
                <a:cs typeface="맑은 고딕"/>
              </a:rPr>
              <a:t>약 100만 행 × 26컬럼, CC BY 4.0 (상업 활용 가능)</a:t>
            </a:r>
          </a:p>
          <a:p>
            <a:pPr algn="l">
              <a:lnSpc>
                <a:spcPct val="118000"/>
              </a:lnSpc>
              <a:spcBef>
                <a:spcPts val="0"/>
              </a:spcBef>
              <a:spcAft>
                <a:spcPts val="700"/>
              </a:spcAft>
            </a:pPr>
            <a:r>
              <a:rPr sz="1350" b="1" i="0">
                <a:solidFill>
                  <a:srgbClr val="2D6CDF"/>
                </a:solidFill>
                <a:latin typeface="맑은 고딕"/>
                <a:ea typeface="맑은 고딕"/>
                <a:cs typeface="맑은 고딕"/>
              </a:rPr>
              <a:t>•  </a:t>
            </a:r>
            <a:r>
              <a:rPr sz="1350" b="0" i="0">
                <a:solidFill>
                  <a:srgbClr val="1F2937"/>
                </a:solidFill>
                <a:latin typeface="맑은 고딕"/>
                <a:ea typeface="맑은 고딕"/>
                <a:cs typeface="맑은 고딕"/>
              </a:rPr>
              <a:t>첫 샤드(220MB)만 + seed 고정 샘플링 + 로컬 캐시</a:t>
            </a:r>
          </a:p>
          <a:p>
            <a:pPr algn="l">
              <a:lnSpc>
                <a:spcPct val="118000"/>
              </a:lnSpc>
              <a:spcBef>
                <a:spcPts val="0"/>
              </a:spcBef>
              <a:spcAft>
                <a:spcPts val="700"/>
              </a:spcAft>
            </a:pPr>
            <a:r>
              <a:rPr sz="1350" b="1" i="0">
                <a:solidFill>
                  <a:srgbClr val="2D6CDF"/>
                </a:solidFill>
                <a:latin typeface="맑은 고딕"/>
                <a:ea typeface="맑은 고딕"/>
                <a:cs typeface="맑은 고딕"/>
              </a:rPr>
              <a:t>•  </a:t>
            </a:r>
            <a:r>
              <a:rPr sz="1350" b="1" i="0">
                <a:solidFill>
                  <a:srgbClr val="1F2937"/>
                </a:solidFill>
                <a:latin typeface="맑은 고딕"/>
                <a:ea typeface="맑은 고딕"/>
                <a:cs typeface="맑은 고딕"/>
              </a:rPr>
              <a:t>→ 재현성 </a:t>
            </a:r>
            <a:r>
              <a:rPr sz="1350" b="0" i="0">
                <a:solidFill>
                  <a:srgbClr val="6B7280"/>
                </a:solidFill>
                <a:latin typeface="맑은 고딕"/>
                <a:ea typeface="맑은 고딕"/>
                <a:cs typeface="맑은 고딕"/>
              </a:rPr>
              <a:t>(발표마다 같은 시민, 오프라인에서도 동작)</a:t>
            </a:r>
          </a:p>
          <a:p>
            <a:pPr algn="l">
              <a:lnSpc>
                <a:spcPct val="112000"/>
              </a:lnSpc>
              <a:spcBef>
                <a:spcPts val="0"/>
              </a:spcBef>
              <a:spcAft>
                <a:spcPts val="200"/>
              </a:spcAft>
            </a:pPr>
            <a:r>
              <a:rPr sz="600" b="0" i="0">
                <a:solidFill>
                  <a:srgbClr val="1F2937"/>
                </a:solidFill>
                <a:latin typeface="맑은 고딕"/>
                <a:ea typeface="맑은 고딕"/>
                <a:cs typeface="맑은 고딕"/>
              </a:rPr>
              <a:t/>
            </a:r>
          </a:p>
          <a:p>
            <a:pPr algn="l">
              <a:lnSpc>
                <a:spcPct val="112000"/>
              </a:lnSpc>
              <a:spcBef>
                <a:spcPts val="0"/>
              </a:spcBef>
              <a:spcAft>
                <a:spcPts val="600"/>
              </a:spcAft>
            </a:pPr>
            <a:r>
              <a:rPr sz="1500" b="1" i="0">
                <a:solidFill>
                  <a:srgbClr val="1F3A5F"/>
                </a:solidFill>
                <a:latin typeface="맑은 고딕"/>
                <a:ea typeface="맑은 고딕"/>
                <a:cs typeface="맑은 고딕"/>
              </a:rPr>
              <a:t>왜 중요한가</a:t>
            </a:r>
          </a:p>
          <a:p>
            <a:pPr algn="l">
              <a:lnSpc>
                <a:spcPct val="130000"/>
              </a:lnSpc>
              <a:spcBef>
                <a:spcPts val="0"/>
              </a:spcBef>
              <a:spcAft>
                <a:spcPts val="0"/>
              </a:spcAft>
            </a:pPr>
            <a:r>
              <a:rPr sz="1300" b="0" i="0">
                <a:solidFill>
                  <a:srgbClr val="1F2937"/>
                </a:solidFill>
                <a:latin typeface="맑은 고딕"/>
                <a:ea typeface="맑은 고딕"/>
                <a:cs typeface="맑은 고딕"/>
              </a:rPr>
              <a:t>개요 초안은 “페르소나 20~30명 직접 설계”였다. 손으로 만들면 우리가 보고 싶은 반응을 심게 된다. 실제 분포에서 샘플링하면 사각지대 인물이 처음부터 표본 안에 들어 있다.</a:t>
            </a:r>
          </a:p>
        </p:txBody>
      </p:sp>
      <p:sp>
        <p:nvSpPr>
          <p:cNvPr id="7" name="Rounded Rectangle 6"/>
          <p:cNvSpPr/>
          <p:nvPr/>
        </p:nvSpPr>
        <p:spPr>
          <a:xfrm>
            <a:off x="6263640" y="1600200"/>
            <a:ext cx="5376672" cy="4206240"/>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8" name="TextBox 7"/>
          <p:cNvSpPr txBox="1"/>
          <p:nvPr/>
        </p:nvSpPr>
        <p:spPr>
          <a:xfrm>
            <a:off x="6492240" y="1783080"/>
            <a:ext cx="4919472" cy="3840480"/>
          </a:xfrm>
          <a:prstGeom prst="rect">
            <a:avLst/>
          </a:prstGeom>
          <a:noFill/>
        </p:spPr>
        <p:txBody>
          <a:bodyPr wrap="square" lIns="0" rIns="0" tIns="0" bIns="0">
            <a:spAutoFit/>
          </a:bodyPr>
          <a:lstStyle/>
          <a:p>
            <a:pPr algn="l">
              <a:lnSpc>
                <a:spcPct val="112000"/>
              </a:lnSpc>
              <a:spcBef>
                <a:spcPts val="0"/>
              </a:spcBef>
              <a:spcAft>
                <a:spcPts val="900"/>
              </a:spcAft>
            </a:pPr>
            <a:r>
              <a:rPr sz="1350" b="1" i="0">
                <a:solidFill>
                  <a:srgbClr val="1F3A5F"/>
                </a:solidFill>
                <a:latin typeface="맑은 고딕"/>
                <a:ea typeface="맑은 고딕"/>
                <a:cs typeface="맑은 고딕"/>
              </a:rPr>
              <a:t>기존 인구통계에서 규칙으로 파생한 보조 신호 (LLM 없이 · 같은 사람이면 늘 같은 값)</a:t>
            </a:r>
          </a:p>
          <a:p>
            <a:pPr algn="l">
              <a:lnSpc>
                <a:spcPct val="112000"/>
              </a:lnSpc>
              <a:spcBef>
                <a:spcPts val="0"/>
              </a:spcBef>
              <a:spcAft>
                <a:spcPts val="200"/>
              </a:spcAft>
            </a:pPr>
            <a:r>
              <a:rPr sz="1300" b="1" i="0">
                <a:solidFill>
                  <a:srgbClr val="2D6CDF"/>
                </a:solidFill>
                <a:latin typeface="맑은 고딕"/>
                <a:ea typeface="맑은 고딕"/>
                <a:cs typeface="맑은 고딕"/>
              </a:rPr>
              <a:t>digital_literacy</a:t>
            </a:r>
          </a:p>
          <a:p>
            <a:pPr algn="l">
              <a:lnSpc>
                <a:spcPct val="120000"/>
              </a:lnSpc>
              <a:spcBef>
                <a:spcPts val="0"/>
              </a:spcBef>
              <a:spcAft>
                <a:spcPts val="900"/>
              </a:spcAft>
            </a:pPr>
            <a:r>
              <a:rPr sz="1150" b="0" i="0">
                <a:solidFill>
                  <a:srgbClr val="1F2937"/>
                </a:solidFill>
                <a:latin typeface="맑은 고딕"/>
                <a:ea typeface="맑은 고딕"/>
                <a:cs typeface="맑은 고딕"/>
              </a:rPr>
              <a:t>나이·학력·직업으로 계산  →  인물 카드 입력 · 접근도 · 검증에 사용 (디지털 장벽 = 사각지대의 핵심)</a:t>
            </a:r>
          </a:p>
          <a:p>
            <a:pPr algn="l">
              <a:lnSpc>
                <a:spcPct val="112000"/>
              </a:lnSpc>
              <a:spcBef>
                <a:spcPts val="0"/>
              </a:spcBef>
              <a:spcAft>
                <a:spcPts val="200"/>
              </a:spcAft>
            </a:pPr>
            <a:r>
              <a:rPr sz="1300" b="1" i="0">
                <a:solidFill>
                  <a:srgbClr val="2D6CDF"/>
                </a:solidFill>
                <a:latin typeface="맑은 고딕"/>
                <a:ea typeface="맑은 고딕"/>
                <a:cs typeface="맑은 고딕"/>
              </a:rPr>
              <a:t>income_level</a:t>
            </a:r>
          </a:p>
          <a:p>
            <a:pPr algn="l">
              <a:lnSpc>
                <a:spcPct val="120000"/>
              </a:lnSpc>
              <a:spcBef>
                <a:spcPts val="0"/>
              </a:spcBef>
              <a:spcAft>
                <a:spcPts val="900"/>
              </a:spcAft>
            </a:pPr>
            <a:r>
              <a:rPr sz="1150" b="0" i="0">
                <a:solidFill>
                  <a:srgbClr val="1F2937"/>
                </a:solidFill>
                <a:latin typeface="맑은 고딕"/>
                <a:ea typeface="맑은 고딕"/>
                <a:cs typeface="맑은 고딕"/>
              </a:rPr>
              <a:t>직업·학력 키워드로 분류  →  정책 대상 판정(누가 수혜 대상인가)에 사용</a:t>
            </a:r>
          </a:p>
          <a:p>
            <a:pPr algn="l">
              <a:lnSpc>
                <a:spcPct val="120000"/>
              </a:lnSpc>
              <a:spcBef>
                <a:spcPts val="0"/>
              </a:spcBef>
              <a:spcAft>
                <a:spcPts val="900"/>
              </a:spcAft>
            </a:pPr>
            <a:r>
              <a:rPr sz="1150" b="1" i="0">
                <a:solidFill>
                  <a:srgbClr val="6B7280"/>
                </a:solidFill>
                <a:latin typeface="맑은 고딕"/>
                <a:ea typeface="맑은 고딕"/>
                <a:cs typeface="맑은 고딕"/>
              </a:rPr>
              <a:t>그 외 보조 2종 — </a:t>
            </a:r>
            <a:r>
              <a:rPr sz="1150" b="0" i="0">
                <a:solidFill>
                  <a:srgbClr val="6B7280"/>
                </a:solidFill>
                <a:latin typeface="맑은 고딕"/>
                <a:ea typeface="맑은 고딕"/>
                <a:cs typeface="맑은 고딕"/>
              </a:rPr>
              <a:t>government_trust(접근도 가중 0.25) · social_network(전파용). 발표 라인엔 거의 미사용.</a:t>
            </a:r>
          </a:p>
          <a:p>
            <a:pPr algn="l">
              <a:lnSpc>
                <a:spcPct val="120000"/>
              </a:lnSpc>
              <a:spcBef>
                <a:spcPts val="0"/>
              </a:spcBef>
              <a:spcAft>
                <a:spcPts val="0"/>
              </a:spcAft>
            </a:pPr>
            <a:r>
              <a:rPr sz="1150" b="1" i="0">
                <a:solidFill>
                  <a:srgbClr val="2E9E6B"/>
                </a:solidFill>
                <a:latin typeface="맑은 고딕"/>
                <a:ea typeface="맑은 고딕"/>
                <a:cs typeface="맑은 고딕"/>
              </a:rPr>
              <a:t>검증 ① 통과 — </a:t>
            </a:r>
            <a:r>
              <a:rPr sz="1150" b="0" i="0">
                <a:solidFill>
                  <a:srgbClr val="1F2937"/>
                </a:solidFill>
                <a:latin typeface="맑은 고딕"/>
                <a:ea typeface="맑은 고딕"/>
                <a:cs typeface="맑은 고딕"/>
              </a:rPr>
              <a:t>표본 24명, 나이·성별·지역·학력 등 7개 변수 전부 무작위 추출 기대범위 안 (부트스트랩 1만회)</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02 시스템</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축1 · 정보 — 시민 반응</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8</a:t>
            </a:r>
          </a:p>
        </p:txBody>
      </p:sp>
      <p:sp>
        <p:nvSpPr>
          <p:cNvPr id="6" name="TextBox 5"/>
          <p:cNvSpPr txBox="1"/>
          <p:nvPr/>
        </p:nvSpPr>
        <p:spPr>
          <a:xfrm>
            <a:off x="548640" y="1600200"/>
            <a:ext cx="5303520" cy="548640"/>
          </a:xfrm>
          <a:prstGeom prst="rect">
            <a:avLst/>
          </a:prstGeom>
          <a:noFill/>
        </p:spPr>
        <p:txBody>
          <a:bodyPr wrap="square" lIns="0" rIns="0" tIns="0" bIns="0">
            <a:spAutoFit/>
          </a:bodyPr>
          <a:lstStyle/>
          <a:p>
            <a:pPr algn="l">
              <a:lnSpc>
                <a:spcPct val="112000"/>
              </a:lnSpc>
              <a:spcBef>
                <a:spcPts val="0"/>
              </a:spcBef>
              <a:spcAft>
                <a:spcPts val="0"/>
              </a:spcAft>
            </a:pPr>
            <a:r>
              <a:rPr sz="1500" b="1" i="0">
                <a:solidFill>
                  <a:srgbClr val="1F3A5F"/>
                </a:solidFill>
                <a:latin typeface="맑은 고딕"/>
                <a:ea typeface="맑은 고딕"/>
                <a:cs typeface="맑은 고딕"/>
              </a:rPr>
              <a:t>시민 각자가 정책을 보고 즉시 반응한다 (t0)</a:t>
            </a:r>
          </a:p>
        </p:txBody>
      </p:sp>
      <p:sp>
        <p:nvSpPr>
          <p:cNvPr id="7" name="Rounded Rectangle 6"/>
          <p:cNvSpPr/>
          <p:nvPr/>
        </p:nvSpPr>
        <p:spPr>
          <a:xfrm>
            <a:off x="548640" y="2286000"/>
            <a:ext cx="5303520" cy="141732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8" name="TextBox 7"/>
          <p:cNvSpPr txBox="1"/>
          <p:nvPr/>
        </p:nvSpPr>
        <p:spPr>
          <a:xfrm>
            <a:off x="658368" y="2359152"/>
            <a:ext cx="5084064" cy="1271016"/>
          </a:xfrm>
          <a:prstGeom prst="rect">
            <a:avLst/>
          </a:prstGeom>
          <a:noFill/>
        </p:spPr>
        <p:txBody>
          <a:bodyPr wrap="square" lIns="0" rIns="0" tIns="0" bIns="0">
            <a:spAutoFit/>
          </a:bodyPr>
          <a:lstStyle/>
          <a:p>
            <a:pPr algn="l">
              <a:lnSpc>
                <a:spcPct val="112000"/>
              </a:lnSpc>
              <a:spcBef>
                <a:spcPts val="0"/>
              </a:spcBef>
              <a:spcAft>
                <a:spcPts val="200"/>
              </a:spcAft>
            </a:pPr>
            <a:r>
              <a:rPr sz="1400" b="1" i="0">
                <a:solidFill>
                  <a:srgbClr val="2E9E6B"/>
                </a:solidFill>
                <a:latin typeface="맑은 고딕"/>
                <a:ea typeface="맑은 고딕"/>
                <a:cs typeface="맑은 고딕"/>
              </a:rPr>
              <a:t>react — 1차 반응</a:t>
            </a:r>
          </a:p>
          <a:p>
            <a:pPr algn="l">
              <a:lnSpc>
                <a:spcPct val="112000"/>
              </a:lnSpc>
              <a:spcBef>
                <a:spcPts val="0"/>
              </a:spcBef>
              <a:spcAft>
                <a:spcPts val="100"/>
              </a:spcAft>
            </a:pPr>
            <a:r>
              <a:rPr sz="1200" b="0" i="0">
                <a:solidFill>
                  <a:srgbClr val="1F2937"/>
                </a:solidFill>
                <a:latin typeface="맑은 고딕"/>
                <a:ea typeface="맑은 고딕"/>
                <a:cs typeface="맑은 고딕"/>
              </a:rPr>
              <a:t>· 반응문 + 입장 (찬성 · 반대 · 혼합)</a:t>
            </a:r>
          </a:p>
          <a:p>
            <a:pPr algn="l">
              <a:lnSpc>
                <a:spcPct val="112000"/>
              </a:lnSpc>
              <a:spcBef>
                <a:spcPts val="0"/>
              </a:spcBef>
              <a:spcAft>
                <a:spcPts val="100"/>
              </a:spcAft>
            </a:pPr>
            <a:r>
              <a:rPr sz="1200" b="0" i="0">
                <a:solidFill>
                  <a:srgbClr val="1F2937"/>
                </a:solidFill>
                <a:latin typeface="맑은 고딕"/>
                <a:ea typeface="맑은 고딕"/>
                <a:cs typeface="맑은 고딕"/>
              </a:rPr>
              <a:t>· 익명 설문 응답</a:t>
            </a:r>
          </a:p>
          <a:p>
            <a:pPr algn="l">
              <a:lnSpc>
                <a:spcPct val="112000"/>
              </a:lnSpc>
              <a:spcBef>
                <a:spcPts val="0"/>
              </a:spcBef>
              <a:spcAft>
                <a:spcPts val="100"/>
              </a:spcAft>
            </a:pPr>
            <a:r>
              <a:rPr sz="1200" b="0" i="0">
                <a:solidFill>
                  <a:srgbClr val="1F2937"/>
                </a:solidFill>
                <a:latin typeface="맑은 고딕"/>
                <a:ea typeface="맑은 고딕"/>
                <a:cs typeface="맑은 고딕"/>
              </a:rPr>
              <a:t>· LLM은 선택지만 고르고, 0~100 점수 변환은 코드</a:t>
            </a:r>
          </a:p>
        </p:txBody>
      </p:sp>
      <p:sp>
        <p:nvSpPr>
          <p:cNvPr id="9" name="Rounded Rectangle 8"/>
          <p:cNvSpPr/>
          <p:nvPr/>
        </p:nvSpPr>
        <p:spPr>
          <a:xfrm>
            <a:off x="548640" y="3950208"/>
            <a:ext cx="5303520" cy="960120"/>
          </a:xfrm>
          <a:prstGeom prst="roundRect">
            <a:avLst>
              <a:gd name="adj" fmla="val 8000"/>
            </a:avLst>
          </a:prstGeom>
          <a:solidFill>
            <a:srgbClr val="F1F3F7"/>
          </a:solidFill>
          <a:ln w="9525">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0" name="TextBox 9"/>
          <p:cNvSpPr txBox="1"/>
          <p:nvPr/>
        </p:nvSpPr>
        <p:spPr>
          <a:xfrm>
            <a:off x="749808" y="4050791"/>
            <a:ext cx="4901183" cy="777240"/>
          </a:xfrm>
          <a:prstGeom prst="rect">
            <a:avLst/>
          </a:prstGeom>
          <a:noFill/>
        </p:spPr>
        <p:txBody>
          <a:bodyPr wrap="square" lIns="0" rIns="0" tIns="0" bIns="0">
            <a:spAutoFit/>
          </a:bodyPr>
          <a:lstStyle/>
          <a:p>
            <a:pPr algn="l">
              <a:lnSpc>
                <a:spcPct val="112000"/>
              </a:lnSpc>
              <a:spcBef>
                <a:spcPts val="0"/>
              </a:spcBef>
              <a:spcAft>
                <a:spcPts val="200"/>
              </a:spcAft>
            </a:pPr>
            <a:r>
              <a:rPr sz="1250" b="1" i="0">
                <a:solidFill>
                  <a:srgbClr val="6B7280"/>
                </a:solidFill>
                <a:latin typeface="맑은 고딕"/>
                <a:ea typeface="맑은 고딕"/>
                <a:cs typeface="맑은 고딕"/>
              </a:rPr>
              <a:t>interact — 다른 시민을 보고 입장 변화</a:t>
            </a:r>
          </a:p>
          <a:p>
            <a:pPr algn="l">
              <a:lnSpc>
                <a:spcPct val="112000"/>
              </a:lnSpc>
              <a:spcBef>
                <a:spcPts val="0"/>
              </a:spcBef>
              <a:spcAft>
                <a:spcPts val="0"/>
              </a:spcAft>
            </a:pPr>
            <a:r>
              <a:rPr sz="1150" b="0" i="0">
                <a:solidFill>
                  <a:srgbClr val="6B7280"/>
                </a:solidFill>
                <a:latin typeface="맑은 고딕"/>
                <a:ea typeface="맑은 고딕"/>
                <a:cs typeface="맑은 고딕"/>
              </a:rPr>
              <a:t>SNS 채팅 탭 데모 전용 · 집계엔 미반영 (메인 라인에서 덜어냄)</a:t>
            </a:r>
          </a:p>
        </p:txBody>
      </p:sp>
      <p:sp>
        <p:nvSpPr>
          <p:cNvPr id="11" name="TextBox 10"/>
          <p:cNvSpPr txBox="1"/>
          <p:nvPr/>
        </p:nvSpPr>
        <p:spPr>
          <a:xfrm>
            <a:off x="548640" y="5166360"/>
            <a:ext cx="5303520" cy="457200"/>
          </a:xfrm>
          <a:prstGeom prst="rect">
            <a:avLst/>
          </a:prstGeom>
          <a:noFill/>
        </p:spPr>
        <p:txBody>
          <a:bodyPr wrap="square" lIns="0" rIns="0" tIns="0" bIns="0">
            <a:spAutoFit/>
          </a:bodyPr>
          <a:lstStyle/>
          <a:p>
            <a:pPr algn="l">
              <a:lnSpc>
                <a:spcPct val="112000"/>
              </a:lnSpc>
              <a:spcBef>
                <a:spcPts val="0"/>
              </a:spcBef>
              <a:spcAft>
                <a:spcPts val="0"/>
              </a:spcAft>
            </a:pPr>
            <a:r>
              <a:rPr sz="1250" b="1" i="0">
                <a:solidFill>
                  <a:srgbClr val="2E9E6B"/>
                </a:solidFill>
                <a:latin typeface="맑은 고딕"/>
                <a:ea typeface="맑은 고딕"/>
                <a:cs typeface="맑은 고딕"/>
              </a:rPr>
              <a:t>→ 집단의 첫 온도. 게이지·리포트 집계는 축3에서.</a:t>
            </a:r>
          </a:p>
        </p:txBody>
      </p:sp>
      <p:sp>
        <p:nvSpPr>
          <p:cNvPr id="12" name="TextBox 11"/>
          <p:cNvSpPr txBox="1"/>
          <p:nvPr/>
        </p:nvSpPr>
        <p:spPr>
          <a:xfrm>
            <a:off x="548640" y="5870448"/>
            <a:ext cx="5303520" cy="411480"/>
          </a:xfrm>
          <a:prstGeom prst="rect">
            <a:avLst/>
          </a:prstGeom>
          <a:noFill/>
        </p:spPr>
        <p:txBody>
          <a:bodyPr wrap="square" lIns="0" rIns="0" tIns="0" bIns="0">
            <a:spAutoFit/>
          </a:bodyPr>
          <a:lstStyle/>
          <a:p>
            <a:pPr algn="l">
              <a:lnSpc>
                <a:spcPct val="112000"/>
              </a:lnSpc>
              <a:spcBef>
                <a:spcPts val="0"/>
              </a:spcBef>
              <a:spcAft>
                <a:spcPts val="0"/>
              </a:spcAft>
            </a:pPr>
            <a:r>
              <a:rPr sz="1050" b="0" i="0">
                <a:solidFill>
                  <a:srgbClr val="6B7280"/>
                </a:solidFill>
                <a:latin typeface="맑은 고딕"/>
                <a:ea typeface="맑은 고딕"/>
                <a:cs typeface="맑은 고딕"/>
              </a:rPr>
              <a:t>캐시 — 다중 시민 호출이 공통 프롬프트(prefix)를 공유 (cached_tokens 실측)</a:t>
            </a:r>
          </a:p>
        </p:txBody>
      </p:sp>
      <p:sp>
        <p:nvSpPr>
          <p:cNvPr id="13" name="Rounded Rectangle 12"/>
          <p:cNvSpPr/>
          <p:nvPr/>
        </p:nvSpPr>
        <p:spPr>
          <a:xfrm>
            <a:off x="6126480" y="1600200"/>
            <a:ext cx="5513832" cy="4617720"/>
          </a:xfrm>
          <a:prstGeom prst="roundRect">
            <a:avLst>
              <a:gd name="adj" fmla="val 4000"/>
            </a:avLst>
          </a:prstGeom>
          <a:solidFill>
            <a:srgbClr val="F1F3F7"/>
          </a:solidFill>
          <a:ln w="1524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200"/>
              </a:spcAft>
            </a:pPr>
            <a:r>
              <a:rPr sz="1400" b="1" i="0">
                <a:solidFill>
                  <a:srgbClr val="6B7280"/>
                </a:solidFill>
                <a:latin typeface="맑은 고딕"/>
                <a:ea typeface="맑은 고딕"/>
                <a:cs typeface="맑은 고딕"/>
              </a:rPr>
              <a:t>📸 ‘시민 반응’ 탭 캡처</a:t>
            </a:r>
          </a:p>
          <a:p>
            <a:pPr algn="ctr">
              <a:lnSpc>
                <a:spcPct val="112000"/>
              </a:lnSpc>
              <a:spcBef>
                <a:spcPts val="0"/>
              </a:spcBef>
              <a:spcAft>
                <a:spcPts val="0"/>
              </a:spcAft>
            </a:pPr>
            <a:r>
              <a:rPr sz="1000" b="0" i="0">
                <a:solidFill>
                  <a:srgbClr val="9AA5B1"/>
                </a:solidFill>
                <a:latin typeface="맑은 고딕"/>
                <a:ea typeface="맑은 고딕"/>
                <a:cs typeface="맑은 고딕"/>
              </a:rPr>
              <a:t>데모에서 실제 반응이 채워지는 화면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E890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02 시스템</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축2 · 결과 — 정책 인생극장</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9</a:t>
            </a:r>
          </a:p>
        </p:txBody>
      </p:sp>
      <p:sp>
        <p:nvSpPr>
          <p:cNvPr id="6" name="Rounded Rectangle 5"/>
          <p:cNvSpPr/>
          <p:nvPr/>
        </p:nvSpPr>
        <p:spPr>
          <a:xfrm>
            <a:off x="548640" y="1645920"/>
            <a:ext cx="5120640" cy="786384"/>
          </a:xfrm>
          <a:prstGeom prst="roundRect">
            <a:avLst>
              <a:gd name="adj" fmla="val 8000"/>
            </a:avLst>
          </a:prstGeom>
          <a:solidFill>
            <a:srgbClr val="FDF3E4"/>
          </a:solidFill>
          <a:ln w="12700">
            <a:solidFill>
              <a:srgbClr val="E8902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7" name="TextBox 6"/>
          <p:cNvSpPr txBox="1"/>
          <p:nvPr/>
        </p:nvSpPr>
        <p:spPr>
          <a:xfrm>
            <a:off x="658368" y="1719072"/>
            <a:ext cx="4901183" cy="640080"/>
          </a:xfrm>
          <a:prstGeom prst="rect">
            <a:avLst/>
          </a:prstGeom>
          <a:noFill/>
        </p:spPr>
        <p:txBody>
          <a:bodyPr wrap="square" lIns="0" rIns="0" tIns="0" bIns="0">
            <a:spAutoFit/>
          </a:bodyPr>
          <a:lstStyle/>
          <a:p>
            <a:pPr algn="l">
              <a:lnSpc>
                <a:spcPct val="112000"/>
              </a:lnSpc>
              <a:spcBef>
                <a:spcPts val="0"/>
              </a:spcBef>
              <a:spcAft>
                <a:spcPts val="200"/>
              </a:spcAft>
            </a:pPr>
            <a:r>
              <a:rPr sz="1250" b="1" i="0">
                <a:solidFill>
                  <a:srgbClr val="E8902A"/>
                </a:solidFill>
                <a:latin typeface="맑은 고딕"/>
                <a:ea typeface="맑은 고딕"/>
                <a:cs typeface="맑은 고딕"/>
              </a:rPr>
              <a:t>① 전원 시간경과 시뮬 (1 · 3 · 6개월)</a:t>
            </a:r>
          </a:p>
          <a:p>
            <a:pPr algn="l">
              <a:lnSpc>
                <a:spcPct val="112000"/>
              </a:lnSpc>
              <a:spcBef>
                <a:spcPts val="0"/>
              </a:spcBef>
              <a:spcAft>
                <a:spcPts val="100"/>
              </a:spcAft>
            </a:pPr>
            <a:r>
              <a:rPr sz="1050" b="0" i="0">
                <a:solidFill>
                  <a:srgbClr val="1F2937"/>
                </a:solidFill>
                <a:latin typeface="맑은 고딕"/>
                <a:ea typeface="맑은 고딕"/>
                <a:cs typeface="맑은 고딕"/>
              </a:rPr>
              <a:t>시점마다: 장소 + 경로 + 행동 서사 + 상태 + 막힌 지점</a:t>
            </a:r>
          </a:p>
        </p:txBody>
      </p:sp>
      <p:sp>
        <p:nvSpPr>
          <p:cNvPr id="8" name="TextBox 7"/>
          <p:cNvSpPr txBox="1"/>
          <p:nvPr/>
        </p:nvSpPr>
        <p:spPr>
          <a:xfrm>
            <a:off x="2560320" y="2450592"/>
            <a:ext cx="1097280" cy="365760"/>
          </a:xfrm>
          <a:prstGeom prst="rect">
            <a:avLst/>
          </a:prstGeom>
          <a:noFill/>
        </p:spPr>
        <p:txBody>
          <a:bodyPr wrap="square" lIns="0" rIns="0" tIns="0" bIns="0">
            <a:spAutoFit/>
          </a:bodyPr>
          <a:lstStyle/>
          <a:p>
            <a:pPr algn="ctr">
              <a:lnSpc>
                <a:spcPct val="112000"/>
              </a:lnSpc>
              <a:spcBef>
                <a:spcPts val="0"/>
              </a:spcBef>
              <a:spcAft>
                <a:spcPts val="0"/>
              </a:spcAft>
            </a:pPr>
            <a:r>
              <a:rPr sz="1400" b="1" i="0">
                <a:solidFill>
                  <a:srgbClr val="6B7280"/>
                </a:solidFill>
                <a:latin typeface="맑은 고딕"/>
                <a:ea typeface="맑은 고딕"/>
                <a:cs typeface="맑은 고딕"/>
              </a:rPr>
              <a:t>↓</a:t>
            </a:r>
          </a:p>
        </p:txBody>
      </p:sp>
      <p:sp>
        <p:nvSpPr>
          <p:cNvPr id="9" name="Rounded Rectangle 8"/>
          <p:cNvSpPr/>
          <p:nvPr/>
        </p:nvSpPr>
        <p:spPr>
          <a:xfrm>
            <a:off x="548640" y="2761488"/>
            <a:ext cx="5120640" cy="786384"/>
          </a:xfrm>
          <a:prstGeom prst="roundRect">
            <a:avLst>
              <a:gd name="adj" fmla="val 8000"/>
            </a:avLst>
          </a:prstGeom>
          <a:solidFill>
            <a:srgbClr val="FDF3E4"/>
          </a:solidFill>
          <a:ln w="12700">
            <a:solidFill>
              <a:srgbClr val="E8902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0" name="TextBox 9"/>
          <p:cNvSpPr txBox="1"/>
          <p:nvPr/>
        </p:nvSpPr>
        <p:spPr>
          <a:xfrm>
            <a:off x="658368" y="2834640"/>
            <a:ext cx="4901183" cy="640080"/>
          </a:xfrm>
          <a:prstGeom prst="rect">
            <a:avLst/>
          </a:prstGeom>
          <a:noFill/>
        </p:spPr>
        <p:txBody>
          <a:bodyPr wrap="square" lIns="0" rIns="0" tIns="0" bIns="0">
            <a:spAutoFit/>
          </a:bodyPr>
          <a:lstStyle/>
          <a:p>
            <a:pPr algn="l">
              <a:lnSpc>
                <a:spcPct val="112000"/>
              </a:lnSpc>
              <a:spcBef>
                <a:spcPts val="0"/>
              </a:spcBef>
              <a:spcAft>
                <a:spcPts val="200"/>
              </a:spcAft>
            </a:pPr>
            <a:r>
              <a:rPr sz="1250" b="1" i="0">
                <a:solidFill>
                  <a:srgbClr val="E8902A"/>
                </a:solidFill>
                <a:latin typeface="맑은 고딕"/>
                <a:ea typeface="맑은 고딕"/>
                <a:cs typeface="맑은 고딕"/>
              </a:rPr>
              <a:t>② 실제 결과에서 대조 3명 선별</a:t>
            </a:r>
          </a:p>
          <a:p>
            <a:pPr algn="l">
              <a:lnSpc>
                <a:spcPct val="112000"/>
              </a:lnSpc>
              <a:spcBef>
                <a:spcPts val="0"/>
              </a:spcBef>
              <a:spcAft>
                <a:spcPts val="100"/>
              </a:spcAft>
            </a:pPr>
            <a:r>
              <a:rPr sz="1050" b="0" i="0">
                <a:solidFill>
                  <a:srgbClr val="1F2937"/>
                </a:solidFill>
                <a:latin typeface="맑은 고딕"/>
                <a:ea typeface="맑은 고딕"/>
                <a:cs typeface="맑은 고딕"/>
              </a:rPr>
              <a:t>받음 → 수혜 / 진행 중 → 경계 / 막힘·못 닿음 → 사각</a:t>
            </a:r>
          </a:p>
        </p:txBody>
      </p:sp>
      <p:sp>
        <p:nvSpPr>
          <p:cNvPr id="11" name="TextBox 10"/>
          <p:cNvSpPr txBox="1"/>
          <p:nvPr/>
        </p:nvSpPr>
        <p:spPr>
          <a:xfrm>
            <a:off x="2560320" y="3566160"/>
            <a:ext cx="1097280" cy="365760"/>
          </a:xfrm>
          <a:prstGeom prst="rect">
            <a:avLst/>
          </a:prstGeom>
          <a:noFill/>
        </p:spPr>
        <p:txBody>
          <a:bodyPr wrap="square" lIns="0" rIns="0" tIns="0" bIns="0">
            <a:spAutoFit/>
          </a:bodyPr>
          <a:lstStyle/>
          <a:p>
            <a:pPr algn="ctr">
              <a:lnSpc>
                <a:spcPct val="112000"/>
              </a:lnSpc>
              <a:spcBef>
                <a:spcPts val="0"/>
              </a:spcBef>
              <a:spcAft>
                <a:spcPts val="0"/>
              </a:spcAft>
            </a:pPr>
            <a:r>
              <a:rPr sz="1400" b="1" i="0">
                <a:solidFill>
                  <a:srgbClr val="6B7280"/>
                </a:solidFill>
                <a:latin typeface="맑은 고딕"/>
                <a:ea typeface="맑은 고딕"/>
                <a:cs typeface="맑은 고딕"/>
              </a:rPr>
              <a:t>↓</a:t>
            </a:r>
          </a:p>
        </p:txBody>
      </p:sp>
      <p:sp>
        <p:nvSpPr>
          <p:cNvPr id="12" name="Rounded Rectangle 11"/>
          <p:cNvSpPr/>
          <p:nvPr/>
        </p:nvSpPr>
        <p:spPr>
          <a:xfrm>
            <a:off x="548640" y="3877056"/>
            <a:ext cx="5120640" cy="868680"/>
          </a:xfrm>
          <a:prstGeom prst="roundRect">
            <a:avLst>
              <a:gd name="adj" fmla="val 8000"/>
            </a:avLst>
          </a:prstGeom>
          <a:solidFill>
            <a:srgbClr val="FDF3E4"/>
          </a:solidFill>
          <a:ln w="12700">
            <a:solidFill>
              <a:srgbClr val="E8902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658368" y="3950208"/>
            <a:ext cx="4901183" cy="722375"/>
          </a:xfrm>
          <a:prstGeom prst="rect">
            <a:avLst/>
          </a:prstGeom>
          <a:noFill/>
        </p:spPr>
        <p:txBody>
          <a:bodyPr wrap="square" lIns="0" rIns="0" tIns="0" bIns="0">
            <a:spAutoFit/>
          </a:bodyPr>
          <a:lstStyle/>
          <a:p>
            <a:pPr algn="l">
              <a:lnSpc>
                <a:spcPct val="112000"/>
              </a:lnSpc>
              <a:spcBef>
                <a:spcPts val="0"/>
              </a:spcBef>
              <a:spcAft>
                <a:spcPts val="200"/>
              </a:spcAft>
            </a:pPr>
            <a:r>
              <a:rPr sz="1250" b="1" i="0">
                <a:solidFill>
                  <a:srgbClr val="E8902A"/>
                </a:solidFill>
                <a:latin typeface="맑은 고딕"/>
                <a:ea typeface="맑은 고딕"/>
                <a:cs typeface="맑은 고딕"/>
              </a:rPr>
              <a:t>③ 접근 여정 카드</a:t>
            </a:r>
          </a:p>
          <a:p>
            <a:pPr algn="l">
              <a:lnSpc>
                <a:spcPct val="112000"/>
              </a:lnSpc>
              <a:spcBef>
                <a:spcPts val="0"/>
              </a:spcBef>
              <a:spcAft>
                <a:spcPts val="100"/>
              </a:spcAft>
            </a:pPr>
            <a:r>
              <a:rPr sz="1050" b="0" i="0">
                <a:solidFill>
                  <a:srgbClr val="1F2937"/>
                </a:solidFill>
                <a:latin typeface="맑은 고딕"/>
                <a:ea typeface="맑은 고딕"/>
                <a:cs typeface="맑은 고딕"/>
              </a:rPr>
              <a:t>🧭 알게됨 → 신청 → ⛔막힘  (경로·막힌 지점·삶의 변화)</a:t>
            </a:r>
          </a:p>
        </p:txBody>
      </p:sp>
      <p:sp>
        <p:nvSpPr>
          <p:cNvPr id="14" name="TextBox 13"/>
          <p:cNvSpPr txBox="1"/>
          <p:nvPr/>
        </p:nvSpPr>
        <p:spPr>
          <a:xfrm>
            <a:off x="548640" y="4956048"/>
            <a:ext cx="5120640" cy="1280160"/>
          </a:xfrm>
          <a:prstGeom prst="rect">
            <a:avLst/>
          </a:prstGeom>
          <a:noFill/>
        </p:spPr>
        <p:txBody>
          <a:bodyPr wrap="square" lIns="0" rIns="0" tIns="0" bIns="0">
            <a:spAutoFit/>
          </a:bodyPr>
          <a:lstStyle/>
          <a:p>
            <a:pPr algn="l">
              <a:lnSpc>
                <a:spcPct val="112000"/>
              </a:lnSpc>
              <a:spcBef>
                <a:spcPts val="0"/>
              </a:spcBef>
              <a:spcAft>
                <a:spcPts val="400"/>
              </a:spcAft>
            </a:pPr>
            <a:r>
              <a:rPr sz="1300" b="1" i="0">
                <a:solidFill>
                  <a:srgbClr val="1F3A5F"/>
                </a:solidFill>
                <a:latin typeface="맑은 고딕"/>
                <a:ea typeface="맑은 고딕"/>
                <a:cs typeface="맑은 고딕"/>
              </a:rPr>
              <a:t>채널 5곳이 사각지대의 표현 장치  </a:t>
            </a:r>
          </a:p>
          <a:p>
            <a:pPr algn="l">
              <a:lnSpc>
                <a:spcPct val="112000"/>
              </a:lnSpc>
              <a:spcBef>
                <a:spcPts val="0"/>
              </a:spcBef>
              <a:spcAft>
                <a:spcPts val="300"/>
              </a:spcAft>
            </a:pPr>
            <a:r>
              <a:rPr sz="1200" b="0" i="0">
                <a:solidFill>
                  <a:srgbClr val="1F2937"/>
                </a:solidFill>
                <a:latin typeface="맑은 고딕"/>
                <a:ea typeface="맑은 고딕"/>
                <a:cs typeface="맑은 고딕"/>
              </a:rPr>
              <a:t>복지로(온라인) · 주민센터 · 복지관 · 직장/시장 · 집</a:t>
            </a:r>
          </a:p>
          <a:p>
            <a:pPr algn="l">
              <a:lnSpc>
                <a:spcPct val="112000"/>
              </a:lnSpc>
              <a:spcBef>
                <a:spcPts val="0"/>
              </a:spcBef>
              <a:spcAft>
                <a:spcPts val="0"/>
              </a:spcAft>
            </a:pPr>
            <a:r>
              <a:rPr sz="1200" b="1" i="0">
                <a:solidFill>
                  <a:srgbClr val="D9534F"/>
                </a:solidFill>
                <a:latin typeface="맑은 고딕"/>
                <a:ea typeface="맑은 고딕"/>
                <a:cs typeface="맑은 고딕"/>
              </a:rPr>
              <a:t>청년은 복지로에서 5분, 고령은 어느 채널에도 닿지 못한다.</a:t>
            </a:r>
          </a:p>
        </p:txBody>
      </p:sp>
      <p:sp>
        <p:nvSpPr>
          <p:cNvPr id="15" name="TextBox 14"/>
          <p:cNvSpPr txBox="1"/>
          <p:nvPr/>
        </p:nvSpPr>
        <p:spPr>
          <a:xfrm>
            <a:off x="548640" y="5943600"/>
            <a:ext cx="5120640" cy="411480"/>
          </a:xfrm>
          <a:prstGeom prst="rect">
            <a:avLst/>
          </a:prstGeom>
          <a:noFill/>
        </p:spPr>
        <p:txBody>
          <a:bodyPr wrap="square" lIns="0" rIns="0" tIns="0" bIns="0">
            <a:spAutoFit/>
          </a:bodyPr>
          <a:lstStyle/>
          <a:p>
            <a:pPr algn="l">
              <a:lnSpc>
                <a:spcPct val="112000"/>
              </a:lnSpc>
              <a:spcBef>
                <a:spcPts val="0"/>
              </a:spcBef>
              <a:spcAft>
                <a:spcPts val="0"/>
              </a:spcAft>
            </a:pPr>
            <a:r>
              <a:rPr sz="1050" b="0" i="0">
                <a:solidFill>
                  <a:srgbClr val="6B7280"/>
                </a:solidFill>
                <a:latin typeface="맑은 고딕"/>
                <a:ea typeface="맑은 고딕"/>
                <a:cs typeface="맑은 고딕"/>
              </a:rPr>
              <a:t>캐시 — 페르소나·시뮬 결과를 재사용 (재호출·재계산 최소화)</a:t>
            </a:r>
          </a:p>
        </p:txBody>
      </p:sp>
      <p:sp>
        <p:nvSpPr>
          <p:cNvPr id="16" name="Rounded Rectangle 15"/>
          <p:cNvSpPr/>
          <p:nvPr/>
        </p:nvSpPr>
        <p:spPr>
          <a:xfrm>
            <a:off x="5943600" y="1645920"/>
            <a:ext cx="5696712" cy="4572000"/>
          </a:xfrm>
          <a:prstGeom prst="roundRect">
            <a:avLst>
              <a:gd name="adj" fmla="val 4000"/>
            </a:avLst>
          </a:prstGeom>
          <a:solidFill>
            <a:srgbClr val="F1F3F7"/>
          </a:solidFill>
          <a:ln w="1524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200"/>
              </a:spcAft>
            </a:pPr>
            <a:r>
              <a:rPr sz="1400" b="1" i="0">
                <a:solidFill>
                  <a:srgbClr val="6B7280"/>
                </a:solidFill>
                <a:latin typeface="맑은 고딕"/>
                <a:ea typeface="맑은 고딕"/>
                <a:cs typeface="맑은 고딕"/>
              </a:rPr>
              <a:t>📸 ‘정책 인생극장’ 탭 캡처</a:t>
            </a:r>
          </a:p>
          <a:p>
            <a:pPr algn="ctr">
              <a:lnSpc>
                <a:spcPct val="112000"/>
              </a:lnSpc>
              <a:spcBef>
                <a:spcPts val="0"/>
              </a:spcBef>
              <a:spcAft>
                <a:spcPts val="0"/>
              </a:spcAft>
            </a:pPr>
            <a:r>
              <a:rPr sz="1000" b="0" i="0">
                <a:solidFill>
                  <a:srgbClr val="9AA5B1"/>
                </a:solidFill>
                <a:latin typeface="맑은 고딕"/>
                <a:ea typeface="맑은 고딕"/>
                <a:cs typeface="맑은 고딕"/>
              </a:rPr>
              <a:t>대조 3명 카드 + 여정 띠(알게됨→신청→막힘)가 보이는 화면 추천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02 시스템</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축3 · 요약 — 집계</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10</a:t>
            </a:r>
          </a:p>
        </p:txBody>
      </p:sp>
      <p:sp>
        <p:nvSpPr>
          <p:cNvPr id="6" name="TextBox 5"/>
          <p:cNvSpPr txBox="1"/>
          <p:nvPr/>
        </p:nvSpPr>
        <p:spPr>
          <a:xfrm>
            <a:off x="548640" y="1600200"/>
            <a:ext cx="5303520" cy="548640"/>
          </a:xfrm>
          <a:prstGeom prst="rect">
            <a:avLst/>
          </a:prstGeom>
          <a:noFill/>
        </p:spPr>
        <p:txBody>
          <a:bodyPr wrap="square" lIns="0" rIns="0" tIns="0" bIns="0">
            <a:spAutoFit/>
          </a:bodyPr>
          <a:lstStyle/>
          <a:p>
            <a:pPr algn="l">
              <a:lnSpc>
                <a:spcPct val="112000"/>
              </a:lnSpc>
              <a:spcBef>
                <a:spcPts val="0"/>
              </a:spcBef>
              <a:spcAft>
                <a:spcPts val="0"/>
              </a:spcAft>
            </a:pPr>
            <a:r>
              <a:rPr sz="1500" b="1" i="0">
                <a:solidFill>
                  <a:srgbClr val="1F3A5F"/>
                </a:solidFill>
                <a:latin typeface="맑은 고딕"/>
                <a:ea typeface="맑은 고딕"/>
                <a:cs typeface="맑은 고딕"/>
              </a:rPr>
              <a:t>axis3가 축1·축2를 다시 읽어 집계한다 (순수 함수 · LLM 무관)</a:t>
            </a:r>
          </a:p>
        </p:txBody>
      </p:sp>
      <p:sp>
        <p:nvSpPr>
          <p:cNvPr id="7" name="Rounded Rectangle 6"/>
          <p:cNvSpPr/>
          <p:nvPr/>
        </p:nvSpPr>
        <p:spPr>
          <a:xfrm>
            <a:off x="548640" y="2286000"/>
            <a:ext cx="5303520" cy="1234440"/>
          </a:xfrm>
          <a:prstGeom prst="roundRect">
            <a:avLst>
              <a:gd name="adj" fmla="val 8000"/>
            </a:avLst>
          </a:prstGeom>
          <a:solidFill>
            <a:srgbClr val="EAF0F8"/>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8" name="TextBox 7"/>
          <p:cNvSpPr txBox="1"/>
          <p:nvPr/>
        </p:nvSpPr>
        <p:spPr>
          <a:xfrm>
            <a:off x="658368" y="2359152"/>
            <a:ext cx="5084064" cy="1088136"/>
          </a:xfrm>
          <a:prstGeom prst="rect">
            <a:avLst/>
          </a:prstGeom>
          <a:noFill/>
        </p:spPr>
        <p:txBody>
          <a:bodyPr wrap="square" lIns="0" rIns="0" tIns="0" bIns="0">
            <a:spAutoFit/>
          </a:bodyPr>
          <a:lstStyle/>
          <a:p>
            <a:pPr algn="l">
              <a:lnSpc>
                <a:spcPct val="112000"/>
              </a:lnSpc>
              <a:spcBef>
                <a:spcPts val="0"/>
              </a:spcBef>
              <a:spcAft>
                <a:spcPts val="200"/>
              </a:spcAft>
            </a:pPr>
            <a:r>
              <a:rPr sz="1400" b="1" i="0">
                <a:solidFill>
                  <a:srgbClr val="1F3A5F"/>
                </a:solidFill>
                <a:latin typeface="맑은 고딕"/>
                <a:ea typeface="맑은 고딕"/>
                <a:cs typeface="맑은 고딕"/>
              </a:rPr>
              <a:t>게이지 3종</a:t>
            </a:r>
          </a:p>
          <a:p>
            <a:pPr algn="l">
              <a:lnSpc>
                <a:spcPct val="112000"/>
              </a:lnSpc>
              <a:spcBef>
                <a:spcPts val="0"/>
              </a:spcBef>
              <a:spcAft>
                <a:spcPts val="100"/>
              </a:spcAft>
            </a:pPr>
            <a:r>
              <a:rPr sz="1200" b="0" i="0">
                <a:solidFill>
                  <a:srgbClr val="1F2937"/>
                </a:solidFill>
                <a:latin typeface="맑은 고딕"/>
                <a:ea typeface="맑은 고딕"/>
                <a:cs typeface="맑은 고딕"/>
              </a:rPr>
              <a:t>정책수용도 · 신청의향지수 · 사회혼란도(=불만 평균)</a:t>
            </a:r>
          </a:p>
        </p:txBody>
      </p:sp>
      <p:sp>
        <p:nvSpPr>
          <p:cNvPr id="9" name="Rounded Rectangle 8"/>
          <p:cNvSpPr/>
          <p:nvPr/>
        </p:nvSpPr>
        <p:spPr>
          <a:xfrm>
            <a:off x="548640" y="3657600"/>
            <a:ext cx="5303520" cy="1234440"/>
          </a:xfrm>
          <a:prstGeom prst="roundRect">
            <a:avLst>
              <a:gd name="adj" fmla="val 8000"/>
            </a:avLst>
          </a:prstGeom>
          <a:solidFill>
            <a:srgbClr val="EAF0F8"/>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0" name="TextBox 9"/>
          <p:cNvSpPr txBox="1"/>
          <p:nvPr/>
        </p:nvSpPr>
        <p:spPr>
          <a:xfrm>
            <a:off x="658368" y="3730752"/>
            <a:ext cx="5084064" cy="1088136"/>
          </a:xfrm>
          <a:prstGeom prst="rect">
            <a:avLst/>
          </a:prstGeom>
          <a:noFill/>
        </p:spPr>
        <p:txBody>
          <a:bodyPr wrap="square" lIns="0" rIns="0" tIns="0" bIns="0">
            <a:spAutoFit/>
          </a:bodyPr>
          <a:lstStyle/>
          <a:p>
            <a:pPr algn="l">
              <a:lnSpc>
                <a:spcPct val="112000"/>
              </a:lnSpc>
              <a:spcBef>
                <a:spcPts val="0"/>
              </a:spcBef>
              <a:spcAft>
                <a:spcPts val="200"/>
              </a:spcAft>
            </a:pPr>
            <a:r>
              <a:rPr sz="1400" b="1" i="0">
                <a:solidFill>
                  <a:srgbClr val="1F3A5F"/>
                </a:solidFill>
                <a:latin typeface="맑은 고딕"/>
                <a:ea typeface="맑은 고딕"/>
                <a:cs typeface="맑은 고딕"/>
              </a:rPr>
              <a:t>종합 리포트 (.md)</a:t>
            </a:r>
          </a:p>
          <a:p>
            <a:pPr algn="l">
              <a:lnSpc>
                <a:spcPct val="112000"/>
              </a:lnSpc>
              <a:spcBef>
                <a:spcPts val="0"/>
              </a:spcBef>
              <a:spcAft>
                <a:spcPts val="100"/>
              </a:spcAft>
            </a:pPr>
            <a:r>
              <a:rPr sz="1200" b="0" i="0">
                <a:solidFill>
                  <a:srgbClr val="1F2937"/>
                </a:solidFill>
                <a:latin typeface="맑은 고딕"/>
                <a:ea typeface="맑은 고딕"/>
                <a:cs typeface="맑은 고딕"/>
              </a:rPr>
              <a:t>숫자·인용은 코드가 채우고, 산문 4칸만 LLM (1콜)</a:t>
            </a:r>
          </a:p>
        </p:txBody>
      </p:sp>
      <p:sp>
        <p:nvSpPr>
          <p:cNvPr id="11" name="Rounded Rectangle 10"/>
          <p:cNvSpPr/>
          <p:nvPr/>
        </p:nvSpPr>
        <p:spPr>
          <a:xfrm>
            <a:off x="548640" y="5074920"/>
            <a:ext cx="5303520" cy="777240"/>
          </a:xfrm>
          <a:prstGeom prst="roundRect">
            <a:avLst>
              <a:gd name="adj" fmla="val 8000"/>
            </a:avLst>
          </a:prstGeom>
          <a:solidFill>
            <a:srgbClr val="EAF6F0"/>
          </a:solidFill>
          <a:ln w="9525">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2" name="TextBox 11"/>
          <p:cNvSpPr txBox="1"/>
          <p:nvPr/>
        </p:nvSpPr>
        <p:spPr>
          <a:xfrm>
            <a:off x="749808" y="5184648"/>
            <a:ext cx="4901183" cy="594360"/>
          </a:xfrm>
          <a:prstGeom prst="rect">
            <a:avLst/>
          </a:prstGeom>
          <a:noFill/>
        </p:spPr>
        <p:txBody>
          <a:bodyPr wrap="square" lIns="0" rIns="0" tIns="0" bIns="0">
            <a:spAutoFit/>
          </a:bodyPr>
          <a:lstStyle/>
          <a:p>
            <a:pPr algn="l">
              <a:lnSpc>
                <a:spcPct val="112000"/>
              </a:lnSpc>
              <a:spcBef>
                <a:spcPts val="0"/>
              </a:spcBef>
              <a:spcAft>
                <a:spcPts val="0"/>
              </a:spcAft>
            </a:pPr>
            <a:r>
              <a:rPr sz="1250" b="1" i="0">
                <a:solidFill>
                  <a:srgbClr val="2E9E6B"/>
                </a:solidFill>
                <a:latin typeface="맑은 고딕"/>
                <a:ea typeface="맑은 고딕"/>
                <a:cs typeface="맑은 고딕"/>
              </a:rPr>
              <a:t>화면에 뜨는 모든 숫자는 여기서 — aggregate 노드가 아니라 축3</a:t>
            </a:r>
          </a:p>
        </p:txBody>
      </p:sp>
      <p:sp>
        <p:nvSpPr>
          <p:cNvPr id="13" name="TextBox 12"/>
          <p:cNvSpPr txBox="1"/>
          <p:nvPr/>
        </p:nvSpPr>
        <p:spPr>
          <a:xfrm>
            <a:off x="548640" y="5943600"/>
            <a:ext cx="5303520" cy="411480"/>
          </a:xfrm>
          <a:prstGeom prst="rect">
            <a:avLst/>
          </a:prstGeom>
          <a:noFill/>
        </p:spPr>
        <p:txBody>
          <a:bodyPr wrap="square" lIns="0" rIns="0" tIns="0" bIns="0">
            <a:spAutoFit/>
          </a:bodyPr>
          <a:lstStyle/>
          <a:p>
            <a:pPr algn="l">
              <a:lnSpc>
                <a:spcPct val="112000"/>
              </a:lnSpc>
              <a:spcBef>
                <a:spcPts val="0"/>
              </a:spcBef>
              <a:spcAft>
                <a:spcPts val="0"/>
              </a:spcAft>
            </a:pPr>
            <a:r>
              <a:rPr sz="1050" b="0" i="0">
                <a:solidFill>
                  <a:srgbClr val="6B7280"/>
                </a:solidFill>
                <a:latin typeface="맑은 고딕"/>
                <a:ea typeface="맑은 고딕"/>
                <a:cs typeface="맑은 고딕"/>
              </a:rPr>
              <a:t>순수 함수 — 같은 입력이면 재계산 없이 동일 결과 (LLM·캐시 무관)</a:t>
            </a:r>
          </a:p>
        </p:txBody>
      </p:sp>
      <p:sp>
        <p:nvSpPr>
          <p:cNvPr id="14" name="Rounded Rectangle 13"/>
          <p:cNvSpPr/>
          <p:nvPr/>
        </p:nvSpPr>
        <p:spPr>
          <a:xfrm>
            <a:off x="6126480" y="1600200"/>
            <a:ext cx="5513832" cy="4617720"/>
          </a:xfrm>
          <a:prstGeom prst="roundRect">
            <a:avLst>
              <a:gd name="adj" fmla="val 4000"/>
            </a:avLst>
          </a:prstGeom>
          <a:solidFill>
            <a:srgbClr val="F1F3F7"/>
          </a:solidFill>
          <a:ln w="1524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200"/>
              </a:spcAft>
            </a:pPr>
            <a:r>
              <a:rPr sz="1400" b="1" i="0">
                <a:solidFill>
                  <a:srgbClr val="6B7280"/>
                </a:solidFill>
                <a:latin typeface="맑은 고딕"/>
                <a:ea typeface="맑은 고딕"/>
                <a:cs typeface="맑은 고딕"/>
              </a:rPr>
              <a:t>📸 게이지 · 리포트 화면 캡처</a:t>
            </a:r>
          </a:p>
          <a:p>
            <a:pPr algn="ctr">
              <a:lnSpc>
                <a:spcPct val="112000"/>
              </a:lnSpc>
              <a:spcBef>
                <a:spcPts val="0"/>
              </a:spcBef>
              <a:spcAft>
                <a:spcPts val="0"/>
              </a:spcAft>
            </a:pPr>
            <a:r>
              <a:rPr sz="1000" b="0" i="0">
                <a:solidFill>
                  <a:srgbClr val="9AA5B1"/>
                </a:solidFill>
                <a:latin typeface="맑은 고딕"/>
                <a:ea typeface="맑은 고딕"/>
                <a:cs typeface="맑은 고딕"/>
              </a:rPr>
              <a:t>게이지 3종 + 종합 리포트가 보이는 화면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E890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03 시행착오</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스코프 — 처음 구상에서 최종 형태로</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11</a:t>
            </a:r>
          </a:p>
        </p:txBody>
      </p:sp>
      <p:sp>
        <p:nvSpPr>
          <p:cNvPr id="6" name="Rounded Rectangle 5"/>
          <p:cNvSpPr/>
          <p:nvPr/>
        </p:nvSpPr>
        <p:spPr>
          <a:xfrm>
            <a:off x="548640" y="1645920"/>
            <a:ext cx="4937760" cy="3337560"/>
          </a:xfrm>
          <a:prstGeom prst="roundRect">
            <a:avLst>
              <a:gd name="adj" fmla="val 8000"/>
            </a:avLst>
          </a:prstGeom>
          <a:solidFill>
            <a:srgbClr val="F1F3F7"/>
          </a:solidFill>
          <a:ln w="1270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7" name="TextBox 6"/>
          <p:cNvSpPr txBox="1"/>
          <p:nvPr/>
        </p:nvSpPr>
        <p:spPr>
          <a:xfrm>
            <a:off x="731520" y="1783080"/>
            <a:ext cx="4572000" cy="457200"/>
          </a:xfrm>
          <a:prstGeom prst="rect">
            <a:avLst/>
          </a:prstGeom>
          <a:noFill/>
        </p:spPr>
        <p:txBody>
          <a:bodyPr wrap="square" lIns="0" rIns="0" tIns="0" bIns="0">
            <a:spAutoFit/>
          </a:bodyPr>
          <a:lstStyle/>
          <a:p>
            <a:pPr algn="l">
              <a:lnSpc>
                <a:spcPct val="112000"/>
              </a:lnSpc>
              <a:spcBef>
                <a:spcPts val="0"/>
              </a:spcBef>
              <a:spcAft>
                <a:spcPts val="0"/>
              </a:spcAft>
            </a:pPr>
            <a:r>
              <a:rPr sz="1400" b="1" i="0">
                <a:solidFill>
                  <a:srgbClr val="6B7280"/>
                </a:solidFill>
                <a:latin typeface="맑은 고딕"/>
                <a:ea typeface="맑은 고딕"/>
                <a:cs typeface="맑은 고딕"/>
              </a:rPr>
              <a:t>처음 구상 — 욕심껏 8가지</a:t>
            </a:r>
          </a:p>
        </p:txBody>
      </p:sp>
      <p:sp>
        <p:nvSpPr>
          <p:cNvPr id="8" name="Rounded Rectangle 7"/>
          <p:cNvSpPr/>
          <p:nvPr/>
        </p:nvSpPr>
        <p:spPr>
          <a:xfrm>
            <a:off x="777240" y="2395728"/>
            <a:ext cx="2194560" cy="438912"/>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050" b="1" i="0">
                <a:solidFill>
                  <a:srgbClr val="6B7280"/>
                </a:solidFill>
                <a:latin typeface="맑은 고딕"/>
                <a:ea typeface="맑은 고딕"/>
                <a:cs typeface="맑은 고딕"/>
              </a:rPr>
              <a:t>RAG 게시판</a:t>
            </a:r>
          </a:p>
        </p:txBody>
      </p:sp>
      <p:sp>
        <p:nvSpPr>
          <p:cNvPr id="9" name="Rounded Rectangle 8"/>
          <p:cNvSpPr/>
          <p:nvPr/>
        </p:nvSpPr>
        <p:spPr>
          <a:xfrm>
            <a:off x="3108960" y="2395728"/>
            <a:ext cx="2194560" cy="438912"/>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050" b="1" i="0">
                <a:solidFill>
                  <a:srgbClr val="6B7280"/>
                </a:solidFill>
                <a:latin typeface="맑은 고딕"/>
                <a:ea typeface="맑은 고딕"/>
                <a:cs typeface="맑은 고딕"/>
              </a:rPr>
              <a:t>시민 Agent</a:t>
            </a:r>
          </a:p>
        </p:txBody>
      </p:sp>
      <p:sp>
        <p:nvSpPr>
          <p:cNvPr id="10" name="Rounded Rectangle 9"/>
          <p:cNvSpPr/>
          <p:nvPr/>
        </p:nvSpPr>
        <p:spPr>
          <a:xfrm>
            <a:off x="777240" y="2980944"/>
            <a:ext cx="2194560" cy="438912"/>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050" b="1" i="0">
                <a:solidFill>
                  <a:srgbClr val="6B7280"/>
                </a:solidFill>
                <a:latin typeface="맑은 고딕"/>
                <a:ea typeface="맑은 고딕"/>
                <a:cs typeface="맑은 고딕"/>
              </a:rPr>
              <a:t>SNS 전파 채팅</a:t>
            </a:r>
          </a:p>
        </p:txBody>
      </p:sp>
      <p:sp>
        <p:nvSpPr>
          <p:cNvPr id="11" name="Rounded Rectangle 10"/>
          <p:cNvSpPr/>
          <p:nvPr/>
        </p:nvSpPr>
        <p:spPr>
          <a:xfrm>
            <a:off x="3108960" y="2980944"/>
            <a:ext cx="2194560" cy="438912"/>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050" b="1" i="0">
                <a:solidFill>
                  <a:srgbClr val="6B7280"/>
                </a:solidFill>
                <a:latin typeface="맑은 고딕"/>
                <a:ea typeface="맑은 고딕"/>
                <a:cs typeface="맑은 고딕"/>
              </a:rPr>
              <a:t>감성 대시보드</a:t>
            </a:r>
          </a:p>
        </p:txBody>
      </p:sp>
      <p:sp>
        <p:nvSpPr>
          <p:cNvPr id="12" name="Rounded Rectangle 11"/>
          <p:cNvSpPr/>
          <p:nvPr/>
        </p:nvSpPr>
        <p:spPr>
          <a:xfrm>
            <a:off x="777240" y="3566160"/>
            <a:ext cx="2194560" cy="438912"/>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050" b="1" i="0">
                <a:solidFill>
                  <a:srgbClr val="6B7280"/>
                </a:solidFill>
                <a:latin typeface="맑은 고딕"/>
                <a:ea typeface="맑은 고딕"/>
                <a:cs typeface="맑은 고딕"/>
              </a:rPr>
              <a:t>전파 그래프</a:t>
            </a:r>
          </a:p>
        </p:txBody>
      </p:sp>
      <p:sp>
        <p:nvSpPr>
          <p:cNvPr id="13" name="Rounded Rectangle 12"/>
          <p:cNvSpPr/>
          <p:nvPr/>
        </p:nvSpPr>
        <p:spPr>
          <a:xfrm>
            <a:off x="3108960" y="3566160"/>
            <a:ext cx="2194560" cy="438912"/>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050" b="1" i="0">
                <a:solidFill>
                  <a:srgbClr val="6B7280"/>
                </a:solidFill>
                <a:latin typeface="맑은 고딕"/>
                <a:ea typeface="맑은 고딕"/>
                <a:cs typeface="맑은 고딕"/>
              </a:rPr>
              <a:t>게시판 자동답변</a:t>
            </a:r>
          </a:p>
        </p:txBody>
      </p:sp>
      <p:sp>
        <p:nvSpPr>
          <p:cNvPr id="14" name="Rounded Rectangle 13"/>
          <p:cNvSpPr/>
          <p:nvPr/>
        </p:nvSpPr>
        <p:spPr>
          <a:xfrm>
            <a:off x="777240" y="4151376"/>
            <a:ext cx="2194560" cy="438912"/>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050" b="1" i="0">
                <a:solidFill>
                  <a:srgbClr val="6B7280"/>
                </a:solidFill>
                <a:latin typeface="맑은 고딕"/>
                <a:ea typeface="맑은 고딕"/>
                <a:cs typeface="맑은 고딕"/>
              </a:rPr>
              <a:t>A/B 정책 테스트</a:t>
            </a:r>
          </a:p>
        </p:txBody>
      </p:sp>
      <p:sp>
        <p:nvSpPr>
          <p:cNvPr id="15" name="Rounded Rectangle 14"/>
          <p:cNvSpPr/>
          <p:nvPr/>
        </p:nvSpPr>
        <p:spPr>
          <a:xfrm>
            <a:off x="3108960" y="4151376"/>
            <a:ext cx="2194560" cy="438912"/>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050" b="1" i="0">
                <a:solidFill>
                  <a:srgbClr val="6B7280"/>
                </a:solidFill>
                <a:latin typeface="맑은 고딕"/>
                <a:ea typeface="맑은 고딕"/>
                <a:cs typeface="맑은 고딕"/>
              </a:rPr>
              <a:t>쉬운 글 변환</a:t>
            </a:r>
          </a:p>
        </p:txBody>
      </p:sp>
      <p:sp>
        <p:nvSpPr>
          <p:cNvPr id="16" name="TextBox 15"/>
          <p:cNvSpPr txBox="1"/>
          <p:nvPr/>
        </p:nvSpPr>
        <p:spPr>
          <a:xfrm>
            <a:off x="5532120" y="2743200"/>
            <a:ext cx="1143000" cy="365760"/>
          </a:xfrm>
          <a:prstGeom prst="rect">
            <a:avLst/>
          </a:prstGeom>
          <a:noFill/>
        </p:spPr>
        <p:txBody>
          <a:bodyPr wrap="square" lIns="0" rIns="0" tIns="0" bIns="0">
            <a:spAutoFit/>
          </a:bodyPr>
          <a:lstStyle/>
          <a:p>
            <a:pPr algn="ctr">
              <a:lnSpc>
                <a:spcPct val="112000"/>
              </a:lnSpc>
              <a:spcBef>
                <a:spcPts val="0"/>
              </a:spcBef>
              <a:spcAft>
                <a:spcPts val="0"/>
              </a:spcAft>
            </a:pPr>
            <a:r>
              <a:rPr sz="3000" b="1" i="0">
                <a:solidFill>
                  <a:srgbClr val="6B7280"/>
                </a:solidFill>
                <a:latin typeface="맑은 고딕"/>
                <a:ea typeface="맑은 고딕"/>
                <a:cs typeface="맑은 고딕"/>
              </a:rPr>
              <a:t>→</a:t>
            </a:r>
          </a:p>
        </p:txBody>
      </p:sp>
      <p:sp>
        <p:nvSpPr>
          <p:cNvPr id="17" name="TextBox 16"/>
          <p:cNvSpPr txBox="1"/>
          <p:nvPr/>
        </p:nvSpPr>
        <p:spPr>
          <a:xfrm>
            <a:off x="5440680" y="3401568"/>
            <a:ext cx="1325880" cy="822960"/>
          </a:xfrm>
          <a:prstGeom prst="rect">
            <a:avLst/>
          </a:prstGeom>
          <a:noFill/>
        </p:spPr>
        <p:txBody>
          <a:bodyPr wrap="square" lIns="0" rIns="0" tIns="0" bIns="0">
            <a:spAutoFit/>
          </a:bodyPr>
          <a:lstStyle/>
          <a:p>
            <a:pPr algn="ctr">
              <a:lnSpc>
                <a:spcPct val="112000"/>
              </a:lnSpc>
              <a:spcBef>
                <a:spcPts val="0"/>
              </a:spcBef>
              <a:spcAft>
                <a:spcPts val="100"/>
              </a:spcAft>
            </a:pPr>
            <a:r>
              <a:rPr sz="1000" b="0" i="0">
                <a:solidFill>
                  <a:srgbClr val="6B7280"/>
                </a:solidFill>
                <a:latin typeface="맑은 고딕"/>
                <a:ea typeface="맑은 고딕"/>
                <a:cs typeface="맑은 고딕"/>
              </a:rPr>
              <a:t>4일 동안</a:t>
            </a:r>
          </a:p>
          <a:p>
            <a:pPr algn="ctr">
              <a:lnSpc>
                <a:spcPct val="112000"/>
              </a:lnSpc>
              <a:spcBef>
                <a:spcPts val="0"/>
              </a:spcBef>
              <a:spcAft>
                <a:spcPts val="0"/>
              </a:spcAft>
            </a:pPr>
            <a:r>
              <a:rPr sz="1050" b="1" i="0">
                <a:solidFill>
                  <a:srgbClr val="E8902A"/>
                </a:solidFill>
                <a:latin typeface="맑은 고딕"/>
                <a:ea typeface="맑은 고딕"/>
                <a:cs typeface="맑은 고딕"/>
              </a:rPr>
              <a:t>측정하며 좁힘</a:t>
            </a:r>
          </a:p>
        </p:txBody>
      </p:sp>
      <p:sp>
        <p:nvSpPr>
          <p:cNvPr id="18" name="Rounded Rectangle 17"/>
          <p:cNvSpPr/>
          <p:nvPr/>
        </p:nvSpPr>
        <p:spPr>
          <a:xfrm>
            <a:off x="6675120" y="1645920"/>
            <a:ext cx="4965192" cy="333756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9" name="TextBox 18"/>
          <p:cNvSpPr txBox="1"/>
          <p:nvPr/>
        </p:nvSpPr>
        <p:spPr>
          <a:xfrm>
            <a:off x="6903720" y="1783080"/>
            <a:ext cx="4526280" cy="3063240"/>
          </a:xfrm>
          <a:prstGeom prst="rect">
            <a:avLst/>
          </a:prstGeom>
          <a:noFill/>
        </p:spPr>
        <p:txBody>
          <a:bodyPr wrap="square" lIns="0" rIns="0" tIns="0" bIns="0">
            <a:spAutoFit/>
          </a:bodyPr>
          <a:lstStyle/>
          <a:p>
            <a:pPr algn="l">
              <a:lnSpc>
                <a:spcPct val="112000"/>
              </a:lnSpc>
              <a:spcBef>
                <a:spcPts val="0"/>
              </a:spcBef>
              <a:spcAft>
                <a:spcPts val="1000"/>
              </a:spcAft>
            </a:pPr>
            <a:r>
              <a:rPr sz="1400" b="1" i="0">
                <a:solidFill>
                  <a:srgbClr val="2E9E6B"/>
                </a:solidFill>
                <a:latin typeface="맑은 고딕"/>
                <a:ea typeface="맑은 고딕"/>
                <a:cs typeface="맑은 고딕"/>
              </a:rPr>
              <a:t>최종 — 검증 가능한 핵심</a:t>
            </a:r>
          </a:p>
          <a:p>
            <a:pPr algn="l">
              <a:lnSpc>
                <a:spcPct val="112000"/>
              </a:lnSpc>
              <a:spcBef>
                <a:spcPts val="0"/>
              </a:spcBef>
              <a:spcAft>
                <a:spcPts val="200"/>
              </a:spcAft>
            </a:pPr>
            <a:r>
              <a:rPr sz="1350" b="1" i="0">
                <a:solidFill>
                  <a:srgbClr val="1F3A5F"/>
                </a:solidFill>
                <a:latin typeface="맑은 고딕"/>
                <a:ea typeface="맑은 고딕"/>
                <a:cs typeface="맑은 고딕"/>
              </a:rPr>
              <a:t>3축 파이프라인</a:t>
            </a:r>
          </a:p>
          <a:p>
            <a:pPr algn="l">
              <a:lnSpc>
                <a:spcPct val="120000"/>
              </a:lnSpc>
              <a:spcBef>
                <a:spcPts val="0"/>
              </a:spcBef>
              <a:spcAft>
                <a:spcPts val="1000"/>
              </a:spcAft>
            </a:pPr>
            <a:r>
              <a:rPr sz="1200" b="0" i="0">
                <a:solidFill>
                  <a:srgbClr val="1F2937"/>
                </a:solidFill>
                <a:latin typeface="맑은 고딕"/>
                <a:ea typeface="맑은 고딕"/>
                <a:cs typeface="맑은 고딕"/>
              </a:rPr>
              <a:t>축1 정보 · 축2 결과 · 축3 요약</a:t>
            </a:r>
          </a:p>
          <a:p>
            <a:pPr algn="l">
              <a:lnSpc>
                <a:spcPct val="112000"/>
              </a:lnSpc>
              <a:spcBef>
                <a:spcPts val="0"/>
              </a:spcBef>
              <a:spcAft>
                <a:spcPts val="200"/>
              </a:spcAft>
            </a:pPr>
            <a:r>
              <a:rPr sz="1350" b="1" i="0">
                <a:solidFill>
                  <a:srgbClr val="1F3A5F"/>
                </a:solidFill>
                <a:latin typeface="맑은 고딕"/>
                <a:ea typeface="맑은 고딕"/>
                <a:cs typeface="맑은 고딕"/>
              </a:rPr>
              <a:t>검증 골격</a:t>
            </a:r>
          </a:p>
          <a:p>
            <a:pPr algn="l">
              <a:lnSpc>
                <a:spcPct val="120000"/>
              </a:lnSpc>
              <a:spcBef>
                <a:spcPts val="0"/>
              </a:spcBef>
              <a:spcAft>
                <a:spcPts val="1000"/>
              </a:spcAft>
            </a:pPr>
            <a:r>
              <a:rPr sz="1200" b="0" i="0">
                <a:solidFill>
                  <a:srgbClr val="1F2937"/>
                </a:solidFill>
                <a:latin typeface="맑은 고딕"/>
                <a:ea typeface="맑은 고딕"/>
                <a:cs typeface="맑은 고딕"/>
              </a:rPr>
              <a:t>재료 · 작동 · 한계 (04장)</a:t>
            </a:r>
          </a:p>
          <a:p>
            <a:pPr algn="l">
              <a:lnSpc>
                <a:spcPct val="112000"/>
              </a:lnSpc>
              <a:spcBef>
                <a:spcPts val="0"/>
              </a:spcBef>
              <a:spcAft>
                <a:spcPts val="200"/>
              </a:spcAft>
            </a:pPr>
            <a:r>
              <a:rPr sz="1350" b="1" i="0">
                <a:solidFill>
                  <a:srgbClr val="1F3A5F"/>
                </a:solidFill>
                <a:latin typeface="맑은 고딕"/>
                <a:ea typeface="맑은 고딕"/>
                <a:cs typeface="맑은 고딕"/>
              </a:rPr>
              <a:t>포지셔닝</a:t>
            </a:r>
          </a:p>
          <a:p>
            <a:pPr algn="l">
              <a:lnSpc>
                <a:spcPct val="120000"/>
              </a:lnSpc>
              <a:spcBef>
                <a:spcPts val="0"/>
              </a:spcBef>
              <a:spcAft>
                <a:spcPts val="0"/>
              </a:spcAft>
            </a:pPr>
            <a:r>
              <a:rPr sz="1200" b="0" i="0">
                <a:solidFill>
                  <a:srgbClr val="1F2937"/>
                </a:solidFill>
                <a:latin typeface="맑은 고딕"/>
                <a:ea typeface="맑은 고딕"/>
                <a:cs typeface="맑은 고딕"/>
              </a:rPr>
              <a:t>‘예측’이 아니라 영향 시나리오</a:t>
            </a:r>
          </a:p>
        </p:txBody>
      </p:sp>
      <p:sp>
        <p:nvSpPr>
          <p:cNvPr id="20" name="Rounded Rectangle 19"/>
          <p:cNvSpPr/>
          <p:nvPr/>
        </p:nvSpPr>
        <p:spPr>
          <a:xfrm>
            <a:off x="548640" y="5212080"/>
            <a:ext cx="11091672" cy="841248"/>
          </a:xfrm>
          <a:prstGeom prst="roundRect">
            <a:avLst>
              <a:gd name="adj" fmla="val 8000"/>
            </a:avLst>
          </a:prstGeom>
          <a:solidFill>
            <a:srgbClr val="EAF0F8"/>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21" name="TextBox 20"/>
          <p:cNvSpPr txBox="1"/>
          <p:nvPr/>
        </p:nvSpPr>
        <p:spPr>
          <a:xfrm>
            <a:off x="868680" y="5321808"/>
            <a:ext cx="10515600" cy="594360"/>
          </a:xfrm>
          <a:prstGeom prst="rect">
            <a:avLst/>
          </a:prstGeom>
          <a:noFill/>
        </p:spPr>
        <p:txBody>
          <a:bodyPr wrap="square" lIns="0" rIns="0" tIns="0" bIns="0" anchor="ctr">
            <a:spAutoFit/>
          </a:bodyPr>
          <a:lstStyle/>
          <a:p>
            <a:pPr algn="ctr">
              <a:lnSpc>
                <a:spcPct val="112000"/>
              </a:lnSpc>
              <a:spcBef>
                <a:spcPts val="0"/>
              </a:spcBef>
              <a:spcAft>
                <a:spcPts val="0"/>
              </a:spcAft>
            </a:pPr>
            <a:r>
              <a:rPr sz="1350" b="1" i="0">
                <a:solidFill>
                  <a:srgbClr val="1F3A5F"/>
                </a:solidFill>
                <a:latin typeface="맑은 고딕"/>
                <a:ea typeface="맑은 고딕"/>
                <a:cs typeface="맑은 고딕"/>
              </a:rPr>
              <a:t>좁힌 건 버린 게 아니라 확장 경로 — </a:t>
            </a:r>
            <a:r>
              <a:rPr sz="1350" b="0" i="0">
                <a:solidFill>
                  <a:srgbClr val="1F2937"/>
                </a:solidFill>
                <a:latin typeface="맑은 고딕"/>
                <a:ea typeface="맑은 고딕"/>
                <a:cs typeface="맑은 고딕"/>
              </a:rPr>
              <a:t>전파는 미리마을로, RAG는 게시판으로 결국 돌아왔다 (05장)</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E890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03 시행착오</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시행착오 ① — 두 심판 문제</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12</a:t>
            </a:r>
          </a:p>
        </p:txBody>
      </p:sp>
      <p:sp>
        <p:nvSpPr>
          <p:cNvPr id="6" name="TextBox 5"/>
          <p:cNvSpPr txBox="1"/>
          <p:nvPr/>
        </p:nvSpPr>
        <p:spPr>
          <a:xfrm>
            <a:off x="548640" y="1645920"/>
            <a:ext cx="11091672" cy="1371600"/>
          </a:xfrm>
          <a:prstGeom prst="rect">
            <a:avLst/>
          </a:prstGeom>
          <a:noFill/>
        </p:spPr>
        <p:txBody>
          <a:bodyPr wrap="square" lIns="0" rIns="0" tIns="0" bIns="0">
            <a:spAutoFit/>
          </a:bodyPr>
          <a:lstStyle/>
          <a:p>
            <a:pPr algn="l">
              <a:lnSpc>
                <a:spcPct val="112000"/>
              </a:lnSpc>
              <a:spcBef>
                <a:spcPts val="0"/>
              </a:spcBef>
              <a:spcAft>
                <a:spcPts val="600"/>
              </a:spcAft>
            </a:pPr>
            <a:r>
              <a:rPr sz="1400" b="1" i="0">
                <a:solidFill>
                  <a:srgbClr val="D9534F"/>
                </a:solidFill>
                <a:latin typeface="맑은 고딕"/>
                <a:ea typeface="맑은 고딕"/>
                <a:cs typeface="맑은 고딕"/>
              </a:rPr>
              <a:t>증상  </a:t>
            </a:r>
            <a:r>
              <a:rPr sz="1400" b="0" i="0">
                <a:solidFill>
                  <a:srgbClr val="1F2937"/>
                </a:solidFill>
                <a:latin typeface="맑은 고딕"/>
                <a:ea typeface="맑은 고딕"/>
                <a:cs typeface="맑은 고딕"/>
              </a:rPr>
              <a:t>‘경계’로 뽑힌 신민재의 카드 서사가 “월세를 받았다” — 라벨과 이야기가 모순</a:t>
            </a:r>
          </a:p>
          <a:p>
            <a:pPr algn="l">
              <a:lnSpc>
                <a:spcPct val="112000"/>
              </a:lnSpc>
              <a:spcBef>
                <a:spcPts val="0"/>
              </a:spcBef>
              <a:spcAft>
                <a:spcPts val="600"/>
              </a:spcAft>
            </a:pPr>
            <a:r>
              <a:rPr sz="1400" b="1" i="0">
                <a:solidFill>
                  <a:srgbClr val="D9534F"/>
                </a:solidFill>
                <a:latin typeface="맑은 고딕"/>
                <a:ea typeface="맑은 고딕"/>
                <a:cs typeface="맑은 고딕"/>
              </a:rPr>
              <a:t>원인  </a:t>
            </a:r>
            <a:r>
              <a:rPr sz="1400" b="0" i="0">
                <a:solidFill>
                  <a:srgbClr val="1F2937"/>
                </a:solidFill>
                <a:latin typeface="맑은 고딕"/>
                <a:ea typeface="맑은 고딕"/>
                <a:cs typeface="맑은 고딕"/>
              </a:rPr>
              <a:t>심판이 둘 — 라벨은 시뮬 </a:t>
            </a:r>
            <a:r>
              <a:rPr sz="1400" b="1" i="0">
                <a:solidFill>
                  <a:srgbClr val="1F2937"/>
                </a:solidFill>
                <a:latin typeface="맑은 고딕"/>
                <a:ea typeface="맑은 고딕"/>
                <a:cs typeface="맑은 고딕"/>
              </a:rPr>
              <a:t>전</a:t>
            </a:r>
            <a:r>
              <a:rPr sz="1400" b="0" i="0">
                <a:solidFill>
                  <a:srgbClr val="1F2937"/>
                </a:solidFill>
                <a:latin typeface="맑은 고딕"/>
                <a:ea typeface="맑은 고딕"/>
                <a:cs typeface="맑은 고딕"/>
              </a:rPr>
              <a:t> 점수 매트릭스가, 이야기는 시뮬 </a:t>
            </a:r>
            <a:r>
              <a:rPr sz="1400" b="1" i="0">
                <a:solidFill>
                  <a:srgbClr val="1F2937"/>
                </a:solidFill>
                <a:latin typeface="맑은 고딕"/>
                <a:ea typeface="맑은 고딕"/>
                <a:cs typeface="맑은 고딕"/>
              </a:rPr>
              <a:t>후</a:t>
            </a:r>
            <a:r>
              <a:rPr sz="1400" b="0" i="0">
                <a:solidFill>
                  <a:srgbClr val="1F2937"/>
                </a:solidFill>
                <a:latin typeface="맑은 고딕"/>
                <a:ea typeface="맑은 고딕"/>
                <a:cs typeface="맑은 고딕"/>
              </a:rPr>
              <a:t> LLM이 정한다. 두 심판은 서로 어긋난다.</a:t>
            </a:r>
          </a:p>
          <a:p>
            <a:pPr algn="l">
              <a:lnSpc>
                <a:spcPct val="112000"/>
              </a:lnSpc>
              <a:spcBef>
                <a:spcPts val="0"/>
              </a:spcBef>
              <a:spcAft>
                <a:spcPts val="0"/>
              </a:spcAft>
            </a:pPr>
            <a:r>
              <a:rPr sz="1400" b="1" i="0">
                <a:solidFill>
                  <a:srgbClr val="2D6CDF"/>
                </a:solidFill>
                <a:latin typeface="맑은 고딕"/>
                <a:ea typeface="맑은 고딕"/>
                <a:cs typeface="맑은 고딕"/>
              </a:rPr>
              <a:t>결론  </a:t>
            </a:r>
            <a:r>
              <a:rPr sz="1400" b="0" i="0">
                <a:solidFill>
                  <a:srgbClr val="1F2937"/>
                </a:solidFill>
                <a:latin typeface="맑은 고딕"/>
                <a:ea typeface="맑은 고딕"/>
                <a:cs typeface="맑은 고딕"/>
              </a:rPr>
              <a:t>수혜/경계/사각은 점수가 아니라 </a:t>
            </a:r>
            <a:r>
              <a:rPr sz="1400" b="1" i="0">
                <a:solidFill>
                  <a:srgbClr val="2D6CDF"/>
                </a:solidFill>
                <a:latin typeface="맑은 고딕"/>
                <a:ea typeface="맑은 고딕"/>
                <a:cs typeface="맑은 고딕"/>
              </a:rPr>
              <a:t>결과(받음 / 막힘 / 못 닿음)</a:t>
            </a:r>
            <a:r>
              <a:rPr sz="1400" b="0" i="0">
                <a:solidFill>
                  <a:srgbClr val="1F2937"/>
                </a:solidFill>
                <a:latin typeface="맑은 고딕"/>
                <a:ea typeface="맑은 고딕"/>
                <a:cs typeface="맑은 고딕"/>
              </a:rPr>
              <a:t>다.</a:t>
            </a:r>
          </a:p>
        </p:txBody>
      </p:sp>
      <p:sp>
        <p:nvSpPr>
          <p:cNvPr id="7" name="Rounded Rectangle 6"/>
          <p:cNvSpPr/>
          <p:nvPr/>
        </p:nvSpPr>
        <p:spPr>
          <a:xfrm>
            <a:off x="548640" y="3246120"/>
            <a:ext cx="5394960" cy="2651760"/>
          </a:xfrm>
          <a:prstGeom prst="roundRect">
            <a:avLst>
              <a:gd name="adj" fmla="val 8000"/>
            </a:avLst>
          </a:prstGeom>
          <a:solidFill>
            <a:srgbClr val="FCECEB"/>
          </a:solidFill>
          <a:ln w="12700">
            <a:solidFill>
              <a:srgbClr val="D9534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8" name="TextBox 7"/>
          <p:cNvSpPr txBox="1"/>
          <p:nvPr/>
        </p:nvSpPr>
        <p:spPr>
          <a:xfrm>
            <a:off x="777240" y="3429000"/>
            <a:ext cx="4937760" cy="2286000"/>
          </a:xfrm>
          <a:prstGeom prst="rect">
            <a:avLst/>
          </a:prstGeom>
          <a:noFill/>
        </p:spPr>
        <p:txBody>
          <a:bodyPr wrap="square" lIns="0" rIns="0" tIns="0" bIns="0">
            <a:spAutoFit/>
          </a:bodyPr>
          <a:lstStyle/>
          <a:p>
            <a:pPr algn="l">
              <a:lnSpc>
                <a:spcPct val="112000"/>
              </a:lnSpc>
              <a:spcBef>
                <a:spcPts val="0"/>
              </a:spcBef>
              <a:spcAft>
                <a:spcPts val="600"/>
              </a:spcAft>
            </a:pPr>
            <a:r>
              <a:rPr sz="1450" b="1" i="0">
                <a:solidFill>
                  <a:srgbClr val="D9534F"/>
                </a:solidFill>
                <a:latin typeface="맑은 고딕"/>
                <a:ea typeface="맑은 고딕"/>
                <a:cs typeface="맑은 고딕"/>
              </a:rPr>
              <a:t>Before — 수치 예측 선별</a:t>
            </a:r>
          </a:p>
          <a:p>
            <a:pPr algn="l">
              <a:lnSpc>
                <a:spcPct val="118000"/>
              </a:lnSpc>
              <a:spcBef>
                <a:spcPts val="0"/>
              </a:spcBef>
              <a:spcAft>
                <a:spcPts val="500"/>
              </a:spcAft>
            </a:pPr>
            <a:r>
              <a:rPr sz="1200" b="1" i="0">
                <a:solidFill>
                  <a:srgbClr val="D9534F"/>
                </a:solidFill>
                <a:latin typeface="맑은 고딕"/>
                <a:ea typeface="맑은 고딕"/>
                <a:cs typeface="맑은 고딕"/>
              </a:rPr>
              <a:t>•  </a:t>
            </a:r>
            <a:r>
              <a:rPr sz="1200" b="0" i="0">
                <a:solidFill>
                  <a:srgbClr val="1F2937"/>
                </a:solidFill>
                <a:latin typeface="맑은 고딕"/>
                <a:ea typeface="맑은 고딕"/>
                <a:cs typeface="맑은 고딕"/>
              </a:rPr>
              <a:t>시뮬 전에 점수 매트릭스로 3명을 미리 고른다</a:t>
            </a:r>
          </a:p>
          <a:p>
            <a:pPr algn="l">
              <a:lnSpc>
                <a:spcPct val="118000"/>
              </a:lnSpc>
              <a:spcBef>
                <a:spcPts val="0"/>
              </a:spcBef>
              <a:spcAft>
                <a:spcPts val="500"/>
              </a:spcAft>
            </a:pPr>
            <a:r>
              <a:rPr sz="1200" b="1" i="0">
                <a:solidFill>
                  <a:srgbClr val="D9534F"/>
                </a:solidFill>
                <a:latin typeface="맑은 고딕"/>
                <a:ea typeface="맑은 고딕"/>
                <a:cs typeface="맑은 고딕"/>
              </a:rPr>
              <a:t>•  </a:t>
            </a:r>
            <a:r>
              <a:rPr sz="1200" b="0" i="0">
                <a:solidFill>
                  <a:srgbClr val="1F2937"/>
                </a:solidFill>
                <a:latin typeface="맑은 고딕"/>
                <a:ea typeface="맑은 고딕"/>
                <a:cs typeface="맑은 고딕"/>
              </a:rPr>
              <a:t>라벨 따로, 서사 따로 → 구조적으로 어긋남</a:t>
            </a:r>
          </a:p>
          <a:p>
            <a:pPr algn="l">
              <a:lnSpc>
                <a:spcPct val="118000"/>
              </a:lnSpc>
              <a:spcBef>
                <a:spcPts val="0"/>
              </a:spcBef>
              <a:spcAft>
                <a:spcPts val="500"/>
              </a:spcAft>
            </a:pPr>
            <a:r>
              <a:rPr sz="1200" b="1" i="0">
                <a:solidFill>
                  <a:srgbClr val="D9534F"/>
                </a:solidFill>
                <a:latin typeface="맑은 고딕"/>
                <a:ea typeface="맑은 고딕"/>
                <a:cs typeface="맑은 고딕"/>
              </a:rPr>
              <a:t>•  </a:t>
            </a:r>
            <a:r>
              <a:rPr sz="1200" b="0" i="0">
                <a:solidFill>
                  <a:srgbClr val="1F2937"/>
                </a:solidFill>
                <a:latin typeface="맑은 고딕"/>
                <a:ea typeface="맑은 고딕"/>
                <a:cs typeface="맑은 고딕"/>
              </a:rPr>
              <a:t>반응 점수로 뽑아도 같은 함정 — 임수빈은 자기 수혜성을 18점으로 매기지만 실제론 요건에 막힌 사각지대</a:t>
            </a:r>
          </a:p>
        </p:txBody>
      </p:sp>
      <p:sp>
        <p:nvSpPr>
          <p:cNvPr id="9" name="Rounded Rectangle 8"/>
          <p:cNvSpPr/>
          <p:nvPr/>
        </p:nvSpPr>
        <p:spPr>
          <a:xfrm>
            <a:off x="6245352" y="3246120"/>
            <a:ext cx="5394960" cy="265176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0" name="TextBox 9"/>
          <p:cNvSpPr txBox="1"/>
          <p:nvPr/>
        </p:nvSpPr>
        <p:spPr>
          <a:xfrm>
            <a:off x="6473952" y="3429000"/>
            <a:ext cx="4937760" cy="2286000"/>
          </a:xfrm>
          <a:prstGeom prst="rect">
            <a:avLst/>
          </a:prstGeom>
          <a:noFill/>
        </p:spPr>
        <p:txBody>
          <a:bodyPr wrap="square" lIns="0" rIns="0" tIns="0" bIns="0">
            <a:spAutoFit/>
          </a:bodyPr>
          <a:lstStyle/>
          <a:p>
            <a:pPr algn="l">
              <a:lnSpc>
                <a:spcPct val="112000"/>
              </a:lnSpc>
              <a:spcBef>
                <a:spcPts val="0"/>
              </a:spcBef>
              <a:spcAft>
                <a:spcPts val="600"/>
              </a:spcAft>
            </a:pPr>
            <a:r>
              <a:rPr sz="1450" b="1" i="0">
                <a:solidFill>
                  <a:srgbClr val="2E9E6B"/>
                </a:solidFill>
                <a:latin typeface="맑은 고딕"/>
                <a:ea typeface="맑은 고딕"/>
                <a:cs typeface="맑은 고딕"/>
              </a:rPr>
              <a:t>After — 결과 기반 선별</a:t>
            </a:r>
          </a:p>
          <a:p>
            <a:pPr algn="l">
              <a:lnSpc>
                <a:spcPct val="118000"/>
              </a:lnSpc>
              <a:spcBef>
                <a:spcPts val="0"/>
              </a:spcBef>
              <a:spcAft>
                <a:spcPts val="500"/>
              </a:spcAft>
            </a:pPr>
            <a:r>
              <a:rPr sz="1200" b="1" i="0">
                <a:solidFill>
                  <a:srgbClr val="2E9E6B"/>
                </a:solidFill>
                <a:latin typeface="맑은 고딕"/>
                <a:ea typeface="맑은 고딕"/>
                <a:cs typeface="맑은 고딕"/>
              </a:rPr>
              <a:t>•  </a:t>
            </a:r>
            <a:r>
              <a:rPr sz="1200" b="1" i="0">
                <a:solidFill>
                  <a:srgbClr val="1F2937"/>
                </a:solidFill>
                <a:latin typeface="맑은 고딕"/>
                <a:ea typeface="맑은 고딕"/>
                <a:cs typeface="맑은 고딕"/>
              </a:rPr>
              <a:t>전원을 먼저 살게 한 뒤</a:t>
            </a:r>
            <a:r>
              <a:rPr sz="1200" b="0" i="0">
                <a:solidFill>
                  <a:srgbClr val="1F2937"/>
                </a:solidFill>
                <a:latin typeface="맑은 고딕"/>
                <a:ea typeface="맑은 고딕"/>
                <a:cs typeface="맑은 고딕"/>
              </a:rPr>
              <a:t>, 실제 궤적의 결과에서 3명을 고른다</a:t>
            </a:r>
          </a:p>
          <a:p>
            <a:pPr algn="l">
              <a:lnSpc>
                <a:spcPct val="118000"/>
              </a:lnSpc>
              <a:spcBef>
                <a:spcPts val="0"/>
              </a:spcBef>
              <a:spcAft>
                <a:spcPts val="500"/>
              </a:spcAft>
            </a:pPr>
            <a:r>
              <a:rPr sz="1200" b="1" i="0">
                <a:solidFill>
                  <a:srgbClr val="2E9E6B"/>
                </a:solidFill>
                <a:latin typeface="맑은 고딕"/>
                <a:ea typeface="맑은 고딕"/>
                <a:cs typeface="맑은 고딕"/>
              </a:rPr>
              <a:t>•  </a:t>
            </a:r>
            <a:r>
              <a:rPr sz="1200" b="0" i="0">
                <a:solidFill>
                  <a:srgbClr val="1F2937"/>
                </a:solidFill>
                <a:latin typeface="맑은 고딕"/>
                <a:ea typeface="맑은 고딕"/>
                <a:cs typeface="맑은 고딕"/>
              </a:rPr>
              <a:t>라벨과 이야기가 같은 궤적에서 나옴 → 어긋날 수 없음</a:t>
            </a:r>
          </a:p>
          <a:p>
            <a:pPr algn="l">
              <a:lnSpc>
                <a:spcPct val="118000"/>
              </a:lnSpc>
              <a:spcBef>
                <a:spcPts val="0"/>
              </a:spcBef>
              <a:spcAft>
                <a:spcPts val="500"/>
              </a:spcAft>
            </a:pPr>
            <a:r>
              <a:rPr sz="1200" b="1" i="0">
                <a:solidFill>
                  <a:srgbClr val="2E9E6B"/>
                </a:solidFill>
                <a:latin typeface="맑은 고딕"/>
                <a:ea typeface="맑은 고딕"/>
                <a:cs typeface="맑은 고딕"/>
              </a:rPr>
              <a:t>•  </a:t>
            </a:r>
            <a:r>
              <a:rPr sz="1200" b="0" i="0">
                <a:solidFill>
                  <a:srgbClr val="1F2937"/>
                </a:solidFill>
                <a:latin typeface="맑은 고딕"/>
                <a:ea typeface="맑은 고딕"/>
                <a:cs typeface="맑은 고딕"/>
              </a:rPr>
              <a:t>심판이 하나로 통일됨. 전원 시뮬 비용도 확인 결과 문제없음</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E890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03 시행착오</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시행착오 ② — “전 국민 10억 지급” 버그</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13</a:t>
            </a:r>
          </a:p>
        </p:txBody>
      </p:sp>
      <p:sp>
        <p:nvSpPr>
          <p:cNvPr id="6" name="Rounded Rectangle 5"/>
          <p:cNvSpPr/>
          <p:nvPr/>
        </p:nvSpPr>
        <p:spPr>
          <a:xfrm>
            <a:off x="548640" y="1755648"/>
            <a:ext cx="1005840" cy="310896"/>
          </a:xfrm>
          <a:prstGeom prst="roundRect">
            <a:avLst>
              <a:gd name="adj" fmla="val 50000"/>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실험</a:t>
            </a:r>
          </a:p>
        </p:txBody>
      </p:sp>
      <p:sp>
        <p:nvSpPr>
          <p:cNvPr id="7" name="Rounded Rectangle 6"/>
          <p:cNvSpPr/>
          <p:nvPr/>
        </p:nvSpPr>
        <p:spPr>
          <a:xfrm>
            <a:off x="1737360" y="1645920"/>
            <a:ext cx="9902952" cy="566928"/>
          </a:xfrm>
          <a:prstGeom prst="roundRect">
            <a:avLst>
              <a:gd name="adj" fmla="val 8000"/>
            </a:avLst>
          </a:prstGeom>
          <a:solidFill>
            <a:srgbClr val="FCECEB"/>
          </a:solidFill>
          <a:ln w="9525">
            <a:solidFill>
              <a:srgbClr val="D9534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8" name="TextBox 7"/>
          <p:cNvSpPr txBox="1"/>
          <p:nvPr/>
        </p:nvSpPr>
        <p:spPr>
          <a:xfrm>
            <a:off x="1920240" y="1691640"/>
            <a:ext cx="9509760" cy="475488"/>
          </a:xfrm>
          <a:prstGeom prst="rect">
            <a:avLst/>
          </a:prstGeom>
          <a:noFill/>
        </p:spPr>
        <p:txBody>
          <a:bodyPr wrap="square" lIns="0" rIns="0" tIns="0" bIns="0" anchor="ctr">
            <a:spAutoFit/>
          </a:bodyPr>
          <a:lstStyle/>
          <a:p>
            <a:pPr algn="l">
              <a:lnSpc>
                <a:spcPct val="112000"/>
              </a:lnSpc>
              <a:spcBef>
                <a:spcPts val="0"/>
              </a:spcBef>
              <a:spcAft>
                <a:spcPts val="0"/>
              </a:spcAft>
            </a:pPr>
            <a:r>
              <a:rPr sz="1250" b="0" i="0">
                <a:solidFill>
                  <a:srgbClr val="1F2937"/>
                </a:solidFill>
                <a:latin typeface="맑은 고딕"/>
                <a:ea typeface="맑은 고딕"/>
                <a:cs typeface="맑은 고딕"/>
              </a:rPr>
              <a:t>극단 정책 “전 국민에게 10억 지급” 입력</a:t>
            </a:r>
          </a:p>
        </p:txBody>
      </p:sp>
      <p:sp>
        <p:nvSpPr>
          <p:cNvPr id="9" name="Rounded Rectangle 8"/>
          <p:cNvSpPr/>
          <p:nvPr/>
        </p:nvSpPr>
        <p:spPr>
          <a:xfrm>
            <a:off x="548640" y="2468880"/>
            <a:ext cx="1005840" cy="310896"/>
          </a:xfrm>
          <a:prstGeom prst="roundRect">
            <a:avLst>
              <a:gd name="adj" fmla="val 50000"/>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증상</a:t>
            </a:r>
          </a:p>
        </p:txBody>
      </p:sp>
      <p:sp>
        <p:nvSpPr>
          <p:cNvPr id="10" name="Rounded Rectangle 9"/>
          <p:cNvSpPr/>
          <p:nvPr/>
        </p:nvSpPr>
        <p:spPr>
          <a:xfrm>
            <a:off x="1737360" y="2359152"/>
            <a:ext cx="9902952" cy="566928"/>
          </a:xfrm>
          <a:prstGeom prst="roundRect">
            <a:avLst>
              <a:gd name="adj" fmla="val 8000"/>
            </a:avLst>
          </a:prstGeom>
          <a:solidFill>
            <a:srgbClr val="FCECEB"/>
          </a:solidFill>
          <a:ln w="9525">
            <a:solidFill>
              <a:srgbClr val="D9534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1" name="TextBox 10"/>
          <p:cNvSpPr txBox="1"/>
          <p:nvPr/>
        </p:nvSpPr>
        <p:spPr>
          <a:xfrm>
            <a:off x="1920240" y="2404872"/>
            <a:ext cx="9509760" cy="475488"/>
          </a:xfrm>
          <a:prstGeom prst="rect">
            <a:avLst/>
          </a:prstGeom>
          <a:noFill/>
        </p:spPr>
        <p:txBody>
          <a:bodyPr wrap="square" lIns="0" rIns="0" tIns="0" bIns="0" anchor="ctr">
            <a:spAutoFit/>
          </a:bodyPr>
          <a:lstStyle/>
          <a:p>
            <a:pPr algn="l">
              <a:lnSpc>
                <a:spcPct val="112000"/>
              </a:lnSpc>
              <a:spcBef>
                <a:spcPts val="0"/>
              </a:spcBef>
              <a:spcAft>
                <a:spcPts val="0"/>
              </a:spcAft>
            </a:pPr>
            <a:r>
              <a:rPr sz="1250" b="0" i="0">
                <a:solidFill>
                  <a:srgbClr val="1F2937"/>
                </a:solidFill>
                <a:latin typeface="맑은 고딕"/>
                <a:ea typeface="맑은 고딕"/>
                <a:cs typeface="맑은 고딕"/>
              </a:rPr>
              <a:t>전원 찬성 · 혼란도 21 — 시민이 ‘이해득실 계산기’처럼 내 혜택만 따짐</a:t>
            </a:r>
          </a:p>
        </p:txBody>
      </p:sp>
      <p:sp>
        <p:nvSpPr>
          <p:cNvPr id="12" name="Rounded Rectangle 11"/>
          <p:cNvSpPr/>
          <p:nvPr/>
        </p:nvSpPr>
        <p:spPr>
          <a:xfrm>
            <a:off x="548640" y="3182112"/>
            <a:ext cx="1005840" cy="310896"/>
          </a:xfrm>
          <a:prstGeom prst="roundRect">
            <a:avLst>
              <a:gd name="adj" fmla="val 50000"/>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처방</a:t>
            </a:r>
          </a:p>
        </p:txBody>
      </p:sp>
      <p:sp>
        <p:nvSpPr>
          <p:cNvPr id="13" name="Rounded Rectangle 12"/>
          <p:cNvSpPr/>
          <p:nvPr/>
        </p:nvSpPr>
        <p:spPr>
          <a:xfrm>
            <a:off x="1737360" y="3072384"/>
            <a:ext cx="9902952" cy="566928"/>
          </a:xfrm>
          <a:prstGeom prst="roundRect">
            <a:avLst>
              <a:gd name="adj" fmla="val 8000"/>
            </a:avLst>
          </a:prstGeom>
          <a:solidFill>
            <a:srgbClr val="EAF0F8"/>
          </a:solidFill>
          <a:ln w="9525">
            <a:solidFill>
              <a:srgbClr val="2D6C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4" name="TextBox 13"/>
          <p:cNvSpPr txBox="1"/>
          <p:nvPr/>
        </p:nvSpPr>
        <p:spPr>
          <a:xfrm>
            <a:off x="1920240" y="3118104"/>
            <a:ext cx="9509760" cy="475488"/>
          </a:xfrm>
          <a:prstGeom prst="rect">
            <a:avLst/>
          </a:prstGeom>
          <a:noFill/>
        </p:spPr>
        <p:txBody>
          <a:bodyPr wrap="square" lIns="0" rIns="0" tIns="0" bIns="0" anchor="ctr">
            <a:spAutoFit/>
          </a:bodyPr>
          <a:lstStyle/>
          <a:p>
            <a:pPr algn="l">
              <a:lnSpc>
                <a:spcPct val="112000"/>
              </a:lnSpc>
              <a:spcBef>
                <a:spcPts val="0"/>
              </a:spcBef>
              <a:spcAft>
                <a:spcPts val="0"/>
              </a:spcAft>
            </a:pPr>
            <a:r>
              <a:rPr sz="1250" b="0" i="0">
                <a:solidFill>
                  <a:srgbClr val="1F2937"/>
                </a:solidFill>
                <a:latin typeface="맑은 고딕"/>
                <a:ea typeface="맑은 고딕"/>
                <a:cs typeface="맑은 고딕"/>
              </a:rPr>
              <a:t>프롬프트 최상단에 “현실적으로 판단하라” — 재원·물가·증세·형평성·과대공약 의심 (+ 합리적 정책엔 냉소 금지)</a:t>
            </a:r>
          </a:p>
        </p:txBody>
      </p:sp>
      <p:sp>
        <p:nvSpPr>
          <p:cNvPr id="15" name="Rounded Rectangle 14"/>
          <p:cNvSpPr/>
          <p:nvPr/>
        </p:nvSpPr>
        <p:spPr>
          <a:xfrm>
            <a:off x="548640" y="3895344"/>
            <a:ext cx="1005840" cy="310896"/>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결과</a:t>
            </a:r>
          </a:p>
        </p:txBody>
      </p:sp>
      <p:sp>
        <p:nvSpPr>
          <p:cNvPr id="16" name="Rounded Rectangle 15"/>
          <p:cNvSpPr/>
          <p:nvPr/>
        </p:nvSpPr>
        <p:spPr>
          <a:xfrm>
            <a:off x="1737360" y="3785616"/>
            <a:ext cx="9902952" cy="566928"/>
          </a:xfrm>
          <a:prstGeom prst="roundRect">
            <a:avLst>
              <a:gd name="adj" fmla="val 8000"/>
            </a:avLst>
          </a:prstGeom>
          <a:solidFill>
            <a:srgbClr val="EAF6F0"/>
          </a:solidFill>
          <a:ln w="9525">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7" name="TextBox 16"/>
          <p:cNvSpPr txBox="1"/>
          <p:nvPr/>
        </p:nvSpPr>
        <p:spPr>
          <a:xfrm>
            <a:off x="1920240" y="3831336"/>
            <a:ext cx="9509760" cy="475488"/>
          </a:xfrm>
          <a:prstGeom prst="rect">
            <a:avLst/>
          </a:prstGeom>
          <a:noFill/>
        </p:spPr>
        <p:txBody>
          <a:bodyPr wrap="square" lIns="0" rIns="0" tIns="0" bIns="0" anchor="ctr">
            <a:spAutoFit/>
          </a:bodyPr>
          <a:lstStyle/>
          <a:p>
            <a:pPr algn="l">
              <a:lnSpc>
                <a:spcPct val="112000"/>
              </a:lnSpc>
              <a:spcBef>
                <a:spcPts val="0"/>
              </a:spcBef>
              <a:spcAft>
                <a:spcPts val="0"/>
              </a:spcAft>
            </a:pPr>
            <a:r>
              <a:rPr sz="1250" b="0" i="0">
                <a:solidFill>
                  <a:srgbClr val="1F2937"/>
                </a:solidFill>
                <a:latin typeface="맑은 고딕"/>
                <a:ea typeface="맑은 고딕"/>
                <a:cs typeface="맑은 고딕"/>
              </a:rPr>
              <a:t>10억 지급 → 전원 반대로 전환. 현실성 판단 작동 확인</a:t>
            </a:r>
          </a:p>
        </p:txBody>
      </p:sp>
      <p:sp>
        <p:nvSpPr>
          <p:cNvPr id="18" name="Rounded Rectangle 17"/>
          <p:cNvSpPr/>
          <p:nvPr/>
        </p:nvSpPr>
        <p:spPr>
          <a:xfrm>
            <a:off x="548640" y="4572000"/>
            <a:ext cx="11091672" cy="1554480"/>
          </a:xfrm>
          <a:prstGeom prst="roundRect">
            <a:avLst>
              <a:gd name="adj" fmla="val 8000"/>
            </a:avLst>
          </a:prstGeom>
          <a:solidFill>
            <a:srgbClr val="FDF3E4"/>
          </a:solidFill>
          <a:ln w="12700">
            <a:solidFill>
              <a:srgbClr val="E8902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9" name="TextBox 18"/>
          <p:cNvSpPr txBox="1"/>
          <p:nvPr/>
        </p:nvSpPr>
        <p:spPr>
          <a:xfrm>
            <a:off x="868680" y="4754880"/>
            <a:ext cx="10515600" cy="1234440"/>
          </a:xfrm>
          <a:prstGeom prst="rect">
            <a:avLst/>
          </a:prstGeom>
          <a:noFill/>
        </p:spPr>
        <p:txBody>
          <a:bodyPr wrap="square" lIns="0" rIns="0" tIns="0" bIns="0">
            <a:spAutoFit/>
          </a:bodyPr>
          <a:lstStyle/>
          <a:p>
            <a:pPr algn="l">
              <a:lnSpc>
                <a:spcPct val="112000"/>
              </a:lnSpc>
              <a:spcBef>
                <a:spcPts val="0"/>
              </a:spcBef>
              <a:spcAft>
                <a:spcPts val="500"/>
              </a:spcAft>
            </a:pPr>
            <a:r>
              <a:rPr sz="1450" b="1" i="0">
                <a:solidFill>
                  <a:srgbClr val="E8902A"/>
                </a:solidFill>
                <a:latin typeface="맑은 고딕"/>
                <a:ea typeface="맑은 고딕"/>
                <a:cs typeface="맑은 고딕"/>
              </a:rPr>
              <a:t>그 후 — 이 처방은 결국 철거됐다</a:t>
            </a:r>
          </a:p>
          <a:p>
            <a:pPr algn="l">
              <a:lnSpc>
                <a:spcPct val="125000"/>
              </a:lnSpc>
              <a:spcBef>
                <a:spcPts val="0"/>
              </a:spcBef>
              <a:spcAft>
                <a:spcPts val="300"/>
              </a:spcAft>
            </a:pPr>
            <a:r>
              <a:rPr sz="1300" b="0" i="0">
                <a:solidFill>
                  <a:srgbClr val="1F2937"/>
                </a:solidFill>
                <a:latin typeface="맑은 고딕"/>
                <a:ea typeface="맑은 고딕"/>
                <a:cs typeface="맑은 고딕"/>
              </a:rPr>
              <a:t>‘현실적으로 판단하라’를 넣자 정상 정책의 혼란도까지 오르는 과교정 발생 → 프롬프트 전면 재설계(판단 지시 0줄, 무대만 제공)로 지시 자체를 철거.</a:t>
            </a:r>
          </a:p>
          <a:p>
            <a:pPr algn="l">
              <a:lnSpc>
                <a:spcPct val="112000"/>
              </a:lnSpc>
              <a:spcBef>
                <a:spcPts val="0"/>
              </a:spcBef>
              <a:spcAft>
                <a:spcPts val="0"/>
              </a:spcAft>
            </a:pPr>
            <a:r>
              <a:rPr sz="1300" b="0" i="0">
                <a:solidFill>
                  <a:srgbClr val="1F2937"/>
                </a:solidFill>
                <a:latin typeface="맑은 고딕"/>
                <a:ea typeface="맑은 고딕"/>
                <a:cs typeface="맑은 고딕"/>
              </a:rPr>
              <a:t>답은 지시가 아니라 측정(설문 전환·자가판정)과 모델 선택(Gemini)이었다. </a:t>
            </a:r>
            <a:r>
              <a:rPr sz="1300" b="1" i="0">
                <a:solidFill>
                  <a:srgbClr val="1F2937"/>
                </a:solidFill>
                <a:latin typeface="맑은 고딕"/>
                <a:ea typeface="맑은 고딕"/>
                <a:cs typeface="맑은 고딕"/>
              </a:rPr>
              <a:t>교훈: 프롬프트로 조향하지 마라.</a:t>
            </a:r>
            <a:r>
              <a:rPr sz="1300" b="0" i="0">
                <a:solidFill>
                  <a:srgbClr val="6B7280"/>
                </a:solidFill>
                <a:latin typeface="맑은 고딕"/>
                <a:ea typeface="맑은 고딕"/>
                <a:cs typeface="맑은 고딕"/>
              </a:rPr>
              <a:t>  분포는 데이터와 측정으로 푼다.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E890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03 시행착오</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시행착오 ③ — 판단은 LLM에게, 불변식은 코드로</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14</a:t>
            </a:r>
          </a:p>
        </p:txBody>
      </p:sp>
      <p:sp>
        <p:nvSpPr>
          <p:cNvPr id="6" name="Rounded Rectangle 5"/>
          <p:cNvSpPr/>
          <p:nvPr/>
        </p:nvSpPr>
        <p:spPr>
          <a:xfrm>
            <a:off x="548640" y="1600200"/>
            <a:ext cx="11091672" cy="777240"/>
          </a:xfrm>
          <a:prstGeom prst="roundRect">
            <a:avLst>
              <a:gd name="adj" fmla="val 8000"/>
            </a:avLst>
          </a:prstGeom>
          <a:solidFill>
            <a:srgbClr val="EAF0F8"/>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7" name="TextBox 6"/>
          <p:cNvSpPr txBox="1"/>
          <p:nvPr/>
        </p:nvSpPr>
        <p:spPr>
          <a:xfrm>
            <a:off x="868680" y="1737360"/>
            <a:ext cx="10515600" cy="548640"/>
          </a:xfrm>
          <a:prstGeom prst="rect">
            <a:avLst/>
          </a:prstGeom>
          <a:noFill/>
        </p:spPr>
        <p:txBody>
          <a:bodyPr wrap="square" lIns="0" rIns="0" tIns="0" bIns="0" anchor="ctr">
            <a:spAutoFit/>
          </a:bodyPr>
          <a:lstStyle/>
          <a:p>
            <a:pPr algn="ctr">
              <a:lnSpc>
                <a:spcPct val="112000"/>
              </a:lnSpc>
              <a:spcBef>
                <a:spcPts val="0"/>
              </a:spcBef>
              <a:spcAft>
                <a:spcPts val="0"/>
              </a:spcAft>
            </a:pPr>
            <a:r>
              <a:rPr sz="1500" b="0" i="0">
                <a:solidFill>
                  <a:srgbClr val="1F2937"/>
                </a:solidFill>
                <a:latin typeface="맑은 고딕"/>
                <a:ea typeface="맑은 고딕"/>
                <a:cs typeface="맑은 고딕"/>
              </a:rPr>
              <a:t>LLM은 확률적이다 — 서사와 판단은 LLM이, </a:t>
            </a:r>
            <a:r>
              <a:rPr sz="1500" b="1" i="0">
                <a:solidFill>
                  <a:srgbClr val="1F3A5F"/>
                </a:solidFill>
                <a:latin typeface="맑은 고딕"/>
                <a:ea typeface="맑은 고딕"/>
                <a:cs typeface="맑은 고딕"/>
              </a:rPr>
              <a:t>어겨선 안 되는 규칙은 코드 가드가 보증한다</a:t>
            </a:r>
          </a:p>
        </p:txBody>
      </p:sp>
      <p:sp>
        <p:nvSpPr>
          <p:cNvPr id="8" name="Rounded Rectangle 7"/>
          <p:cNvSpPr/>
          <p:nvPr/>
        </p:nvSpPr>
        <p:spPr>
          <a:xfrm>
            <a:off x="548640" y="2606040"/>
            <a:ext cx="3593592" cy="342900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9" name="TextBox 8"/>
          <p:cNvSpPr txBox="1"/>
          <p:nvPr/>
        </p:nvSpPr>
        <p:spPr>
          <a:xfrm>
            <a:off x="731520" y="2788920"/>
            <a:ext cx="3246120" cy="3108960"/>
          </a:xfrm>
          <a:prstGeom prst="rect">
            <a:avLst/>
          </a:prstGeom>
          <a:noFill/>
        </p:spPr>
        <p:txBody>
          <a:bodyPr wrap="square" lIns="0" rIns="0" tIns="0" bIns="0">
            <a:spAutoFit/>
          </a:bodyPr>
          <a:lstStyle/>
          <a:p>
            <a:pPr algn="l">
              <a:lnSpc>
                <a:spcPct val="112000"/>
              </a:lnSpc>
              <a:spcBef>
                <a:spcPts val="0"/>
              </a:spcBef>
              <a:spcAft>
                <a:spcPts val="700"/>
              </a:spcAft>
            </a:pPr>
            <a:r>
              <a:rPr sz="1400" b="1" i="0">
                <a:solidFill>
                  <a:srgbClr val="2E9E6B"/>
                </a:solidFill>
                <a:latin typeface="맑은 고딕"/>
                <a:ea typeface="맑은 고딕"/>
                <a:cs typeface="맑은 고딕"/>
              </a:rPr>
              <a:t>상태 비퇴행 가드</a:t>
            </a:r>
          </a:p>
          <a:p>
            <a:pPr algn="l">
              <a:lnSpc>
                <a:spcPct val="122000"/>
              </a:lnSpc>
              <a:spcBef>
                <a:spcPts val="0"/>
              </a:spcBef>
              <a:spcAft>
                <a:spcPts val="700"/>
              </a:spcAft>
            </a:pPr>
            <a:r>
              <a:rPr sz="1080" b="0" i="0">
                <a:solidFill>
                  <a:srgbClr val="1F2937"/>
                </a:solidFill>
                <a:latin typeface="맑은 고딕"/>
                <a:ea typeface="맑은 고딕"/>
                <a:cs typeface="맑은 고딕"/>
              </a:rPr>
              <a:t>버그: ‘신청 → 모름’으로 궤적이 퇴행 (서류에 막혀 포기한 걸 LLM이 ‘몰랐다’로 오기)</a:t>
            </a:r>
          </a:p>
          <a:p>
            <a:pPr algn="l">
              <a:lnSpc>
                <a:spcPct val="122000"/>
              </a:lnSpc>
              <a:spcBef>
                <a:spcPts val="0"/>
              </a:spcBef>
              <a:spcAft>
                <a:spcPts val="700"/>
              </a:spcAft>
            </a:pPr>
            <a:r>
              <a:rPr sz="1080" b="0" i="0">
                <a:solidFill>
                  <a:srgbClr val="1F2937"/>
                </a:solidFill>
                <a:latin typeface="맑은 고딕"/>
                <a:ea typeface="맑은 고딕"/>
                <a:cs typeface="맑은 고딕"/>
              </a:rPr>
              <a:t>가드: 상태는 되돌아가지 않는다 — applied→unaware면 ‘막힘’으로 자동 교정</a:t>
            </a:r>
          </a:p>
          <a:p>
            <a:pPr algn="l">
              <a:lnSpc>
                <a:spcPct val="122000"/>
              </a:lnSpc>
              <a:spcBef>
                <a:spcPts val="0"/>
              </a:spcBef>
              <a:spcAft>
                <a:spcPts val="700"/>
              </a:spcAft>
            </a:pPr>
            <a:r>
              <a:rPr sz="1080" b="0" i="0">
                <a:solidFill>
                  <a:srgbClr val="1F2937"/>
                </a:solidFill>
                <a:latin typeface="맑은 고딕"/>
                <a:ea typeface="맑은 고딕"/>
                <a:cs typeface="맑은 고딕"/>
              </a:rPr>
              <a:t>결과: 조유정이 ‘자격은 되는데 서류에 막힘’ 사각 사례로 바르게 남음</a:t>
            </a:r>
          </a:p>
        </p:txBody>
      </p:sp>
      <p:sp>
        <p:nvSpPr>
          <p:cNvPr id="10" name="Rounded Rectangle 9"/>
          <p:cNvSpPr/>
          <p:nvPr/>
        </p:nvSpPr>
        <p:spPr>
          <a:xfrm>
            <a:off x="4297679" y="2606040"/>
            <a:ext cx="3593592" cy="3429000"/>
          </a:xfrm>
          <a:prstGeom prst="roundRect">
            <a:avLst>
              <a:gd name="adj" fmla="val 8000"/>
            </a:avLst>
          </a:prstGeom>
          <a:solidFill>
            <a:srgbClr val="FDF3E4"/>
          </a:solidFill>
          <a:ln w="12700">
            <a:solidFill>
              <a:srgbClr val="E8902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1" name="TextBox 10"/>
          <p:cNvSpPr txBox="1"/>
          <p:nvPr/>
        </p:nvSpPr>
        <p:spPr>
          <a:xfrm>
            <a:off x="4480559" y="2788920"/>
            <a:ext cx="3246120" cy="3108960"/>
          </a:xfrm>
          <a:prstGeom prst="rect">
            <a:avLst/>
          </a:prstGeom>
          <a:noFill/>
        </p:spPr>
        <p:txBody>
          <a:bodyPr wrap="square" lIns="0" rIns="0" tIns="0" bIns="0">
            <a:spAutoFit/>
          </a:bodyPr>
          <a:lstStyle/>
          <a:p>
            <a:pPr algn="l">
              <a:lnSpc>
                <a:spcPct val="112000"/>
              </a:lnSpc>
              <a:spcBef>
                <a:spcPts val="0"/>
              </a:spcBef>
              <a:spcAft>
                <a:spcPts val="700"/>
              </a:spcAft>
            </a:pPr>
            <a:r>
              <a:rPr sz="1400" b="1" i="0">
                <a:solidFill>
                  <a:srgbClr val="E8902A"/>
                </a:solidFill>
                <a:latin typeface="맑은 고딕"/>
                <a:ea typeface="맑은 고딕"/>
                <a:cs typeface="맑은 고딕"/>
              </a:rPr>
              <a:t>태그 대상 게이트</a:t>
            </a:r>
          </a:p>
          <a:p>
            <a:pPr algn="l">
              <a:lnSpc>
                <a:spcPct val="122000"/>
              </a:lnSpc>
              <a:spcBef>
                <a:spcPts val="0"/>
              </a:spcBef>
              <a:spcAft>
                <a:spcPts val="700"/>
              </a:spcAft>
            </a:pPr>
            <a:r>
              <a:rPr sz="1080" b="0" i="0">
                <a:solidFill>
                  <a:srgbClr val="1F2937"/>
                </a:solidFill>
                <a:latin typeface="맑은 고딕"/>
                <a:ea typeface="맑은 고딕"/>
                <a:cs typeface="맑은 고딕"/>
              </a:rPr>
              <a:t>버그: 46세 박성인이 ‘청년’ 정책의 사각지대로 오라벨</a:t>
            </a:r>
          </a:p>
          <a:p>
            <a:pPr algn="l">
              <a:lnSpc>
                <a:spcPct val="122000"/>
              </a:lnSpc>
              <a:spcBef>
                <a:spcPts val="0"/>
              </a:spcBef>
              <a:spcAft>
                <a:spcPts val="700"/>
              </a:spcAft>
            </a:pPr>
            <a:r>
              <a:rPr sz="1080" b="0" i="0">
                <a:solidFill>
                  <a:srgbClr val="1F2937"/>
                </a:solidFill>
                <a:latin typeface="맑은 고딕"/>
                <a:ea typeface="맑은 고딕"/>
                <a:cs typeface="맑은 고딕"/>
              </a:rPr>
              <a:t>가드: 대상 여부 = 태그(나이·소득·가구)로 판정하는 ‘사실’, 결과 = LLM 궤적 — 둘을 분리</a:t>
            </a:r>
          </a:p>
          <a:p>
            <a:pPr algn="l">
              <a:lnSpc>
                <a:spcPct val="122000"/>
              </a:lnSpc>
              <a:spcBef>
                <a:spcPts val="0"/>
              </a:spcBef>
              <a:spcAft>
                <a:spcPts val="700"/>
              </a:spcAft>
            </a:pPr>
            <a:r>
              <a:rPr sz="1080" b="0" i="0">
                <a:solidFill>
                  <a:srgbClr val="1F2937"/>
                </a:solidFill>
                <a:latin typeface="맑은 고딕"/>
                <a:ea typeface="맑은 고딕"/>
                <a:cs typeface="맑은 고딕"/>
              </a:rPr>
              <a:t>결과: 비대상자는 ‘무관’으로 분류</a:t>
            </a:r>
          </a:p>
        </p:txBody>
      </p:sp>
      <p:sp>
        <p:nvSpPr>
          <p:cNvPr id="12" name="Rounded Rectangle 11"/>
          <p:cNvSpPr/>
          <p:nvPr/>
        </p:nvSpPr>
        <p:spPr>
          <a:xfrm>
            <a:off x="8046719" y="2606040"/>
            <a:ext cx="3593592" cy="3429000"/>
          </a:xfrm>
          <a:prstGeom prst="roundRect">
            <a:avLst>
              <a:gd name="adj" fmla="val 8000"/>
            </a:avLst>
          </a:prstGeom>
          <a:solidFill>
            <a:srgbClr val="FCECEB"/>
          </a:solidFill>
          <a:ln w="12700">
            <a:solidFill>
              <a:srgbClr val="D9534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8229599" y="2788920"/>
            <a:ext cx="3246120" cy="3108960"/>
          </a:xfrm>
          <a:prstGeom prst="rect">
            <a:avLst/>
          </a:prstGeom>
          <a:noFill/>
        </p:spPr>
        <p:txBody>
          <a:bodyPr wrap="square" lIns="0" rIns="0" tIns="0" bIns="0">
            <a:spAutoFit/>
          </a:bodyPr>
          <a:lstStyle/>
          <a:p>
            <a:pPr algn="l">
              <a:lnSpc>
                <a:spcPct val="112000"/>
              </a:lnSpc>
              <a:spcBef>
                <a:spcPts val="0"/>
              </a:spcBef>
              <a:spcAft>
                <a:spcPts val="700"/>
              </a:spcAft>
            </a:pPr>
            <a:r>
              <a:rPr sz="1400" b="1" i="0">
                <a:solidFill>
                  <a:srgbClr val="D9534F"/>
                </a:solidFill>
                <a:latin typeface="맑은 고딕"/>
                <a:ea typeface="맑은 고딕"/>
                <a:cs typeface="맑은 고딕"/>
              </a:rPr>
              <a:t>전파 게이트</a:t>
            </a:r>
          </a:p>
          <a:p>
            <a:pPr algn="l">
              <a:lnSpc>
                <a:spcPct val="122000"/>
              </a:lnSpc>
              <a:spcBef>
                <a:spcPts val="0"/>
              </a:spcBef>
              <a:spcAft>
                <a:spcPts val="700"/>
              </a:spcAft>
            </a:pPr>
            <a:r>
              <a:rPr sz="1080" b="0" i="0">
                <a:solidFill>
                  <a:srgbClr val="1F2937"/>
                </a:solidFill>
                <a:latin typeface="맑은 고딕"/>
                <a:ea typeface="맑은 고딕"/>
                <a:cs typeface="맑은 고딕"/>
              </a:rPr>
              <a:t>무대: 잠시 후 소개할 ‘미리마을’ — 정책 소식이 사람을 타고 퍼지는 시뮬</a:t>
            </a:r>
          </a:p>
          <a:p>
            <a:pPr algn="l">
              <a:lnSpc>
                <a:spcPct val="122000"/>
              </a:lnSpc>
              <a:spcBef>
                <a:spcPts val="0"/>
              </a:spcBef>
              <a:spcAft>
                <a:spcPts val="700"/>
              </a:spcAft>
            </a:pPr>
            <a:r>
              <a:rPr sz="1080" b="0" i="0">
                <a:solidFill>
                  <a:srgbClr val="1F2937"/>
                </a:solidFill>
                <a:latin typeface="맑은 고딕"/>
                <a:ea typeface="맑은 고딕"/>
                <a:cs typeface="맑은 고딕"/>
              </a:rPr>
              <a:t>위험: LLM이 근거 없이 ‘어느새 다 알게 됨’으로 부풀릴 수 있음</a:t>
            </a:r>
          </a:p>
          <a:p>
            <a:pPr algn="l">
              <a:lnSpc>
                <a:spcPct val="122000"/>
              </a:lnSpc>
              <a:spcBef>
                <a:spcPts val="0"/>
              </a:spcBef>
              <a:spcAft>
                <a:spcPts val="700"/>
              </a:spcAft>
            </a:pPr>
            <a:r>
              <a:rPr sz="1080" b="0" i="0">
                <a:solidFill>
                  <a:srgbClr val="1F2937"/>
                </a:solidFill>
                <a:latin typeface="맑은 고딕"/>
                <a:ea typeface="맑은 고딕"/>
                <a:cs typeface="맑은 고딕"/>
              </a:rPr>
              <a:t>가드: 모르던 사람은 ‘아는 사람과 만났을 때만’ 새로 안다 — 코드가 강제</a:t>
            </a:r>
          </a:p>
          <a:p>
            <a:pPr algn="l">
              <a:lnSpc>
                <a:spcPct val="122000"/>
              </a:lnSpc>
              <a:spcBef>
                <a:spcPts val="0"/>
              </a:spcBef>
              <a:spcAft>
                <a:spcPts val="700"/>
              </a:spcAft>
            </a:pPr>
            <a:r>
              <a:rPr sz="1080" b="0" i="0">
                <a:solidFill>
                  <a:srgbClr val="1F2937"/>
                </a:solidFill>
                <a:latin typeface="맑은 고딕"/>
                <a:ea typeface="맑은 고딕"/>
                <a:cs typeface="맑은 고딕"/>
              </a:rPr>
              <a:t>결과: 전파 경로 추적이 신뢰 가능해짐 (인지 누수 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04 검증</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200" b="1" i="0">
                <a:solidFill>
                  <a:srgbClr val="1F3A5F"/>
                </a:solidFill>
                <a:latin typeface="맑은 고딕"/>
                <a:ea typeface="맑은 고딕"/>
                <a:cs typeface="맑은 고딕"/>
              </a:rPr>
              <a:t>검증 — ‘맞혔나’가 아니라 ‘합리적으로 작동하는가’</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15</a:t>
            </a:r>
          </a:p>
        </p:txBody>
      </p:sp>
      <p:sp>
        <p:nvSpPr>
          <p:cNvPr id="6" name="Rounded Rectangle 5"/>
          <p:cNvSpPr/>
          <p:nvPr/>
        </p:nvSpPr>
        <p:spPr>
          <a:xfrm>
            <a:off x="548640" y="1481328"/>
            <a:ext cx="11091672" cy="1060704"/>
          </a:xfrm>
          <a:prstGeom prst="roundRect">
            <a:avLst>
              <a:gd name="adj" fmla="val 8000"/>
            </a:avLst>
          </a:prstGeom>
          <a:solidFill>
            <a:srgbClr val="EAF0F8"/>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7" name="TextBox 6"/>
          <p:cNvSpPr txBox="1"/>
          <p:nvPr/>
        </p:nvSpPr>
        <p:spPr>
          <a:xfrm>
            <a:off x="868680" y="1572768"/>
            <a:ext cx="10515600" cy="896112"/>
          </a:xfrm>
          <a:prstGeom prst="rect">
            <a:avLst/>
          </a:prstGeom>
          <a:noFill/>
        </p:spPr>
        <p:txBody>
          <a:bodyPr wrap="square" lIns="0" rIns="0" tIns="0" bIns="0" anchor="ctr">
            <a:spAutoFit/>
          </a:bodyPr>
          <a:lstStyle/>
          <a:p>
            <a:pPr algn="l">
              <a:lnSpc>
                <a:spcPct val="125000"/>
              </a:lnSpc>
              <a:spcBef>
                <a:spcPts val="0"/>
              </a:spcBef>
              <a:spcAft>
                <a:spcPts val="300"/>
              </a:spcAft>
            </a:pPr>
            <a:r>
              <a:rPr sz="1300" b="1" i="0">
                <a:solidFill>
                  <a:srgbClr val="1F3A5F"/>
                </a:solidFill>
                <a:latin typeface="맑은 고딕"/>
                <a:ea typeface="맑은 고딕"/>
                <a:cs typeface="맑은 고딕"/>
              </a:rPr>
              <a:t>미리랩은 미래를 맞히는 예측기가 아니라, 정책의 파장을 미리 보는 시뮬레이터다. </a:t>
            </a:r>
            <a:r>
              <a:rPr sz="1250" b="0" i="0">
                <a:solidFill>
                  <a:srgbClr val="1F2937"/>
                </a:solidFill>
                <a:latin typeface="맑은 고딕"/>
                <a:ea typeface="맑은 고딕"/>
                <a:cs typeface="맑은 고딕"/>
              </a:rPr>
              <a:t>‘여론조사를 얼마나 맞혔나’로 평가하지 않는다 — 그 지표는 약하고, 솔직히 인정한다.</a:t>
            </a:r>
          </a:p>
          <a:p>
            <a:pPr algn="l">
              <a:lnSpc>
                <a:spcPct val="125000"/>
              </a:lnSpc>
              <a:spcBef>
                <a:spcPts val="0"/>
              </a:spcBef>
              <a:spcAft>
                <a:spcPts val="0"/>
              </a:spcAft>
            </a:pPr>
            <a:r>
              <a:rPr sz="1250" b="1" i="0">
                <a:solidFill>
                  <a:srgbClr val="2E9E6B"/>
                </a:solidFill>
                <a:latin typeface="맑은 고딕"/>
                <a:ea typeface="맑은 고딕"/>
                <a:cs typeface="맑은 고딕"/>
              </a:rPr>
              <a:t>대신 — 말도 안 되는 극단 정책에도 시민이 상식적으로 반응하면, 일반 정책에서의 반응도 믿을 수 있다.</a:t>
            </a:r>
          </a:p>
        </p:txBody>
      </p:sp>
      <p:sp>
        <p:nvSpPr>
          <p:cNvPr id="8" name="Rounded Rectangle 7"/>
          <p:cNvSpPr/>
          <p:nvPr/>
        </p:nvSpPr>
        <p:spPr>
          <a:xfrm>
            <a:off x="548640" y="2670048"/>
            <a:ext cx="3593592" cy="137160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9" name="TextBox 8"/>
          <p:cNvSpPr txBox="1"/>
          <p:nvPr/>
        </p:nvSpPr>
        <p:spPr>
          <a:xfrm>
            <a:off x="731520" y="2798064"/>
            <a:ext cx="3246120" cy="1143000"/>
          </a:xfrm>
          <a:prstGeom prst="rect">
            <a:avLst/>
          </a:prstGeom>
          <a:noFill/>
        </p:spPr>
        <p:txBody>
          <a:bodyPr wrap="square" lIns="0" rIns="0" tIns="0" bIns="0">
            <a:spAutoFit/>
          </a:bodyPr>
          <a:lstStyle/>
          <a:p>
            <a:pPr algn="l">
              <a:lnSpc>
                <a:spcPct val="120000"/>
              </a:lnSpc>
              <a:spcBef>
                <a:spcPts val="0"/>
              </a:spcBef>
              <a:spcAft>
                <a:spcPts val="400"/>
              </a:spcAft>
            </a:pPr>
            <a:r>
              <a:rPr sz="1350" b="1" i="0">
                <a:solidFill>
                  <a:srgbClr val="2E9E6B"/>
                </a:solidFill>
                <a:latin typeface="맑은 고딕"/>
                <a:ea typeface="맑은 고딕"/>
                <a:cs typeface="맑은 고딕"/>
              </a:rPr>
              <a:t>① 재료  </a:t>
            </a:r>
            <a:r>
              <a:rPr sz="1150" b="0" i="0">
                <a:solidFill>
                  <a:srgbClr val="1F2937"/>
                </a:solidFill>
                <a:latin typeface="맑은 고딕"/>
                <a:ea typeface="맑은 고딕"/>
                <a:cs typeface="맑은 고딕"/>
              </a:rPr>
              <a:t>시민 24명이 한국 인구를 닮았나?</a:t>
            </a:r>
          </a:p>
          <a:p>
            <a:pPr algn="l">
              <a:lnSpc>
                <a:spcPct val="122000"/>
              </a:lnSpc>
              <a:spcBef>
                <a:spcPts val="0"/>
              </a:spcBef>
              <a:spcAft>
                <a:spcPts val="0"/>
              </a:spcAft>
            </a:pPr>
            <a:r>
              <a:rPr sz="1100" b="0" i="0">
                <a:solidFill>
                  <a:srgbClr val="1F2937"/>
                </a:solidFill>
                <a:latin typeface="맑은 고딕"/>
                <a:ea typeface="맑은 고딕"/>
                <a:cs typeface="맑은 고딕"/>
              </a:rPr>
              <a:t>분포 7/7 통과 — 무작위 추출 기대범위 안 (부트스트랩 1만회, LLM 0콜)</a:t>
            </a:r>
          </a:p>
        </p:txBody>
      </p:sp>
      <p:sp>
        <p:nvSpPr>
          <p:cNvPr id="10" name="Rounded Rectangle 9"/>
          <p:cNvSpPr/>
          <p:nvPr/>
        </p:nvSpPr>
        <p:spPr>
          <a:xfrm>
            <a:off x="4297679" y="2670048"/>
            <a:ext cx="3593592" cy="1371600"/>
          </a:xfrm>
          <a:prstGeom prst="roundRect">
            <a:avLst>
              <a:gd name="adj" fmla="val 8000"/>
            </a:avLst>
          </a:prstGeom>
          <a:solidFill>
            <a:srgbClr val="FDF3E4"/>
          </a:solidFill>
          <a:ln w="12700">
            <a:solidFill>
              <a:srgbClr val="E8902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1" name="TextBox 10"/>
          <p:cNvSpPr txBox="1"/>
          <p:nvPr/>
        </p:nvSpPr>
        <p:spPr>
          <a:xfrm>
            <a:off x="4480559" y="2798064"/>
            <a:ext cx="3246120" cy="1143000"/>
          </a:xfrm>
          <a:prstGeom prst="rect">
            <a:avLst/>
          </a:prstGeom>
          <a:noFill/>
        </p:spPr>
        <p:txBody>
          <a:bodyPr wrap="square" lIns="0" rIns="0" tIns="0" bIns="0">
            <a:spAutoFit/>
          </a:bodyPr>
          <a:lstStyle/>
          <a:p>
            <a:pPr algn="l">
              <a:lnSpc>
                <a:spcPct val="120000"/>
              </a:lnSpc>
              <a:spcBef>
                <a:spcPts val="0"/>
              </a:spcBef>
              <a:spcAft>
                <a:spcPts val="400"/>
              </a:spcAft>
            </a:pPr>
            <a:r>
              <a:rPr sz="1350" b="1" i="0">
                <a:solidFill>
                  <a:srgbClr val="E8902A"/>
                </a:solidFill>
                <a:latin typeface="맑은 고딕"/>
                <a:ea typeface="맑은 고딕"/>
                <a:cs typeface="맑은 고딕"/>
              </a:rPr>
              <a:t>② 작동  </a:t>
            </a:r>
            <a:r>
              <a:rPr sz="1150" b="0" i="0">
                <a:solidFill>
                  <a:srgbClr val="1F2937"/>
                </a:solidFill>
                <a:latin typeface="맑은 고딕"/>
                <a:ea typeface="맑은 고딕"/>
                <a:cs typeface="맑은 고딕"/>
              </a:rPr>
              <a:t>반응 차이를 만드는 게 페르소나인가?</a:t>
            </a:r>
          </a:p>
          <a:p>
            <a:pPr algn="l">
              <a:lnSpc>
                <a:spcPct val="122000"/>
              </a:lnSpc>
              <a:spcBef>
                <a:spcPts val="0"/>
              </a:spcBef>
              <a:spcAft>
                <a:spcPts val="0"/>
              </a:spcAft>
            </a:pPr>
            <a:r>
              <a:rPr sz="1100" b="0" i="0">
                <a:solidFill>
                  <a:srgbClr val="1F2937"/>
                </a:solidFill>
                <a:latin typeface="맑은 고딕"/>
                <a:ea typeface="맑은 고딕"/>
                <a:cs typeface="맑은 고딕"/>
              </a:rPr>
              <a:t>사전등록 0/4 — 원인은 채점 기준이었다 (다음 장)</a:t>
            </a:r>
          </a:p>
        </p:txBody>
      </p:sp>
      <p:sp>
        <p:nvSpPr>
          <p:cNvPr id="12" name="Rounded Rectangle 11"/>
          <p:cNvSpPr/>
          <p:nvPr/>
        </p:nvSpPr>
        <p:spPr>
          <a:xfrm>
            <a:off x="8046719" y="2670048"/>
            <a:ext cx="3593592" cy="137160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8229599" y="2798064"/>
            <a:ext cx="3246120" cy="1143000"/>
          </a:xfrm>
          <a:prstGeom prst="rect">
            <a:avLst/>
          </a:prstGeom>
          <a:noFill/>
        </p:spPr>
        <p:txBody>
          <a:bodyPr wrap="square" lIns="0" rIns="0" tIns="0" bIns="0">
            <a:spAutoFit/>
          </a:bodyPr>
          <a:lstStyle/>
          <a:p>
            <a:pPr algn="l">
              <a:lnSpc>
                <a:spcPct val="120000"/>
              </a:lnSpc>
              <a:spcBef>
                <a:spcPts val="0"/>
              </a:spcBef>
              <a:spcAft>
                <a:spcPts val="400"/>
              </a:spcAft>
            </a:pPr>
            <a:r>
              <a:rPr sz="1350" b="1" i="0">
                <a:solidFill>
                  <a:srgbClr val="2E9E6B"/>
                </a:solidFill>
                <a:latin typeface="맑은 고딕"/>
                <a:ea typeface="맑은 고딕"/>
                <a:cs typeface="맑은 고딕"/>
              </a:rPr>
              <a:t>③ 강건성  </a:t>
            </a:r>
            <a:r>
              <a:rPr sz="1150" b="0" i="0">
                <a:solidFill>
                  <a:srgbClr val="1F2937"/>
                </a:solidFill>
                <a:latin typeface="맑은 고딕"/>
                <a:ea typeface="맑은 고딕"/>
                <a:cs typeface="맑은 고딕"/>
              </a:rPr>
              <a:t>말도 안 되는 정책에도 상식을 지키나?</a:t>
            </a:r>
          </a:p>
          <a:p>
            <a:pPr algn="l">
              <a:lnSpc>
                <a:spcPct val="122000"/>
              </a:lnSpc>
              <a:spcBef>
                <a:spcPts val="0"/>
              </a:spcBef>
              <a:spcAft>
                <a:spcPts val="0"/>
              </a:spcAft>
            </a:pPr>
            <a:r>
              <a:rPr sz="1100" b="0" i="0">
                <a:solidFill>
                  <a:srgbClr val="1F2937"/>
                </a:solidFill>
                <a:latin typeface="맑은 고딕"/>
                <a:ea typeface="맑은 고딕"/>
                <a:cs typeface="맑은 고딕"/>
              </a:rPr>
              <a:t>행동 벤치마크 7/7 통과 — 극단 정책 5종에서 상식 방향으로 (다다음 장)</a:t>
            </a:r>
          </a:p>
        </p:txBody>
      </p:sp>
      <p:pic>
        <p:nvPicPr>
          <p:cNvPr id="14" name="Picture 13" descr="persona_eval_viz.png"/>
          <p:cNvPicPr>
            <a:picLocks noChangeAspect="1"/>
          </p:cNvPicPr>
          <p:nvPr/>
        </p:nvPicPr>
        <p:blipFill>
          <a:blip r:embed="rId2"/>
          <a:stretch>
            <a:fillRect/>
          </a:stretch>
        </p:blipFill>
        <p:spPr>
          <a:xfrm>
            <a:off x="4476496" y="4114800"/>
            <a:ext cx="3235960" cy="224028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04 검증</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검증 ② — 사전등록 0/4, 원인은 채점 기준이었다</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16</a:t>
            </a:r>
          </a:p>
        </p:txBody>
      </p:sp>
      <p:sp>
        <p:nvSpPr>
          <p:cNvPr id="6" name="TextBox 5"/>
          <p:cNvSpPr txBox="1"/>
          <p:nvPr/>
        </p:nvSpPr>
        <p:spPr>
          <a:xfrm>
            <a:off x="548640" y="1554480"/>
            <a:ext cx="5349240" cy="2331720"/>
          </a:xfrm>
          <a:prstGeom prst="rect">
            <a:avLst/>
          </a:prstGeom>
          <a:noFill/>
        </p:spPr>
        <p:txBody>
          <a:bodyPr wrap="square" lIns="0" rIns="0" tIns="0" bIns="0">
            <a:spAutoFit/>
          </a:bodyPr>
          <a:lstStyle/>
          <a:p>
            <a:pPr algn="l">
              <a:lnSpc>
                <a:spcPct val="125000"/>
              </a:lnSpc>
              <a:spcBef>
                <a:spcPts val="0"/>
              </a:spcBef>
              <a:spcAft>
                <a:spcPts val="600"/>
              </a:spcAft>
            </a:pPr>
            <a:r>
              <a:rPr sz="1300" b="1" i="0">
                <a:solidFill>
                  <a:srgbClr val="1F3A5F"/>
                </a:solidFill>
                <a:latin typeface="맑은 고딕"/>
                <a:ea typeface="맑은 고딕"/>
                <a:cs typeface="맑은 고딕"/>
              </a:rPr>
              <a:t>실험  </a:t>
            </a:r>
            <a:r>
              <a:rPr sz="1250" b="0" i="0">
                <a:solidFill>
                  <a:srgbClr val="1F2937"/>
                </a:solidFill>
                <a:latin typeface="맑은 고딕"/>
                <a:ea typeface="맑은 고딕"/>
                <a:cs typeface="맑은 고딕"/>
              </a:rPr>
              <a:t>같은 청년월세 정책을 인물 카드 ON / OFF(익명)로 — 카드가 있을 때만 답이 자기 처지를 따라가야 함</a:t>
            </a:r>
          </a:p>
          <a:p>
            <a:pPr algn="l">
              <a:lnSpc>
                <a:spcPct val="112000"/>
              </a:lnSpc>
              <a:spcBef>
                <a:spcPts val="0"/>
              </a:spcBef>
              <a:spcAft>
                <a:spcPts val="600"/>
              </a:spcAft>
            </a:pPr>
            <a:r>
              <a:rPr sz="1300" b="1" i="0">
                <a:solidFill>
                  <a:srgbClr val="D9534F"/>
                </a:solidFill>
                <a:latin typeface="맑은 고딕"/>
                <a:ea typeface="맑은 고딕"/>
                <a:cs typeface="맑은 고딕"/>
              </a:rPr>
              <a:t>결과  </a:t>
            </a:r>
            <a:r>
              <a:rPr sz="1250" b="1" i="0">
                <a:solidFill>
                  <a:srgbClr val="1F2937"/>
                </a:solidFill>
                <a:latin typeface="맑은 고딕"/>
                <a:ea typeface="맑은 고딕"/>
                <a:cs typeface="맑은 고딕"/>
              </a:rPr>
              <a:t>사전등록 점수 0/4 탈락 — 그대로 기록</a:t>
            </a:r>
          </a:p>
          <a:p>
            <a:pPr algn="l">
              <a:lnSpc>
                <a:spcPct val="128000"/>
              </a:lnSpc>
              <a:spcBef>
                <a:spcPts val="0"/>
              </a:spcBef>
              <a:spcAft>
                <a:spcPts val="0"/>
              </a:spcAft>
            </a:pPr>
            <a:r>
              <a:rPr sz="1300" b="1" i="0">
                <a:solidFill>
                  <a:srgbClr val="2D6CDF"/>
                </a:solidFill>
                <a:latin typeface="맑은 고딕"/>
                <a:ea typeface="맑은 고딕"/>
                <a:cs typeface="맑은 고딕"/>
              </a:rPr>
              <a:t>분석  </a:t>
            </a:r>
            <a:r>
              <a:rPr sz="1250" b="0" i="0">
                <a:solidFill>
                  <a:srgbClr val="1F2937"/>
                </a:solidFill>
                <a:latin typeface="맑은 고딕"/>
                <a:ea typeface="맑은 고딕"/>
                <a:cs typeface="맑은 고딕"/>
              </a:rPr>
              <a:t>우리 채점 기준(나이·소득)이 ‘대상’이라 한 10명 전원이 자기를 비대상으로 정확 판정 — 원문의 숨은 요건(별도거주·무주택·소득기준)까지 읽었다. 실제 청년월세도 신청자 2/3가 요건 탈락.</a:t>
            </a:r>
          </a:p>
        </p:txBody>
      </p:sp>
      <p:sp>
        <p:nvSpPr>
          <p:cNvPr id="7" name="Rounded Rectangle 6"/>
          <p:cNvSpPr/>
          <p:nvPr/>
        </p:nvSpPr>
        <p:spPr>
          <a:xfrm>
            <a:off x="6126480" y="1554480"/>
            <a:ext cx="5513832" cy="2331720"/>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8" name="TextBox 7"/>
          <p:cNvSpPr txBox="1"/>
          <p:nvPr/>
        </p:nvSpPr>
        <p:spPr>
          <a:xfrm>
            <a:off x="6355080" y="1700784"/>
            <a:ext cx="5074920" cy="2057400"/>
          </a:xfrm>
          <a:prstGeom prst="rect">
            <a:avLst/>
          </a:prstGeom>
          <a:noFill/>
        </p:spPr>
        <p:txBody>
          <a:bodyPr wrap="square" lIns="0" rIns="0" tIns="0" bIns="0">
            <a:spAutoFit/>
          </a:bodyPr>
          <a:lstStyle/>
          <a:p>
            <a:pPr algn="l">
              <a:lnSpc>
                <a:spcPct val="112000"/>
              </a:lnSpc>
              <a:spcBef>
                <a:spcPts val="0"/>
              </a:spcBef>
              <a:spcAft>
                <a:spcPts val="600"/>
              </a:spcAft>
            </a:pPr>
            <a:r>
              <a:rPr sz="1300" b="1" i="0">
                <a:solidFill>
                  <a:srgbClr val="1F3A5F"/>
                </a:solidFill>
                <a:latin typeface="맑은 고딕"/>
                <a:ea typeface="맑은 고딕"/>
                <a:cs typeface="맑은 고딕"/>
              </a:rPr>
              <a:t>시민들이 직접 말한 탈락 사유</a:t>
            </a:r>
          </a:p>
          <a:p>
            <a:pPr algn="l">
              <a:lnSpc>
                <a:spcPct val="120000"/>
              </a:lnSpc>
              <a:spcBef>
                <a:spcPts val="0"/>
              </a:spcBef>
              <a:spcAft>
                <a:spcPts val="500"/>
              </a:spcAft>
            </a:pPr>
            <a:r>
              <a:rPr sz="1150" b="1" i="0">
                <a:solidFill>
                  <a:srgbClr val="2D6CDF"/>
                </a:solidFill>
                <a:latin typeface="맑은 고딕"/>
                <a:ea typeface="맑은 고딕"/>
                <a:cs typeface="맑은 고딕"/>
              </a:rPr>
              <a:t>천명준(19)  </a:t>
            </a:r>
            <a:r>
              <a:rPr sz="1150" b="0" i="0">
                <a:solidFill>
                  <a:srgbClr val="1F2937"/>
                </a:solidFill>
                <a:latin typeface="맑은 고딕"/>
                <a:ea typeface="맑은 고딕"/>
                <a:cs typeface="맑은 고딕"/>
              </a:rPr>
              <a:t>“부모님이랑 따로 살아야 주는 거잖아요. 저는 해당이 안 될 텐데…”</a:t>
            </a:r>
          </a:p>
          <a:p>
            <a:pPr algn="l">
              <a:lnSpc>
                <a:spcPct val="120000"/>
              </a:lnSpc>
              <a:spcBef>
                <a:spcPts val="0"/>
              </a:spcBef>
              <a:spcAft>
                <a:spcPts val="500"/>
              </a:spcAft>
            </a:pPr>
            <a:r>
              <a:rPr sz="1150" b="1" i="0">
                <a:solidFill>
                  <a:srgbClr val="2D6CDF"/>
                </a:solidFill>
                <a:latin typeface="맑은 고딕"/>
                <a:ea typeface="맑은 고딕"/>
                <a:cs typeface="맑은 고딕"/>
              </a:rPr>
              <a:t>심석현(26)  </a:t>
            </a:r>
            <a:r>
              <a:rPr sz="1150" b="0" i="0">
                <a:solidFill>
                  <a:srgbClr val="1F2937"/>
                </a:solidFill>
                <a:latin typeface="맑은 고딕"/>
                <a:ea typeface="맑은 고딕"/>
                <a:cs typeface="맑은 고딕"/>
              </a:rPr>
              <a:t>“기사 끝에 보니까 주택 소유자는 제외라고 딱 적혀 있어요.”</a:t>
            </a:r>
          </a:p>
          <a:p>
            <a:pPr algn="l">
              <a:lnSpc>
                <a:spcPct val="120000"/>
              </a:lnSpc>
              <a:spcBef>
                <a:spcPts val="0"/>
              </a:spcBef>
              <a:spcAft>
                <a:spcPts val="0"/>
              </a:spcAft>
            </a:pPr>
            <a:r>
              <a:rPr sz="1150" b="1" i="0">
                <a:solidFill>
                  <a:srgbClr val="2D6CDF"/>
                </a:solidFill>
                <a:latin typeface="맑은 고딕"/>
                <a:ea typeface="맑은 고딕"/>
                <a:cs typeface="맑은 고딕"/>
              </a:rPr>
              <a:t>조유정(31)  </a:t>
            </a:r>
            <a:r>
              <a:rPr sz="1150" b="0" i="0">
                <a:solidFill>
                  <a:srgbClr val="1F2937"/>
                </a:solidFill>
                <a:latin typeface="맑은 고딕"/>
                <a:ea typeface="맑은 고딕"/>
                <a:cs typeface="맑은 고딕"/>
              </a:rPr>
              <a:t>“중위소득 60%면 생각보다 낮거든요. 저는 기준에서 걸려요.”</a:t>
            </a:r>
          </a:p>
        </p:txBody>
      </p:sp>
      <p:pic>
        <p:nvPicPr>
          <p:cNvPr id="9" name="Picture 8" descr="ablation_shift_viz.png"/>
          <p:cNvPicPr>
            <a:picLocks noChangeAspect="1"/>
          </p:cNvPicPr>
          <p:nvPr/>
        </p:nvPicPr>
        <p:blipFill>
          <a:blip r:embed="rId2"/>
          <a:stretch>
            <a:fillRect/>
          </a:stretch>
        </p:blipFill>
        <p:spPr>
          <a:xfrm>
            <a:off x="2528316" y="3977639"/>
            <a:ext cx="7132320" cy="237744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04 검증</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검증 ③ — 행동 벤치마크: 가상 정책 5종, 7/7 통과</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17</a:t>
            </a:r>
          </a:p>
        </p:txBody>
      </p:sp>
      <p:sp>
        <p:nvSpPr>
          <p:cNvPr id="6" name="TextBox 5"/>
          <p:cNvSpPr txBox="1"/>
          <p:nvPr/>
        </p:nvSpPr>
        <p:spPr>
          <a:xfrm>
            <a:off x="548640" y="1517904"/>
            <a:ext cx="5349240" cy="2377440"/>
          </a:xfrm>
          <a:prstGeom prst="rect">
            <a:avLst/>
          </a:prstGeom>
          <a:noFill/>
        </p:spPr>
        <p:txBody>
          <a:bodyPr wrap="square" lIns="0" rIns="0" tIns="0" bIns="0">
            <a:spAutoFit/>
          </a:bodyPr>
          <a:lstStyle/>
          <a:p>
            <a:pPr algn="l">
              <a:lnSpc>
                <a:spcPct val="112000"/>
              </a:lnSpc>
              <a:spcBef>
                <a:spcPts val="0"/>
              </a:spcBef>
              <a:spcAft>
                <a:spcPts val="400"/>
              </a:spcAft>
            </a:pPr>
            <a:r>
              <a:rPr sz="1300" b="1" i="0">
                <a:solidFill>
                  <a:srgbClr val="1F3A5F"/>
                </a:solidFill>
                <a:latin typeface="맑은 고딕"/>
                <a:ea typeface="맑은 고딕"/>
                <a:cs typeface="맑은 고딕"/>
              </a:rPr>
              <a:t>가상 정책 5종 (일부러 부조리하게)  </a:t>
            </a:r>
          </a:p>
          <a:p>
            <a:pPr algn="l">
              <a:lnSpc>
                <a:spcPct val="118000"/>
              </a:lnSpc>
              <a:spcBef>
                <a:spcPts val="0"/>
              </a:spcBef>
              <a:spcAft>
                <a:spcPts val="400"/>
              </a:spcAft>
            </a:pPr>
            <a:r>
              <a:rPr sz="1180" b="1" i="0">
                <a:solidFill>
                  <a:srgbClr val="2D6CDF"/>
                </a:solidFill>
                <a:latin typeface="맑은 고딕"/>
                <a:ea typeface="맑은 고딕"/>
                <a:cs typeface="맑은 고딕"/>
              </a:rPr>
              <a:t>•  </a:t>
            </a:r>
            <a:r>
              <a:rPr sz="1180" b="0" i="0">
                <a:solidFill>
                  <a:srgbClr val="1F2937"/>
                </a:solidFill>
                <a:latin typeface="맑은 고딕"/>
                <a:ea typeface="맑은 고딕"/>
                <a:cs typeface="맑은 고딕"/>
              </a:rPr>
              <a:t>주 3.5일 근무제 — 직업 축 / 반려묘 전 국민 보급 — 순효용 축</a:t>
            </a:r>
          </a:p>
          <a:p>
            <a:pPr algn="l">
              <a:lnSpc>
                <a:spcPct val="118000"/>
              </a:lnSpc>
              <a:spcBef>
                <a:spcPts val="0"/>
              </a:spcBef>
              <a:spcAft>
                <a:spcPts val="400"/>
              </a:spcAft>
            </a:pPr>
            <a:r>
              <a:rPr sz="1180" b="1" i="0">
                <a:solidFill>
                  <a:srgbClr val="2D6CDF"/>
                </a:solidFill>
                <a:latin typeface="맑은 고딕"/>
                <a:ea typeface="맑은 고딕"/>
                <a:cs typeface="맑은 고딕"/>
              </a:rPr>
              <a:t>•  </a:t>
            </a:r>
            <a:r>
              <a:rPr sz="1180" b="0" i="0">
                <a:solidFill>
                  <a:srgbClr val="1F2937"/>
                </a:solidFill>
                <a:latin typeface="맑은 고딕"/>
                <a:ea typeface="맑은 고딕"/>
                <a:cs typeface="맑은 고딕"/>
              </a:rPr>
              <a:t>경로 무임승차 폐지 — 세대 축 / 남 +10만·여 −10만 — 성별 축</a:t>
            </a:r>
          </a:p>
          <a:p>
            <a:pPr algn="l">
              <a:lnSpc>
                <a:spcPct val="118000"/>
              </a:lnSpc>
              <a:spcBef>
                <a:spcPts val="0"/>
              </a:spcBef>
              <a:spcAft>
                <a:spcPts val="400"/>
              </a:spcAft>
            </a:pPr>
            <a:r>
              <a:rPr sz="1180" b="1" i="0">
                <a:solidFill>
                  <a:srgbClr val="2D6CDF"/>
                </a:solidFill>
                <a:latin typeface="맑은 고딕"/>
                <a:ea typeface="맑은 고딕"/>
                <a:cs typeface="맑은 고딕"/>
              </a:rPr>
              <a:t>•  </a:t>
            </a:r>
            <a:r>
              <a:rPr sz="1180" b="0" i="0">
                <a:solidFill>
                  <a:srgbClr val="1F2937"/>
                </a:solidFill>
                <a:latin typeface="맑은 고딕"/>
                <a:ea typeface="맑은 고딕"/>
                <a:cs typeface="맑은 고딕"/>
              </a:rPr>
              <a:t>고소득자 의무 기부 — 소득 축 (시민이 자기 형편을 자가판정)</a:t>
            </a:r>
          </a:p>
          <a:p>
            <a:pPr algn="l">
              <a:lnSpc>
                <a:spcPct val="112000"/>
              </a:lnSpc>
              <a:spcBef>
                <a:spcPts val="0"/>
              </a:spcBef>
              <a:spcAft>
                <a:spcPts val="600"/>
              </a:spcAft>
            </a:pPr>
            <a:r>
              <a:rPr sz="1400" b="1" i="0">
                <a:solidFill>
                  <a:srgbClr val="2E9E6B"/>
                </a:solidFill>
                <a:latin typeface="맑은 고딕"/>
                <a:ea typeface="맑은 고딕"/>
                <a:cs typeface="맑은 고딕"/>
              </a:rPr>
              <a:t>사전등록 체크 7/7 통과</a:t>
            </a:r>
            <a:r>
              <a:rPr sz="1200" b="0" i="0">
                <a:solidFill>
                  <a:srgbClr val="1F2937"/>
                </a:solidFill>
                <a:latin typeface="맑은 고딕"/>
                <a:ea typeface="맑은 고딕"/>
                <a:cs typeface="맑은 고딕"/>
              </a:rPr>
              <a:t>  — 갈등이 매번 상식적인 집단 축으로 갈라짐</a:t>
            </a:r>
          </a:p>
          <a:p>
            <a:pPr algn="l">
              <a:lnSpc>
                <a:spcPct val="125000"/>
              </a:lnSpc>
              <a:spcBef>
                <a:spcPts val="0"/>
              </a:spcBef>
              <a:spcAft>
                <a:spcPts val="400"/>
              </a:spcAft>
            </a:pPr>
            <a:r>
              <a:rPr sz="1250" b="1" i="0">
                <a:solidFill>
                  <a:srgbClr val="E8902A"/>
                </a:solidFill>
                <a:latin typeface="맑은 고딕"/>
                <a:ea typeface="맑은 고딕"/>
                <a:cs typeface="맑은 고딕"/>
              </a:rPr>
              <a:t>사례 ①  </a:t>
            </a:r>
            <a:r>
              <a:rPr sz="1200" b="0" i="0">
                <a:solidFill>
                  <a:srgbClr val="1F2937"/>
                </a:solidFill>
                <a:latin typeface="맑은 고딕"/>
                <a:ea typeface="맑은 고딕"/>
                <a:cs typeface="맑은 고딕"/>
              </a:rPr>
              <a:t>반려묘 유일 찬성자 = 페르소나에 ‘펫푸드 창업 꿈’이 있는 신민재 — 입장이 인구통계가 아니라 서사와 정렬</a:t>
            </a:r>
          </a:p>
          <a:p>
            <a:pPr algn="l">
              <a:lnSpc>
                <a:spcPct val="125000"/>
              </a:lnSpc>
              <a:spcBef>
                <a:spcPts val="0"/>
              </a:spcBef>
              <a:spcAft>
                <a:spcPts val="0"/>
              </a:spcAft>
            </a:pPr>
            <a:r>
              <a:rPr sz="1250" b="1" i="0">
                <a:solidFill>
                  <a:srgbClr val="E8902A"/>
                </a:solidFill>
                <a:latin typeface="맑은 고딕"/>
                <a:ea typeface="맑은 고딕"/>
                <a:cs typeface="맑은 고딕"/>
              </a:rPr>
              <a:t>사례 ②  </a:t>
            </a:r>
            <a:r>
              <a:rPr sz="1200" b="0" i="0">
                <a:solidFill>
                  <a:srgbClr val="1F2937"/>
                </a:solidFill>
                <a:latin typeface="맑은 고딕"/>
                <a:ea typeface="맑은 고딕"/>
                <a:cs typeface="맑은 고딕"/>
              </a:rPr>
              <a:t>남성에게 돈을 주는 정책에 남성 23%가 반대 — “내가 받고 아내가 내면 우리 집은 0원” (가구 단위 공정성)</a:t>
            </a:r>
          </a:p>
        </p:txBody>
      </p:sp>
      <p:pic>
        <p:nvPicPr>
          <p:cNvPr id="7" name="Picture 6" descr="behavior_bench_viz.png"/>
          <p:cNvPicPr>
            <a:picLocks noChangeAspect="1"/>
          </p:cNvPicPr>
          <p:nvPr/>
        </p:nvPicPr>
        <p:blipFill>
          <a:blip r:embed="rId2"/>
          <a:stretch>
            <a:fillRect/>
          </a:stretch>
        </p:blipFill>
        <p:spPr>
          <a:xfrm>
            <a:off x="6035040" y="2539274"/>
            <a:ext cx="5605272" cy="1779451"/>
          </a:xfrm>
          <a:prstGeom prst="rect">
            <a:avLst/>
          </a:prstGeom>
        </p:spPr>
      </p:pic>
      <p:sp>
        <p:nvSpPr>
          <p:cNvPr id="8" name="Rounded Rectangle 7"/>
          <p:cNvSpPr/>
          <p:nvPr/>
        </p:nvSpPr>
        <p:spPr>
          <a:xfrm>
            <a:off x="6035040" y="5394960"/>
            <a:ext cx="5605272" cy="77724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9" name="TextBox 8"/>
          <p:cNvSpPr txBox="1"/>
          <p:nvPr/>
        </p:nvSpPr>
        <p:spPr>
          <a:xfrm>
            <a:off x="6217920" y="5486400"/>
            <a:ext cx="5257800" cy="594360"/>
          </a:xfrm>
          <a:prstGeom prst="rect">
            <a:avLst/>
          </a:prstGeom>
          <a:noFill/>
        </p:spPr>
        <p:txBody>
          <a:bodyPr wrap="square" lIns="0" rIns="0" tIns="0" bIns="0" anchor="ctr">
            <a:spAutoFit/>
          </a:bodyPr>
          <a:lstStyle/>
          <a:p>
            <a:pPr algn="ctr">
              <a:lnSpc>
                <a:spcPct val="112000"/>
              </a:lnSpc>
              <a:spcBef>
                <a:spcPts val="0"/>
              </a:spcBef>
              <a:spcAft>
                <a:spcPts val="0"/>
              </a:spcAft>
            </a:pPr>
            <a:r>
              <a:rPr sz="1150" b="1" i="0">
                <a:solidFill>
                  <a:srgbClr val="2E9E6B"/>
                </a:solidFill>
                <a:latin typeface="맑은 고딕"/>
                <a:ea typeface="맑은 고딕"/>
                <a:cs typeface="맑은 고딕"/>
              </a:rPr>
              <a:t>이 5종은 데모 녹화본 — 발표 자리에서 키·네트워크 없이 그대로 재생 시연 가능</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05 확장</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게시판 RAG — 문서 근거로 답하는 정책 문의 게시판</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18</a:t>
            </a:r>
          </a:p>
        </p:txBody>
      </p:sp>
      <p:sp>
        <p:nvSpPr>
          <p:cNvPr id="6" name="TextBox 5"/>
          <p:cNvSpPr txBox="1"/>
          <p:nvPr/>
        </p:nvSpPr>
        <p:spPr>
          <a:xfrm>
            <a:off x="548640" y="1645920"/>
            <a:ext cx="5212080" cy="4480560"/>
          </a:xfrm>
          <a:prstGeom prst="rect">
            <a:avLst/>
          </a:prstGeom>
          <a:noFill/>
        </p:spPr>
        <p:txBody>
          <a:bodyPr wrap="square" lIns="0" rIns="0" tIns="0" bIns="0">
            <a:spAutoFit/>
          </a:bodyPr>
          <a:lstStyle/>
          <a:p>
            <a:pPr algn="l">
              <a:lnSpc>
                <a:spcPct val="112000"/>
              </a:lnSpc>
              <a:spcBef>
                <a:spcPts val="0"/>
              </a:spcBef>
              <a:spcAft>
                <a:spcPts val="800"/>
              </a:spcAft>
            </a:pPr>
            <a:r>
              <a:rPr sz="1550" b="1" i="0">
                <a:solidFill>
                  <a:srgbClr val="1F3A5F"/>
                </a:solidFill>
                <a:latin typeface="맑은 고딕"/>
                <a:ea typeface="맑은 고딕"/>
                <a:cs typeface="맑은 고딕"/>
              </a:rPr>
              <a:t>정책 문의 게시판 + 문서 근거 답변</a:t>
            </a:r>
          </a:p>
          <a:p>
            <a:pPr algn="l">
              <a:lnSpc>
                <a:spcPct val="118000"/>
              </a:lnSpc>
              <a:spcBef>
                <a:spcPts val="0"/>
              </a:spcBef>
              <a:spcAft>
                <a:spcPts val="700"/>
              </a:spcAft>
            </a:pPr>
            <a:r>
              <a:rPr sz="1250" b="1" i="0">
                <a:solidFill>
                  <a:srgbClr val="2D6CDF"/>
                </a:solidFill>
                <a:latin typeface="맑은 고딕"/>
                <a:ea typeface="맑은 고딕"/>
                <a:cs typeface="맑은 고딕"/>
              </a:rPr>
              <a:t>•  </a:t>
            </a:r>
            <a:r>
              <a:rPr sz="1250" b="1" i="0">
                <a:solidFill>
                  <a:srgbClr val="1F2937"/>
                </a:solidFill>
                <a:latin typeface="맑은 고딕"/>
                <a:ea typeface="맑은 고딕"/>
                <a:cs typeface="맑은 고딕"/>
              </a:rPr>
              <a:t>질문 → 검색된 근거 ‘안에서만’ 답변</a:t>
            </a:r>
            <a:r>
              <a:rPr sz="1250" b="0" i="0">
                <a:solidFill>
                  <a:srgbClr val="6B7280"/>
                </a:solidFill>
                <a:latin typeface="맑은 고딕"/>
                <a:ea typeface="맑은 고딕"/>
                <a:cs typeface="맑은 고딕"/>
              </a:rPr>
              <a:t>  (환각 억제)</a:t>
            </a:r>
          </a:p>
          <a:p>
            <a:pPr algn="l">
              <a:lnSpc>
                <a:spcPct val="118000"/>
              </a:lnSpc>
              <a:spcBef>
                <a:spcPts val="0"/>
              </a:spcBef>
              <a:spcAft>
                <a:spcPts val="700"/>
              </a:spcAft>
            </a:pPr>
            <a:r>
              <a:rPr sz="1250" b="1" i="0">
                <a:solidFill>
                  <a:srgbClr val="2D6CDF"/>
                </a:solidFill>
                <a:latin typeface="맑은 고딕"/>
                <a:ea typeface="맑은 고딕"/>
                <a:cs typeface="맑은 고딕"/>
              </a:rPr>
              <a:t>•  </a:t>
            </a:r>
            <a:r>
              <a:rPr sz="1250" b="0" i="0">
                <a:solidFill>
                  <a:srgbClr val="1F2937"/>
                </a:solidFill>
                <a:latin typeface="맑은 고딕"/>
                <a:ea typeface="맑은 고딕"/>
                <a:cs typeface="맑은 고딕"/>
              </a:rPr>
              <a:t>현재 정책은 항상 기본 근거 + PDF/TXT/MD 업로드로 문서 확장</a:t>
            </a:r>
          </a:p>
          <a:p>
            <a:pPr algn="l">
              <a:lnSpc>
                <a:spcPct val="118000"/>
              </a:lnSpc>
              <a:spcBef>
                <a:spcPts val="0"/>
              </a:spcBef>
              <a:spcAft>
                <a:spcPts val="700"/>
              </a:spcAft>
            </a:pPr>
            <a:r>
              <a:rPr sz="1250" b="1" i="0">
                <a:solidFill>
                  <a:srgbClr val="2D6CDF"/>
                </a:solidFill>
                <a:latin typeface="맑은 고딕"/>
                <a:ea typeface="맑은 고딕"/>
                <a:cs typeface="맑은 고딕"/>
              </a:rPr>
              <a:t>•  </a:t>
            </a:r>
            <a:r>
              <a:rPr sz="1250" b="0" i="0">
                <a:solidFill>
                  <a:srgbClr val="1F2937"/>
                </a:solidFill>
                <a:latin typeface="맑은 고딕"/>
                <a:ea typeface="맑은 고딕"/>
                <a:cs typeface="맑은 고딕"/>
              </a:rPr>
              <a:t>Chroma 벡터 검색 + OpenAI 임베딩 → 근거·품질지표 함께 표시</a:t>
            </a:r>
          </a:p>
          <a:p>
            <a:pPr algn="l">
              <a:lnSpc>
                <a:spcPct val="118000"/>
              </a:lnSpc>
              <a:spcBef>
                <a:spcPts val="0"/>
              </a:spcBef>
              <a:spcAft>
                <a:spcPts val="700"/>
              </a:spcAft>
            </a:pPr>
            <a:r>
              <a:rPr sz="1250" b="1" i="0">
                <a:solidFill>
                  <a:srgbClr val="2D6CDF"/>
                </a:solidFill>
                <a:latin typeface="맑은 고딕"/>
                <a:ea typeface="맑은 고딕"/>
                <a:cs typeface="맑은 고딕"/>
              </a:rPr>
              <a:t>•  </a:t>
            </a:r>
            <a:r>
              <a:rPr sz="1250" b="0" i="0">
                <a:solidFill>
                  <a:srgbClr val="1F2937"/>
                </a:solidFill>
                <a:latin typeface="맑은 고딕"/>
                <a:ea typeface="맑은 고딕"/>
                <a:cs typeface="맑은 고딕"/>
              </a:rPr>
              <a:t>API 키가 없으면 추출식 폴백 — 데모는 항상 동작</a:t>
            </a:r>
          </a:p>
          <a:p>
            <a:pPr algn="l">
              <a:lnSpc>
                <a:spcPct val="112000"/>
              </a:lnSpc>
              <a:spcBef>
                <a:spcPts val="0"/>
              </a:spcBef>
              <a:spcAft>
                <a:spcPts val="200"/>
              </a:spcAft>
            </a:pPr>
            <a:r>
              <a:rPr sz="400" b="0" i="0">
                <a:solidFill>
                  <a:srgbClr val="1F2937"/>
                </a:solidFill>
                <a:latin typeface="맑은 고딕"/>
                <a:ea typeface="맑은 고딕"/>
                <a:cs typeface="맑은 고딕"/>
              </a:rPr>
              <a:t/>
            </a:r>
          </a:p>
        </p:txBody>
      </p:sp>
      <p:sp>
        <p:nvSpPr>
          <p:cNvPr id="7" name="Rounded Rectangle 6"/>
          <p:cNvSpPr/>
          <p:nvPr/>
        </p:nvSpPr>
        <p:spPr>
          <a:xfrm>
            <a:off x="548640" y="4297680"/>
            <a:ext cx="5212080" cy="178308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8" name="TextBox 7"/>
          <p:cNvSpPr txBox="1"/>
          <p:nvPr/>
        </p:nvSpPr>
        <p:spPr>
          <a:xfrm>
            <a:off x="777240" y="4462272"/>
            <a:ext cx="4754880" cy="1463040"/>
          </a:xfrm>
          <a:prstGeom prst="rect">
            <a:avLst/>
          </a:prstGeom>
          <a:noFill/>
        </p:spPr>
        <p:txBody>
          <a:bodyPr wrap="square" lIns="0" rIns="0" tIns="0" bIns="0">
            <a:spAutoFit/>
          </a:bodyPr>
          <a:lstStyle/>
          <a:p>
            <a:pPr algn="l">
              <a:lnSpc>
                <a:spcPct val="112000"/>
              </a:lnSpc>
              <a:spcBef>
                <a:spcPts val="0"/>
              </a:spcBef>
              <a:spcAft>
                <a:spcPts val="500"/>
              </a:spcAft>
            </a:pPr>
            <a:r>
              <a:rPr sz="1350" b="1" i="0">
                <a:solidFill>
                  <a:srgbClr val="2E9E6B"/>
                </a:solidFill>
                <a:latin typeface="맑은 고딕"/>
                <a:ea typeface="맑은 고딕"/>
                <a:cs typeface="맑은 고딕"/>
              </a:rPr>
              <a:t>협업 방식 — 자리만 비워두고 끼워 넣기</a:t>
            </a:r>
          </a:p>
          <a:p>
            <a:pPr algn="l">
              <a:lnSpc>
                <a:spcPct val="130000"/>
              </a:lnSpc>
              <a:spcBef>
                <a:spcPts val="0"/>
              </a:spcBef>
              <a:spcAft>
                <a:spcPts val="0"/>
              </a:spcAft>
            </a:pPr>
            <a:r>
              <a:rPr sz="1180" b="0" i="0">
                <a:solidFill>
                  <a:srgbClr val="1F2937"/>
                </a:solidFill>
                <a:latin typeface="맑은 고딕"/>
                <a:ea typeface="맑은 고딕"/>
                <a:cs typeface="맑은 고딕"/>
              </a:rPr>
              <a:t>본체에는 끼울 자리와 반환 계약만 미리 설계해 두고, 팀원이 독립 패키지로 RAG 엔진을 구현해 마지막에 끼워 넣었다. 모듈 경계를 지킨 덕에 본체는 한 줄도 깨지지 않았다.</a:t>
            </a:r>
          </a:p>
        </p:txBody>
      </p:sp>
      <p:sp>
        <p:nvSpPr>
          <p:cNvPr id="9" name="Rounded Rectangle 8"/>
          <p:cNvSpPr/>
          <p:nvPr/>
        </p:nvSpPr>
        <p:spPr>
          <a:xfrm>
            <a:off x="6035040" y="1645920"/>
            <a:ext cx="5605272" cy="4434840"/>
          </a:xfrm>
          <a:prstGeom prst="roundRect">
            <a:avLst>
              <a:gd name="adj" fmla="val 4000"/>
            </a:avLst>
          </a:prstGeom>
          <a:solidFill>
            <a:srgbClr val="F1F3F7"/>
          </a:solidFill>
          <a:ln w="1524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200"/>
              </a:spcAft>
            </a:pPr>
            <a:r>
              <a:rPr sz="1400" b="1" i="0">
                <a:solidFill>
                  <a:srgbClr val="6B7280"/>
                </a:solidFill>
                <a:latin typeface="맑은 고딕"/>
                <a:ea typeface="맑은 고딕"/>
                <a:cs typeface="맑은 고딕"/>
              </a:rPr>
              <a:t>📸 ‘게시판’ 탭 캡처</a:t>
            </a:r>
          </a:p>
          <a:p>
            <a:pPr algn="ctr">
              <a:lnSpc>
                <a:spcPct val="112000"/>
              </a:lnSpc>
              <a:spcBef>
                <a:spcPts val="0"/>
              </a:spcBef>
              <a:spcAft>
                <a:spcPts val="0"/>
              </a:spcAft>
            </a:pPr>
            <a:r>
              <a:rPr sz="1000" b="0" i="0">
                <a:solidFill>
                  <a:srgbClr val="9AA5B1"/>
                </a:solidFill>
                <a:latin typeface="맑은 고딕"/>
                <a:ea typeface="맑은 고딕"/>
                <a:cs typeface="맑은 고딕"/>
              </a:rPr>
              <a:t>질문 → 답변 + 📎근거 + 품질지표 표가 보이는 화면 추천</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05 확장</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미리마을 — 시민이 살아가는 마을 (Generative Agents)</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19</a:t>
            </a:r>
          </a:p>
        </p:txBody>
      </p:sp>
      <p:sp>
        <p:nvSpPr>
          <p:cNvPr id="6" name="TextBox 5"/>
          <p:cNvSpPr txBox="1"/>
          <p:nvPr/>
        </p:nvSpPr>
        <p:spPr>
          <a:xfrm>
            <a:off x="548640" y="1600200"/>
            <a:ext cx="5577840" cy="2834640"/>
          </a:xfrm>
          <a:prstGeom prst="rect">
            <a:avLst/>
          </a:prstGeom>
          <a:noFill/>
        </p:spPr>
        <p:txBody>
          <a:bodyPr wrap="square" lIns="0" rIns="0" tIns="0" bIns="0">
            <a:spAutoFit/>
          </a:bodyPr>
          <a:lstStyle/>
          <a:p>
            <a:pPr algn="l">
              <a:lnSpc>
                <a:spcPct val="125000"/>
              </a:lnSpc>
              <a:spcBef>
                <a:spcPts val="0"/>
              </a:spcBef>
              <a:spcAft>
                <a:spcPts val="800"/>
              </a:spcAft>
            </a:pPr>
            <a:r>
              <a:rPr sz="1350" b="1" i="0">
                <a:solidFill>
                  <a:srgbClr val="2D6CDF"/>
                </a:solidFill>
                <a:latin typeface="맑은 고딕"/>
                <a:ea typeface="맑은 고딕"/>
                <a:cs typeface="맑은 고딕"/>
              </a:rPr>
              <a:t>Park et al. (2023) </a:t>
            </a:r>
            <a:r>
              <a:rPr sz="1350" b="0" i="0">
                <a:solidFill>
                  <a:srgbClr val="1F2937"/>
                </a:solidFill>
                <a:latin typeface="맑은 고딕"/>
                <a:ea typeface="맑은 고딕"/>
                <a:cs typeface="맑은 고딕"/>
              </a:rPr>
              <a:t>의 원형 — 에이전트가 공간에서 자기 스케줄대로 살아가는 마을</a:t>
            </a:r>
          </a:p>
          <a:p>
            <a:pPr algn="l">
              <a:lnSpc>
                <a:spcPct val="118000"/>
              </a:lnSpc>
              <a:spcBef>
                <a:spcPts val="0"/>
              </a:spcBef>
              <a:spcAft>
                <a:spcPts val="550"/>
              </a:spcAft>
            </a:pPr>
            <a:r>
              <a:rPr sz="1200" b="1" i="0">
                <a:solidFill>
                  <a:srgbClr val="2D6CDF"/>
                </a:solidFill>
                <a:latin typeface="맑은 고딕"/>
                <a:ea typeface="맑은 고딕"/>
                <a:cs typeface="맑은 고딕"/>
              </a:rPr>
              <a:t>•  </a:t>
            </a:r>
            <a:r>
              <a:rPr sz="1200" b="1" i="0">
                <a:solidFill>
                  <a:srgbClr val="1F2937"/>
                </a:solidFill>
                <a:latin typeface="맑은 고딕"/>
                <a:ea typeface="맑은 고딕"/>
                <a:cs typeface="맑은 고딕"/>
              </a:rPr>
              <a:t>10명 손제작 고정 캐스트</a:t>
            </a:r>
            <a:r>
              <a:rPr sz="1200" b="0" i="0">
                <a:solidFill>
                  <a:srgbClr val="1F2937"/>
                </a:solidFill>
                <a:latin typeface="맑은 고딕"/>
                <a:ea typeface="맑은 고딕"/>
                <a:cs typeface="맑은 고딕"/>
              </a:rPr>
              <a:t> — 무작위 통계 샘플엔 ‘관계’가 없다. 전파 무대엔 서로 아는 마을이 필요 (축 A·B와 목적이 다른 의도된 선택)</a:t>
            </a:r>
          </a:p>
          <a:p>
            <a:pPr algn="l">
              <a:lnSpc>
                <a:spcPct val="118000"/>
              </a:lnSpc>
              <a:spcBef>
                <a:spcPts val="0"/>
              </a:spcBef>
              <a:spcAft>
                <a:spcPts val="550"/>
              </a:spcAft>
            </a:pPr>
            <a:r>
              <a:rPr sz="1200" b="1" i="0">
                <a:solidFill>
                  <a:srgbClr val="2D6CDF"/>
                </a:solidFill>
                <a:latin typeface="맑은 고딕"/>
                <a:ea typeface="맑은 고딕"/>
                <a:cs typeface="맑은 고딕"/>
              </a:rPr>
              <a:t>•  </a:t>
            </a:r>
            <a:r>
              <a:rPr sz="1200" b="0" i="0">
                <a:solidFill>
                  <a:srgbClr val="1F2937"/>
                </a:solidFill>
                <a:latin typeface="맑은 고딕"/>
                <a:ea typeface="맑은 고딕"/>
                <a:cs typeface="맑은 고딕"/>
              </a:rPr>
              <a:t>LLM이 각자의 하루 일과(시간 → 장소 → 행동)를 생성</a:t>
            </a:r>
          </a:p>
          <a:p>
            <a:pPr algn="l">
              <a:lnSpc>
                <a:spcPct val="118000"/>
              </a:lnSpc>
              <a:spcBef>
                <a:spcPts val="0"/>
              </a:spcBef>
              <a:spcAft>
                <a:spcPts val="550"/>
              </a:spcAft>
            </a:pPr>
            <a:r>
              <a:rPr sz="1200" b="1" i="0">
                <a:solidFill>
                  <a:srgbClr val="2D6CDF"/>
                </a:solidFill>
                <a:latin typeface="맑은 고딕"/>
                <a:ea typeface="맑은 고딕"/>
                <a:cs typeface="맑은 고딕"/>
              </a:rPr>
              <a:t>•  </a:t>
            </a:r>
            <a:r>
              <a:rPr sz="1200" b="1" i="0">
                <a:solidFill>
                  <a:srgbClr val="1F2937"/>
                </a:solidFill>
                <a:latin typeface="맑은 고딕"/>
                <a:ea typeface="맑은 고딕"/>
                <a:cs typeface="맑은 고딕"/>
              </a:rPr>
              <a:t>녹화 후 재생 — 하루를 미리 생성, 브라우저는 LLM 0콜로 재생</a:t>
            </a:r>
            <a:r>
              <a:rPr sz="1200" b="0" i="0">
                <a:solidFill>
                  <a:srgbClr val="6B7280"/>
                </a:solidFill>
                <a:latin typeface="맑은 고딕"/>
                <a:ea typeface="맑은 고딕"/>
                <a:cs typeface="맑은 고딕"/>
              </a:rPr>
              <a:t>  (즉시·반복·오프라인 = 발표 안전망)</a:t>
            </a:r>
          </a:p>
          <a:p>
            <a:pPr algn="l">
              <a:lnSpc>
                <a:spcPct val="118000"/>
              </a:lnSpc>
              <a:spcBef>
                <a:spcPts val="0"/>
              </a:spcBef>
              <a:spcAft>
                <a:spcPts val="550"/>
              </a:spcAft>
            </a:pPr>
            <a:r>
              <a:rPr sz="1200" b="1" i="0">
                <a:solidFill>
                  <a:srgbClr val="2D6CDF"/>
                </a:solidFill>
                <a:latin typeface="맑은 고딕"/>
                <a:ea typeface="맑은 고딕"/>
                <a:cs typeface="맑은 고딕"/>
              </a:rPr>
              <a:t>•  </a:t>
            </a:r>
            <a:r>
              <a:rPr sz="1200" b="0" i="0">
                <a:solidFill>
                  <a:srgbClr val="1F2937"/>
                </a:solidFill>
                <a:latin typeface="맑은 고딕"/>
                <a:ea typeface="맑은 고딕"/>
                <a:cs typeface="맑은 고딕"/>
              </a:rPr>
              <a:t>도로 waypoint 652개 → 그래프 + BFS 길찾기로 실제 ‘도보’ 이동</a:t>
            </a:r>
          </a:p>
          <a:p>
            <a:pPr algn="l">
              <a:lnSpc>
                <a:spcPct val="118000"/>
              </a:lnSpc>
              <a:spcBef>
                <a:spcPts val="0"/>
              </a:spcBef>
              <a:spcAft>
                <a:spcPts val="550"/>
              </a:spcAft>
            </a:pPr>
            <a:r>
              <a:rPr sz="1200" b="1" i="0">
                <a:solidFill>
                  <a:srgbClr val="2D6CDF"/>
                </a:solidFill>
                <a:latin typeface="맑은 고딕"/>
                <a:ea typeface="맑은 고딕"/>
                <a:cs typeface="맑은 고딕"/>
              </a:rPr>
              <a:t>•  </a:t>
            </a:r>
            <a:r>
              <a:rPr sz="1200" b="0" i="0">
                <a:solidFill>
                  <a:srgbClr val="1F2937"/>
                </a:solidFill>
                <a:latin typeface="맑은 고딕"/>
                <a:ea typeface="맑은 고딕"/>
                <a:cs typeface="맑은 고딕"/>
              </a:rPr>
              <a:t>마주치면 — 그날 동선·관계가 묻어나는 맥락 대화</a:t>
            </a:r>
          </a:p>
        </p:txBody>
      </p:sp>
      <p:sp>
        <p:nvSpPr>
          <p:cNvPr id="7" name="Rounded Rectangle 6"/>
          <p:cNvSpPr/>
          <p:nvPr/>
        </p:nvSpPr>
        <p:spPr>
          <a:xfrm>
            <a:off x="548640" y="4526280"/>
            <a:ext cx="5577840" cy="1554480"/>
          </a:xfrm>
          <a:prstGeom prst="roundRect">
            <a:avLst>
              <a:gd name="adj" fmla="val 8000"/>
            </a:avLst>
          </a:prstGeom>
          <a:solidFill>
            <a:srgbClr val="FDF3E4"/>
          </a:solidFill>
          <a:ln w="12700">
            <a:solidFill>
              <a:srgbClr val="E8902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8" name="TextBox 7"/>
          <p:cNvSpPr txBox="1"/>
          <p:nvPr/>
        </p:nvSpPr>
        <p:spPr>
          <a:xfrm>
            <a:off x="777240" y="4663440"/>
            <a:ext cx="5120640" cy="1325880"/>
          </a:xfrm>
          <a:prstGeom prst="rect">
            <a:avLst/>
          </a:prstGeom>
          <a:noFill/>
        </p:spPr>
        <p:txBody>
          <a:bodyPr wrap="square" lIns="0" rIns="0" tIns="0" bIns="0">
            <a:spAutoFit/>
          </a:bodyPr>
          <a:lstStyle/>
          <a:p>
            <a:pPr algn="l">
              <a:lnSpc>
                <a:spcPct val="112000"/>
              </a:lnSpc>
              <a:spcBef>
                <a:spcPts val="0"/>
              </a:spcBef>
              <a:spcAft>
                <a:spcPts val="400"/>
              </a:spcAft>
            </a:pPr>
            <a:r>
              <a:rPr sz="1300" b="1" i="0">
                <a:solidFill>
                  <a:srgbClr val="E8902A"/>
                </a:solidFill>
                <a:latin typeface="맑은 고딕"/>
                <a:ea typeface="맑은 고딕"/>
                <a:cs typeface="맑은 고딕"/>
              </a:rPr>
              <a:t>시행착오 — 스케줄은 순간이동, 재생은 도보</a:t>
            </a:r>
          </a:p>
          <a:p>
            <a:pPr algn="l">
              <a:lnSpc>
                <a:spcPct val="128000"/>
              </a:lnSpc>
              <a:spcBef>
                <a:spcPts val="0"/>
              </a:spcBef>
              <a:spcAft>
                <a:spcPts val="0"/>
              </a:spcAft>
            </a:pPr>
            <a:r>
              <a:rPr sz="1150" b="0" i="0">
                <a:solidFill>
                  <a:srgbClr val="1F2937"/>
                </a:solidFill>
                <a:latin typeface="맑은 고딕"/>
                <a:ea typeface="맑은 고딕"/>
                <a:cs typeface="맑은 고딕"/>
              </a:rPr>
              <a:t>LLM이 짠 스케줄은 이동시간 0을 가정 → 막상 재생하니 만남 14개 중 7개가 ‘도착 전에 끝남’. 실제 걸어서 도착하는 시간을 시뮬해 만남을 다시 뽑자 발화 6/6 보장.</a:t>
            </a:r>
          </a:p>
        </p:txBody>
      </p:sp>
      <p:pic>
        <p:nvPicPr>
          <p:cNvPr id="9" name="Picture 8" descr="map.png"/>
          <p:cNvPicPr>
            <a:picLocks noChangeAspect="1"/>
          </p:cNvPicPr>
          <p:nvPr/>
        </p:nvPicPr>
        <p:blipFill>
          <a:blip r:embed="rId2"/>
          <a:stretch>
            <a:fillRect/>
          </a:stretch>
        </p:blipFill>
        <p:spPr>
          <a:xfrm>
            <a:off x="6568440" y="1600200"/>
            <a:ext cx="4876800" cy="3657600"/>
          </a:xfrm>
          <a:prstGeom prst="rect">
            <a:avLst/>
          </a:prstGeom>
        </p:spPr>
      </p:pic>
      <p:sp>
        <p:nvSpPr>
          <p:cNvPr id="10" name="Rounded Rectangle 9"/>
          <p:cNvSpPr/>
          <p:nvPr/>
        </p:nvSpPr>
        <p:spPr>
          <a:xfrm>
            <a:off x="6355080" y="5349240"/>
            <a:ext cx="5303520" cy="73152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1" name="TextBox 10"/>
          <p:cNvSpPr txBox="1"/>
          <p:nvPr/>
        </p:nvSpPr>
        <p:spPr>
          <a:xfrm>
            <a:off x="6537960" y="5440680"/>
            <a:ext cx="4937760" cy="566928"/>
          </a:xfrm>
          <a:prstGeom prst="rect">
            <a:avLst/>
          </a:prstGeom>
          <a:noFill/>
        </p:spPr>
        <p:txBody>
          <a:bodyPr wrap="square" lIns="0" rIns="0" tIns="0" bIns="0" anchor="ctr">
            <a:spAutoFit/>
          </a:bodyPr>
          <a:lstStyle/>
          <a:p>
            <a:pPr algn="l">
              <a:lnSpc>
                <a:spcPct val="120000"/>
              </a:lnSpc>
              <a:spcBef>
                <a:spcPts val="0"/>
              </a:spcBef>
              <a:spcAft>
                <a:spcPts val="0"/>
              </a:spcAft>
            </a:pPr>
            <a:r>
              <a:rPr sz="1200" b="1" i="0">
                <a:solidFill>
                  <a:srgbClr val="2E9E6B"/>
                </a:solidFill>
                <a:latin typeface="맑은 고딕"/>
                <a:ea typeface="맑은 고딕"/>
                <a:cs typeface="맑은 고딕"/>
              </a:rPr>
              <a:t>창발 —  </a:t>
            </a:r>
            <a:r>
              <a:rPr sz="1130" b="0" i="0">
                <a:solidFill>
                  <a:srgbClr val="1F2937"/>
                </a:solidFill>
                <a:latin typeface="맑은 고딕"/>
                <a:ea typeface="맑은 고딕"/>
                <a:cs typeface="맑은 고딕"/>
              </a:rPr>
              <a:t>시키지 않았는데 — 민수·수아가 광장 산책을 약속하고, 같은 카페 사장이 세 손님과 ‘각자의 하루’로 다른 대화를 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05 확장</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미리마을 × 정책 — 소식은 누구에게, 어떤 경로로 닿는가</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20</a:t>
            </a:r>
          </a:p>
        </p:txBody>
      </p:sp>
      <p:sp>
        <p:nvSpPr>
          <p:cNvPr id="6" name="Rounded Rectangle 5"/>
          <p:cNvSpPr/>
          <p:nvPr/>
        </p:nvSpPr>
        <p:spPr>
          <a:xfrm>
            <a:off x="548640" y="1600200"/>
            <a:ext cx="11091672" cy="731520"/>
          </a:xfrm>
          <a:prstGeom prst="roundRect">
            <a:avLst>
              <a:gd name="adj" fmla="val 8000"/>
            </a:avLst>
          </a:prstGeom>
          <a:solidFill>
            <a:srgbClr val="EAF0F8"/>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7" name="TextBox 6"/>
          <p:cNvSpPr txBox="1"/>
          <p:nvPr/>
        </p:nvSpPr>
        <p:spPr>
          <a:xfrm>
            <a:off x="868680" y="1719072"/>
            <a:ext cx="10515600" cy="530352"/>
          </a:xfrm>
          <a:prstGeom prst="rect">
            <a:avLst/>
          </a:prstGeom>
          <a:noFill/>
        </p:spPr>
        <p:txBody>
          <a:bodyPr wrap="square" lIns="0" rIns="0" tIns="0" bIns="0" anchor="ctr">
            <a:spAutoFit/>
          </a:bodyPr>
          <a:lstStyle/>
          <a:p>
            <a:pPr algn="ctr">
              <a:lnSpc>
                <a:spcPct val="112000"/>
              </a:lnSpc>
              <a:spcBef>
                <a:spcPts val="0"/>
              </a:spcBef>
              <a:spcAft>
                <a:spcPts val="0"/>
              </a:spcAft>
            </a:pPr>
            <a:r>
              <a:rPr sz="1450" b="0" i="0">
                <a:solidFill>
                  <a:srgbClr val="1F2937"/>
                </a:solidFill>
                <a:latin typeface="맑은 고딕"/>
                <a:ea typeface="맑은 고딕"/>
                <a:cs typeface="맑은 고딕"/>
              </a:rPr>
              <a:t>질문의 전환:  “정책이 각자에게 어떤 효과인가”  →  </a:t>
            </a:r>
            <a:r>
              <a:rPr sz="1450" b="1" i="0">
                <a:solidFill>
                  <a:srgbClr val="1F3A5F"/>
                </a:solidFill>
                <a:latin typeface="맑은 고딕"/>
                <a:ea typeface="맑은 고딕"/>
                <a:cs typeface="맑은 고딕"/>
              </a:rPr>
              <a:t>“정책 ‘소식’이 누구에게 · 어떤 경로로 닿는가”</a:t>
            </a:r>
          </a:p>
        </p:txBody>
      </p:sp>
      <p:sp>
        <p:nvSpPr>
          <p:cNvPr id="8" name="Rounded Rectangle 7"/>
          <p:cNvSpPr/>
          <p:nvPr/>
        </p:nvSpPr>
        <p:spPr>
          <a:xfrm>
            <a:off x="548640" y="2560320"/>
            <a:ext cx="2468880" cy="1371600"/>
          </a:xfrm>
          <a:prstGeom prst="roundRect">
            <a:avLst>
              <a:gd name="adj" fmla="val 8000"/>
            </a:avLst>
          </a:prstGeom>
          <a:solidFill>
            <a:srgbClr val="FCECEB"/>
          </a:solidFill>
          <a:ln w="12700">
            <a:solidFill>
              <a:srgbClr val="D9534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9" name="TextBox 8"/>
          <p:cNvSpPr txBox="1"/>
          <p:nvPr/>
        </p:nvSpPr>
        <p:spPr>
          <a:xfrm>
            <a:off x="658368" y="2633472"/>
            <a:ext cx="2249424" cy="1225296"/>
          </a:xfrm>
          <a:prstGeom prst="rect">
            <a:avLst/>
          </a:prstGeom>
          <a:noFill/>
        </p:spPr>
        <p:txBody>
          <a:bodyPr wrap="square" lIns="0" rIns="0" tIns="0" bIns="0">
            <a:spAutoFit/>
          </a:bodyPr>
          <a:lstStyle/>
          <a:p>
            <a:pPr algn="l">
              <a:lnSpc>
                <a:spcPct val="112000"/>
              </a:lnSpc>
              <a:spcBef>
                <a:spcPts val="0"/>
              </a:spcBef>
              <a:spcAft>
                <a:spcPts val="200"/>
              </a:spcAft>
            </a:pPr>
            <a:r>
              <a:rPr sz="1250" b="1" i="0">
                <a:solidFill>
                  <a:srgbClr val="D9534F"/>
                </a:solidFill>
                <a:latin typeface="맑은 고딕"/>
                <a:ea typeface="맑은 고딕"/>
                <a:cs typeface="맑은 고딕"/>
              </a:rPr>
              <a:t>① 시드 주입</a:t>
            </a:r>
          </a:p>
          <a:p>
            <a:pPr algn="l">
              <a:lnSpc>
                <a:spcPct val="112000"/>
              </a:lnSpc>
              <a:spcBef>
                <a:spcPts val="0"/>
              </a:spcBef>
              <a:spcAft>
                <a:spcPts val="100"/>
              </a:spcAft>
            </a:pPr>
            <a:r>
              <a:rPr sz="1100" b="0" i="0">
                <a:solidFill>
                  <a:srgbClr val="1F2937"/>
                </a:solidFill>
                <a:latin typeface="맑은 고딕"/>
                <a:ea typeface="맑은 고딕"/>
                <a:cs typeface="맑은 고딕"/>
              </a:rPr>
              <a:t>담당 공무원 영희 1명만 알고 시작</a:t>
            </a:r>
          </a:p>
        </p:txBody>
      </p:sp>
      <p:sp>
        <p:nvSpPr>
          <p:cNvPr id="10" name="TextBox 9"/>
          <p:cNvSpPr txBox="1"/>
          <p:nvPr/>
        </p:nvSpPr>
        <p:spPr>
          <a:xfrm>
            <a:off x="3035808" y="3063240"/>
            <a:ext cx="457200" cy="365760"/>
          </a:xfrm>
          <a:prstGeom prst="rect">
            <a:avLst/>
          </a:prstGeom>
          <a:noFill/>
        </p:spPr>
        <p:txBody>
          <a:bodyPr wrap="square" lIns="0" rIns="0" tIns="0" bIns="0">
            <a:spAutoFit/>
          </a:bodyPr>
          <a:lstStyle/>
          <a:p>
            <a:pPr algn="ctr">
              <a:lnSpc>
                <a:spcPct val="112000"/>
              </a:lnSpc>
              <a:spcBef>
                <a:spcPts val="0"/>
              </a:spcBef>
              <a:spcAft>
                <a:spcPts val="0"/>
              </a:spcAft>
            </a:pPr>
            <a:r>
              <a:rPr sz="1600" b="1" i="0">
                <a:solidFill>
                  <a:srgbClr val="6B7280"/>
                </a:solidFill>
                <a:latin typeface="맑은 고딕"/>
                <a:ea typeface="맑은 고딕"/>
                <a:cs typeface="맑은 고딕"/>
              </a:rPr>
              <a:t>→</a:t>
            </a:r>
          </a:p>
        </p:txBody>
      </p:sp>
      <p:sp>
        <p:nvSpPr>
          <p:cNvPr id="11" name="Rounded Rectangle 10"/>
          <p:cNvSpPr/>
          <p:nvPr/>
        </p:nvSpPr>
        <p:spPr>
          <a:xfrm>
            <a:off x="3511296" y="2560320"/>
            <a:ext cx="2468880" cy="1371600"/>
          </a:xfrm>
          <a:prstGeom prst="roundRect">
            <a:avLst>
              <a:gd name="adj" fmla="val 8000"/>
            </a:avLst>
          </a:prstGeom>
          <a:solidFill>
            <a:srgbClr val="FDF3E4"/>
          </a:solidFill>
          <a:ln w="12700">
            <a:solidFill>
              <a:srgbClr val="E8902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2" name="TextBox 11"/>
          <p:cNvSpPr txBox="1"/>
          <p:nvPr/>
        </p:nvSpPr>
        <p:spPr>
          <a:xfrm>
            <a:off x="3621024" y="2633472"/>
            <a:ext cx="2249424" cy="1225296"/>
          </a:xfrm>
          <a:prstGeom prst="rect">
            <a:avLst/>
          </a:prstGeom>
          <a:noFill/>
        </p:spPr>
        <p:txBody>
          <a:bodyPr wrap="square" lIns="0" rIns="0" tIns="0" bIns="0">
            <a:spAutoFit/>
          </a:bodyPr>
          <a:lstStyle/>
          <a:p>
            <a:pPr algn="l">
              <a:lnSpc>
                <a:spcPct val="112000"/>
              </a:lnSpc>
              <a:spcBef>
                <a:spcPts val="0"/>
              </a:spcBef>
              <a:spcAft>
                <a:spcPts val="200"/>
              </a:spcAft>
            </a:pPr>
            <a:r>
              <a:rPr sz="1250" b="1" i="0">
                <a:solidFill>
                  <a:srgbClr val="E8902A"/>
                </a:solidFill>
                <a:latin typeface="맑은 고딕"/>
                <a:ea typeface="맑은 고딕"/>
                <a:cs typeface="맑은 고딕"/>
              </a:rPr>
              <a:t>② 만남 전파</a:t>
            </a:r>
          </a:p>
          <a:p>
            <a:pPr algn="l">
              <a:lnSpc>
                <a:spcPct val="112000"/>
              </a:lnSpc>
              <a:spcBef>
                <a:spcPts val="0"/>
              </a:spcBef>
              <a:spcAft>
                <a:spcPts val="100"/>
              </a:spcAft>
            </a:pPr>
            <a:r>
              <a:rPr sz="1100" b="0" i="0">
                <a:solidFill>
                  <a:srgbClr val="1F2937"/>
                </a:solidFill>
                <a:latin typeface="맑은 고딕"/>
                <a:ea typeface="맑은 고딕"/>
                <a:cs typeface="맑은 고딕"/>
              </a:rPr>
              <a:t>스케줄대로 살다 마주친 대화에서 소식이 옮음</a:t>
            </a:r>
          </a:p>
        </p:txBody>
      </p:sp>
      <p:sp>
        <p:nvSpPr>
          <p:cNvPr id="13" name="TextBox 12"/>
          <p:cNvSpPr txBox="1"/>
          <p:nvPr/>
        </p:nvSpPr>
        <p:spPr>
          <a:xfrm>
            <a:off x="5998464" y="3063240"/>
            <a:ext cx="457200" cy="365760"/>
          </a:xfrm>
          <a:prstGeom prst="rect">
            <a:avLst/>
          </a:prstGeom>
          <a:noFill/>
        </p:spPr>
        <p:txBody>
          <a:bodyPr wrap="square" lIns="0" rIns="0" tIns="0" bIns="0">
            <a:spAutoFit/>
          </a:bodyPr>
          <a:lstStyle/>
          <a:p>
            <a:pPr algn="ctr">
              <a:lnSpc>
                <a:spcPct val="112000"/>
              </a:lnSpc>
              <a:spcBef>
                <a:spcPts val="0"/>
              </a:spcBef>
              <a:spcAft>
                <a:spcPts val="0"/>
              </a:spcAft>
            </a:pPr>
            <a:r>
              <a:rPr sz="1600" b="1" i="0">
                <a:solidFill>
                  <a:srgbClr val="6B7280"/>
                </a:solidFill>
                <a:latin typeface="맑은 고딕"/>
                <a:ea typeface="맑은 고딕"/>
                <a:cs typeface="맑은 고딕"/>
              </a:rPr>
              <a:t>→</a:t>
            </a:r>
          </a:p>
        </p:txBody>
      </p:sp>
      <p:sp>
        <p:nvSpPr>
          <p:cNvPr id="14" name="Rounded Rectangle 13"/>
          <p:cNvSpPr/>
          <p:nvPr/>
        </p:nvSpPr>
        <p:spPr>
          <a:xfrm>
            <a:off x="6473952" y="2560320"/>
            <a:ext cx="2468880" cy="1371600"/>
          </a:xfrm>
          <a:prstGeom prst="roundRect">
            <a:avLst>
              <a:gd name="adj" fmla="val 8000"/>
            </a:avLst>
          </a:prstGeom>
          <a:solidFill>
            <a:srgbClr val="EAF0F8"/>
          </a:solidFill>
          <a:ln w="12700">
            <a:solidFill>
              <a:srgbClr val="2D6C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5" name="TextBox 14"/>
          <p:cNvSpPr txBox="1"/>
          <p:nvPr/>
        </p:nvSpPr>
        <p:spPr>
          <a:xfrm>
            <a:off x="6583680" y="2633472"/>
            <a:ext cx="2249424" cy="1225296"/>
          </a:xfrm>
          <a:prstGeom prst="rect">
            <a:avLst/>
          </a:prstGeom>
          <a:noFill/>
        </p:spPr>
        <p:txBody>
          <a:bodyPr wrap="square" lIns="0" rIns="0" tIns="0" bIns="0">
            <a:spAutoFit/>
          </a:bodyPr>
          <a:lstStyle/>
          <a:p>
            <a:pPr algn="l">
              <a:lnSpc>
                <a:spcPct val="112000"/>
              </a:lnSpc>
              <a:spcBef>
                <a:spcPts val="0"/>
              </a:spcBef>
              <a:spcAft>
                <a:spcPts val="200"/>
              </a:spcAft>
            </a:pPr>
            <a:r>
              <a:rPr sz="1250" b="1" i="0">
                <a:solidFill>
                  <a:srgbClr val="2D6CDF"/>
                </a:solidFill>
                <a:latin typeface="맑은 고딕"/>
                <a:ea typeface="맑은 고딕"/>
                <a:cs typeface="맑은 고딕"/>
              </a:rPr>
              <a:t>③ 밤 일기 (reflection)</a:t>
            </a:r>
          </a:p>
          <a:p>
            <a:pPr algn="l">
              <a:lnSpc>
                <a:spcPct val="112000"/>
              </a:lnSpc>
              <a:spcBef>
                <a:spcPts val="0"/>
              </a:spcBef>
              <a:spcAft>
                <a:spcPts val="100"/>
              </a:spcAft>
            </a:pPr>
            <a:r>
              <a:rPr sz="1100" b="0" i="0">
                <a:solidFill>
                  <a:srgbClr val="1F2937"/>
                </a:solidFill>
                <a:latin typeface="맑은 고딕"/>
                <a:ea typeface="맑은 고딕"/>
                <a:cs typeface="맑은 고딕"/>
              </a:rPr>
              <a:t>하루를 일기로 압축 → 다음날의 기억으로</a:t>
            </a:r>
          </a:p>
        </p:txBody>
      </p:sp>
      <p:sp>
        <p:nvSpPr>
          <p:cNvPr id="16" name="TextBox 15"/>
          <p:cNvSpPr txBox="1"/>
          <p:nvPr/>
        </p:nvSpPr>
        <p:spPr>
          <a:xfrm>
            <a:off x="8961119" y="3063240"/>
            <a:ext cx="457200" cy="365760"/>
          </a:xfrm>
          <a:prstGeom prst="rect">
            <a:avLst/>
          </a:prstGeom>
          <a:noFill/>
        </p:spPr>
        <p:txBody>
          <a:bodyPr wrap="square" lIns="0" rIns="0" tIns="0" bIns="0">
            <a:spAutoFit/>
          </a:bodyPr>
          <a:lstStyle/>
          <a:p>
            <a:pPr algn="ctr">
              <a:lnSpc>
                <a:spcPct val="112000"/>
              </a:lnSpc>
              <a:spcBef>
                <a:spcPts val="0"/>
              </a:spcBef>
              <a:spcAft>
                <a:spcPts val="0"/>
              </a:spcAft>
            </a:pPr>
            <a:r>
              <a:rPr sz="1600" b="1" i="0">
                <a:solidFill>
                  <a:srgbClr val="6B7280"/>
                </a:solidFill>
                <a:latin typeface="맑은 고딕"/>
                <a:ea typeface="맑은 고딕"/>
                <a:cs typeface="맑은 고딕"/>
              </a:rPr>
              <a:t>→</a:t>
            </a:r>
          </a:p>
        </p:txBody>
      </p:sp>
      <p:sp>
        <p:nvSpPr>
          <p:cNvPr id="17" name="Rounded Rectangle 16"/>
          <p:cNvSpPr/>
          <p:nvPr/>
        </p:nvSpPr>
        <p:spPr>
          <a:xfrm>
            <a:off x="9436608" y="2560320"/>
            <a:ext cx="2203704" cy="137160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8" name="TextBox 17"/>
          <p:cNvSpPr txBox="1"/>
          <p:nvPr/>
        </p:nvSpPr>
        <p:spPr>
          <a:xfrm>
            <a:off x="9546336" y="2633472"/>
            <a:ext cx="1984248" cy="1225296"/>
          </a:xfrm>
          <a:prstGeom prst="rect">
            <a:avLst/>
          </a:prstGeom>
          <a:noFill/>
        </p:spPr>
        <p:txBody>
          <a:bodyPr wrap="square" lIns="0" rIns="0" tIns="0" bIns="0">
            <a:spAutoFit/>
          </a:bodyPr>
          <a:lstStyle/>
          <a:p>
            <a:pPr algn="l">
              <a:lnSpc>
                <a:spcPct val="112000"/>
              </a:lnSpc>
              <a:spcBef>
                <a:spcPts val="0"/>
              </a:spcBef>
              <a:spcAft>
                <a:spcPts val="200"/>
              </a:spcAft>
            </a:pPr>
            <a:r>
              <a:rPr sz="1250" b="1" i="0">
                <a:solidFill>
                  <a:srgbClr val="2E9E6B"/>
                </a:solidFill>
                <a:latin typeface="맑은 고딕"/>
                <a:ea typeface="맑은 고딕"/>
                <a:cs typeface="맑은 고딕"/>
              </a:rPr>
              <a:t>④ [▶다음날]</a:t>
            </a:r>
          </a:p>
          <a:p>
            <a:pPr algn="l">
              <a:lnSpc>
                <a:spcPct val="112000"/>
              </a:lnSpc>
              <a:spcBef>
                <a:spcPts val="0"/>
              </a:spcBef>
              <a:spcAft>
                <a:spcPts val="100"/>
              </a:spcAft>
            </a:pPr>
            <a:r>
              <a:rPr sz="1100" b="0" i="0">
                <a:solidFill>
                  <a:srgbClr val="1F2937"/>
                </a:solidFill>
                <a:latin typeface="맑은 고딕"/>
                <a:ea typeface="맑은 고딕"/>
                <a:cs typeface="맑은 고딕"/>
              </a:rPr>
              <a:t>며칠이고 이어서 — 전파의 시간 구조</a:t>
            </a:r>
          </a:p>
        </p:txBody>
      </p:sp>
      <p:sp>
        <p:nvSpPr>
          <p:cNvPr id="19" name="Rounded Rectangle 18"/>
          <p:cNvSpPr/>
          <p:nvPr/>
        </p:nvSpPr>
        <p:spPr>
          <a:xfrm>
            <a:off x="548640" y="4160520"/>
            <a:ext cx="5394960" cy="1920240"/>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20" name="TextBox 19"/>
          <p:cNvSpPr txBox="1"/>
          <p:nvPr/>
        </p:nvSpPr>
        <p:spPr>
          <a:xfrm>
            <a:off x="777240" y="4315968"/>
            <a:ext cx="4937760" cy="1645920"/>
          </a:xfrm>
          <a:prstGeom prst="rect">
            <a:avLst/>
          </a:prstGeom>
          <a:noFill/>
        </p:spPr>
        <p:txBody>
          <a:bodyPr wrap="square" lIns="0" rIns="0" tIns="0" bIns="0">
            <a:spAutoFit/>
          </a:bodyPr>
          <a:lstStyle/>
          <a:p>
            <a:pPr algn="l">
              <a:lnSpc>
                <a:spcPct val="112000"/>
              </a:lnSpc>
              <a:spcBef>
                <a:spcPts val="0"/>
              </a:spcBef>
              <a:spcAft>
                <a:spcPts val="600"/>
              </a:spcAft>
            </a:pPr>
            <a:r>
              <a:rPr sz="1350" b="1" i="0">
                <a:solidFill>
                  <a:srgbClr val="1F3A5F"/>
                </a:solidFill>
                <a:latin typeface="맑은 고딕"/>
                <a:ea typeface="맑은 고딕"/>
                <a:cs typeface="맑은 고딕"/>
              </a:rPr>
              <a:t>1일차 실측 (실제 LLM)</a:t>
            </a:r>
          </a:p>
          <a:p>
            <a:pPr algn="l">
              <a:lnSpc>
                <a:spcPct val="118000"/>
              </a:lnSpc>
              <a:spcBef>
                <a:spcPts val="0"/>
              </a:spcBef>
              <a:spcAft>
                <a:spcPts val="500"/>
              </a:spcAft>
            </a:pPr>
            <a:r>
              <a:rPr sz="1200" b="1" i="0">
                <a:solidFill>
                  <a:srgbClr val="2D6CDF"/>
                </a:solidFill>
                <a:latin typeface="맑은 고딕"/>
                <a:ea typeface="맑은 고딕"/>
                <a:cs typeface="맑은 고딕"/>
              </a:rPr>
              <a:t>•  </a:t>
            </a:r>
            <a:r>
              <a:rPr sz="1200" b="1" i="0">
                <a:solidFill>
                  <a:srgbClr val="1F2937"/>
                </a:solidFill>
                <a:latin typeface="맑은 고딕"/>
                <a:ea typeface="맑은 고딕"/>
                <a:cs typeface="맑은 고딕"/>
              </a:rPr>
              <a:t>10명 중 9명에게 전파</a:t>
            </a:r>
            <a:r>
              <a:rPr sz="1200" b="0" i="0">
                <a:solidFill>
                  <a:srgbClr val="6B7280"/>
                </a:solidFill>
                <a:latin typeface="맑은 고딕"/>
                <a:ea typeface="맑은 고딕"/>
                <a:cs typeface="맑은 고딕"/>
              </a:rPr>
              <a:t> — 공무원 시드 → 카페 사랑방 → 놀이터</a:t>
            </a:r>
          </a:p>
          <a:p>
            <a:pPr algn="l">
              <a:lnSpc>
                <a:spcPct val="118000"/>
              </a:lnSpc>
              <a:spcBef>
                <a:spcPts val="0"/>
              </a:spcBef>
              <a:spcAft>
                <a:spcPts val="500"/>
              </a:spcAft>
            </a:pPr>
            <a:r>
              <a:rPr sz="1200" b="1" i="0">
                <a:solidFill>
                  <a:srgbClr val="2D6CDF"/>
                </a:solidFill>
                <a:latin typeface="맑은 고딕"/>
                <a:ea typeface="맑은 고딕"/>
                <a:cs typeface="맑은 고딕"/>
              </a:rPr>
              <a:t>•  </a:t>
            </a:r>
            <a:r>
              <a:rPr sz="1200" b="1" i="0">
                <a:solidFill>
                  <a:srgbClr val="D9534F"/>
                </a:solidFill>
                <a:latin typeface="맑은 고딕"/>
                <a:ea typeface="맑은 고딕"/>
                <a:cs typeface="맑은 고딕"/>
              </a:rPr>
              <a:t>사각지대 1명</a:t>
            </a:r>
            <a:r>
              <a:rPr sz="1200" b="0" i="0">
                <a:solidFill>
                  <a:srgbClr val="6B7280"/>
                </a:solidFill>
                <a:latin typeface="맑은 고딕"/>
                <a:ea typeface="맑은 고딕"/>
                <a:cs typeface="맑은 고딕"/>
              </a:rPr>
              <a:t> — 동선이 겹치지 않은 박어르신</a:t>
            </a:r>
          </a:p>
          <a:p>
            <a:pPr algn="l">
              <a:lnSpc>
                <a:spcPct val="118000"/>
              </a:lnSpc>
              <a:spcBef>
                <a:spcPts val="0"/>
              </a:spcBef>
              <a:spcAft>
                <a:spcPts val="500"/>
              </a:spcAft>
            </a:pPr>
            <a:r>
              <a:rPr sz="1200" b="1" i="0">
                <a:solidFill>
                  <a:srgbClr val="2D6CDF"/>
                </a:solidFill>
                <a:latin typeface="맑은 고딕"/>
                <a:ea typeface="맑은 고딕"/>
                <a:cs typeface="맑은 고딕"/>
              </a:rPr>
              <a:t>•  </a:t>
            </a:r>
            <a:r>
              <a:rPr sz="1200" b="1" i="0">
                <a:solidFill>
                  <a:srgbClr val="2E9E6B"/>
                </a:solidFill>
                <a:latin typeface="맑은 고딕"/>
                <a:ea typeface="맑은 고딕"/>
                <a:cs typeface="맑은 고딕"/>
              </a:rPr>
              <a:t>근거 없는 인지 누수 0</a:t>
            </a:r>
            <a:r>
              <a:rPr sz="1200" b="0" i="0">
                <a:solidFill>
                  <a:srgbClr val="6B7280"/>
                </a:solidFill>
                <a:latin typeface="맑은 고딕"/>
                <a:ea typeface="맑은 고딕"/>
                <a:cs typeface="맑은 고딕"/>
              </a:rPr>
              <a:t> — 전파 게이트가 코드로 보증</a:t>
            </a:r>
          </a:p>
        </p:txBody>
      </p:sp>
      <p:sp>
        <p:nvSpPr>
          <p:cNvPr id="21" name="Rounded Rectangle 20"/>
          <p:cNvSpPr/>
          <p:nvPr/>
        </p:nvSpPr>
        <p:spPr>
          <a:xfrm>
            <a:off x="6245352" y="4160520"/>
            <a:ext cx="5394960" cy="192024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22" name="TextBox 21"/>
          <p:cNvSpPr txBox="1"/>
          <p:nvPr/>
        </p:nvSpPr>
        <p:spPr>
          <a:xfrm>
            <a:off x="6473952" y="4315968"/>
            <a:ext cx="4937760" cy="1645920"/>
          </a:xfrm>
          <a:prstGeom prst="rect">
            <a:avLst/>
          </a:prstGeom>
          <a:noFill/>
        </p:spPr>
        <p:txBody>
          <a:bodyPr wrap="square" lIns="0" rIns="0" tIns="0" bIns="0">
            <a:spAutoFit/>
          </a:bodyPr>
          <a:lstStyle/>
          <a:p>
            <a:pPr algn="l">
              <a:lnSpc>
                <a:spcPct val="112000"/>
              </a:lnSpc>
              <a:spcBef>
                <a:spcPts val="0"/>
              </a:spcBef>
              <a:spcAft>
                <a:spcPts val="600"/>
              </a:spcAft>
            </a:pPr>
            <a:r>
              <a:rPr sz="1350" b="1" i="0">
                <a:solidFill>
                  <a:srgbClr val="2E9E6B"/>
                </a:solidFill>
                <a:latin typeface="맑은 고딕"/>
                <a:ea typeface="맑은 고딕"/>
                <a:cs typeface="맑은 고딕"/>
              </a:rPr>
              <a:t>폐기했던 전파 기능의 부활</a:t>
            </a:r>
          </a:p>
          <a:p>
            <a:pPr algn="l">
              <a:lnSpc>
                <a:spcPct val="130000"/>
              </a:lnSpc>
              <a:spcBef>
                <a:spcPts val="0"/>
              </a:spcBef>
              <a:spcAft>
                <a:spcPts val="0"/>
              </a:spcAft>
            </a:pPr>
            <a:r>
              <a:rPr sz="1200" b="0" i="0">
                <a:solidFill>
                  <a:srgbClr val="1F2937"/>
                </a:solidFill>
                <a:latin typeface="맑은 고딕"/>
                <a:ea typeface="맑은 고딕"/>
                <a:cs typeface="맑은 고딕"/>
              </a:rPr>
              <a:t>축 A의 전파 그래프는 ‘서로 모르는 통계 샘플’이라 버렸다(03장). 미리마을은 서로 아는 고정 캐스트 — 여기서의 전파는 연출이 아니라 관계와 동선의 결과다.</a:t>
            </a:r>
          </a:p>
        </p:txBody>
      </p:sp>
      <p:sp>
        <p:nvSpPr>
          <p:cNvPr id="23" name="TextBox 22"/>
          <p:cNvSpPr txBox="1"/>
          <p:nvPr/>
        </p:nvSpPr>
        <p:spPr>
          <a:xfrm>
            <a:off x="548640" y="6144768"/>
            <a:ext cx="11091672" cy="329184"/>
          </a:xfrm>
          <a:prstGeom prst="rect">
            <a:avLst/>
          </a:prstGeom>
          <a:noFill/>
        </p:spPr>
        <p:txBody>
          <a:bodyPr wrap="square" lIns="0" rIns="0" tIns="0" bIns="0">
            <a:spAutoFit/>
          </a:bodyPr>
          <a:lstStyle/>
          <a:p>
            <a:pPr algn="ctr">
              <a:lnSpc>
                <a:spcPct val="112000"/>
              </a:lnSpc>
              <a:spcBef>
                <a:spcPts val="0"/>
              </a:spcBef>
              <a:spcAft>
                <a:spcPts val="0"/>
              </a:spcAft>
            </a:pPr>
            <a:r>
              <a:rPr sz="1250" b="1" i="0">
                <a:solidFill>
                  <a:srgbClr val="D9534F"/>
                </a:solidFill>
                <a:latin typeface="맑은 고딕"/>
                <a:ea typeface="맑은 고딕"/>
                <a:cs typeface="맑은 고딕"/>
              </a:rPr>
              <a:t>🎬 여기서 라이브 데모 — 미리마을 재생 60~90초 (재생은 LLM 0콜 = 네트워크가 죽어도 안전)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06 마무리</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4일 · 4명 — 협업 규율 6가지</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21</a:t>
            </a:r>
          </a:p>
        </p:txBody>
      </p:sp>
      <p:sp>
        <p:nvSpPr>
          <p:cNvPr id="6" name="Rounded Rectangle 5"/>
          <p:cNvSpPr/>
          <p:nvPr/>
        </p:nvSpPr>
        <p:spPr>
          <a:xfrm>
            <a:off x="548640" y="1691640"/>
            <a:ext cx="5394960" cy="1234440"/>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7" name="TextBox 6"/>
          <p:cNvSpPr txBox="1"/>
          <p:nvPr/>
        </p:nvSpPr>
        <p:spPr>
          <a:xfrm>
            <a:off x="749808" y="1810512"/>
            <a:ext cx="5029200" cy="1005840"/>
          </a:xfrm>
          <a:prstGeom prst="rect">
            <a:avLst/>
          </a:prstGeom>
          <a:noFill/>
        </p:spPr>
        <p:txBody>
          <a:bodyPr wrap="square" lIns="0" rIns="0" tIns="0" bIns="0">
            <a:spAutoFit/>
          </a:bodyPr>
          <a:lstStyle/>
          <a:p>
            <a:pPr algn="l">
              <a:lnSpc>
                <a:spcPct val="112000"/>
              </a:lnSpc>
              <a:spcBef>
                <a:spcPts val="0"/>
              </a:spcBef>
              <a:spcAft>
                <a:spcPts val="300"/>
              </a:spcAft>
            </a:pPr>
            <a:r>
              <a:rPr sz="1350" b="1" i="0">
                <a:solidFill>
                  <a:srgbClr val="1F3A5F"/>
                </a:solidFill>
                <a:latin typeface="맑은 고딕"/>
                <a:ea typeface="맑은 고딕"/>
                <a:cs typeface="맑은 고딕"/>
              </a:rPr>
              <a:t>state.py = 팀 계약</a:t>
            </a:r>
          </a:p>
          <a:p>
            <a:pPr algn="l">
              <a:lnSpc>
                <a:spcPct val="120000"/>
              </a:lnSpc>
              <a:spcBef>
                <a:spcPts val="0"/>
              </a:spcBef>
              <a:spcAft>
                <a:spcPts val="0"/>
              </a:spcAft>
            </a:pPr>
            <a:r>
              <a:rPr sz="1100" b="0" i="0">
                <a:solidFill>
                  <a:srgbClr val="1F2937"/>
                </a:solidFill>
                <a:latin typeface="맑은 고딕"/>
                <a:ea typeface="맑은 고딕"/>
                <a:cs typeface="맑은 고딕"/>
              </a:rPr>
              <a:t>공유 스키마는 기존 필드 변경 금지, 추가만(additive). 4명이 같은 계약을 읽고 쓴다.</a:t>
            </a:r>
          </a:p>
        </p:txBody>
      </p:sp>
      <p:sp>
        <p:nvSpPr>
          <p:cNvPr id="8" name="Rounded Rectangle 7"/>
          <p:cNvSpPr/>
          <p:nvPr/>
        </p:nvSpPr>
        <p:spPr>
          <a:xfrm>
            <a:off x="6245352" y="1691640"/>
            <a:ext cx="5394960" cy="1234440"/>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9" name="TextBox 8"/>
          <p:cNvSpPr txBox="1"/>
          <p:nvPr/>
        </p:nvSpPr>
        <p:spPr>
          <a:xfrm>
            <a:off x="6446520" y="1810512"/>
            <a:ext cx="5029200" cy="1005840"/>
          </a:xfrm>
          <a:prstGeom prst="rect">
            <a:avLst/>
          </a:prstGeom>
          <a:noFill/>
        </p:spPr>
        <p:txBody>
          <a:bodyPr wrap="square" lIns="0" rIns="0" tIns="0" bIns="0">
            <a:spAutoFit/>
          </a:bodyPr>
          <a:lstStyle/>
          <a:p>
            <a:pPr algn="l">
              <a:lnSpc>
                <a:spcPct val="112000"/>
              </a:lnSpc>
              <a:spcBef>
                <a:spcPts val="0"/>
              </a:spcBef>
              <a:spcAft>
                <a:spcPts val="300"/>
              </a:spcAft>
            </a:pPr>
            <a:r>
              <a:rPr sz="1350" b="1" i="0">
                <a:solidFill>
                  <a:srgbClr val="1F3A5F"/>
                </a:solidFill>
                <a:latin typeface="맑은 고딕"/>
                <a:ea typeface="맑은 고딕"/>
                <a:cs typeface="맑은 고딕"/>
              </a:rPr>
              <a:t>mock 모드 = 발표 안전망</a:t>
            </a:r>
          </a:p>
          <a:p>
            <a:pPr algn="l">
              <a:lnSpc>
                <a:spcPct val="120000"/>
              </a:lnSpc>
              <a:spcBef>
                <a:spcPts val="0"/>
              </a:spcBef>
              <a:spcAft>
                <a:spcPts val="0"/>
              </a:spcAft>
            </a:pPr>
            <a:r>
              <a:rPr sz="1100" b="0" i="0">
                <a:solidFill>
                  <a:srgbClr val="1F2937"/>
                </a:solidFill>
                <a:latin typeface="맑은 고딕"/>
                <a:ea typeface="맑은 고딕"/>
                <a:cs typeface="맑은 고딕"/>
              </a:rPr>
              <a:t>API 키·네트워크 없이 전체 UI 시연. 발표 중 장애에도 데모는 죽지 않는다.</a:t>
            </a:r>
          </a:p>
        </p:txBody>
      </p:sp>
      <p:sp>
        <p:nvSpPr>
          <p:cNvPr id="10" name="Rounded Rectangle 9"/>
          <p:cNvSpPr/>
          <p:nvPr/>
        </p:nvSpPr>
        <p:spPr>
          <a:xfrm>
            <a:off x="548640" y="3063240"/>
            <a:ext cx="5394960" cy="1234440"/>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1" name="TextBox 10"/>
          <p:cNvSpPr txBox="1"/>
          <p:nvPr/>
        </p:nvSpPr>
        <p:spPr>
          <a:xfrm>
            <a:off x="749808" y="3182112"/>
            <a:ext cx="5029200" cy="1005840"/>
          </a:xfrm>
          <a:prstGeom prst="rect">
            <a:avLst/>
          </a:prstGeom>
          <a:noFill/>
        </p:spPr>
        <p:txBody>
          <a:bodyPr wrap="square" lIns="0" rIns="0" tIns="0" bIns="0">
            <a:spAutoFit/>
          </a:bodyPr>
          <a:lstStyle/>
          <a:p>
            <a:pPr algn="l">
              <a:lnSpc>
                <a:spcPct val="112000"/>
              </a:lnSpc>
              <a:spcBef>
                <a:spcPts val="0"/>
              </a:spcBef>
              <a:spcAft>
                <a:spcPts val="300"/>
              </a:spcAft>
            </a:pPr>
            <a:r>
              <a:rPr sz="1350" b="1" i="0">
                <a:solidFill>
                  <a:srgbClr val="1F3A5F"/>
                </a:solidFill>
                <a:latin typeface="맑은 고딕"/>
                <a:ea typeface="맑은 고딕"/>
                <a:cs typeface="맑은 고딕"/>
              </a:rPr>
              <a:t>import 부작용 0</a:t>
            </a:r>
          </a:p>
          <a:p>
            <a:pPr algn="l">
              <a:lnSpc>
                <a:spcPct val="120000"/>
              </a:lnSpc>
              <a:spcBef>
                <a:spcPts val="0"/>
              </a:spcBef>
              <a:spcAft>
                <a:spcPts val="0"/>
              </a:spcAft>
            </a:pPr>
            <a:r>
              <a:rPr sz="1100" b="0" i="0">
                <a:solidFill>
                  <a:srgbClr val="1F2937"/>
                </a:solidFill>
                <a:latin typeface="맑은 고딕"/>
                <a:ea typeface="맑은 고딕"/>
                <a:cs typeface="맑은 고딕"/>
              </a:rPr>
              <a:t>어떤 모듈도 import 시 네트워크/LLM 호출 없음. 실행은 버튼을 눌렀을 때만.</a:t>
            </a:r>
          </a:p>
        </p:txBody>
      </p:sp>
      <p:sp>
        <p:nvSpPr>
          <p:cNvPr id="12" name="Rounded Rectangle 11"/>
          <p:cNvSpPr/>
          <p:nvPr/>
        </p:nvSpPr>
        <p:spPr>
          <a:xfrm>
            <a:off x="6245352" y="3063240"/>
            <a:ext cx="5394960" cy="1234440"/>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6446520" y="3182112"/>
            <a:ext cx="5029200" cy="1005840"/>
          </a:xfrm>
          <a:prstGeom prst="rect">
            <a:avLst/>
          </a:prstGeom>
          <a:noFill/>
        </p:spPr>
        <p:txBody>
          <a:bodyPr wrap="square" lIns="0" rIns="0" tIns="0" bIns="0">
            <a:spAutoFit/>
          </a:bodyPr>
          <a:lstStyle/>
          <a:p>
            <a:pPr algn="l">
              <a:lnSpc>
                <a:spcPct val="112000"/>
              </a:lnSpc>
              <a:spcBef>
                <a:spcPts val="0"/>
              </a:spcBef>
              <a:spcAft>
                <a:spcPts val="300"/>
              </a:spcAft>
            </a:pPr>
            <a:r>
              <a:rPr sz="1350" b="1" i="0">
                <a:solidFill>
                  <a:srgbClr val="1F3A5F"/>
                </a:solidFill>
                <a:latin typeface="맑은 고딕"/>
                <a:ea typeface="맑은 고딕"/>
                <a:cs typeface="맑은 고딕"/>
              </a:rPr>
              <a:t>헤드리스 회귀 스크립트</a:t>
            </a:r>
          </a:p>
          <a:p>
            <a:pPr algn="l">
              <a:lnSpc>
                <a:spcPct val="120000"/>
              </a:lnSpc>
              <a:spcBef>
                <a:spcPts val="0"/>
              </a:spcBef>
              <a:spcAft>
                <a:spcPts val="0"/>
              </a:spcAft>
            </a:pPr>
            <a:r>
              <a:rPr sz="1100" b="0" i="0">
                <a:solidFill>
                  <a:srgbClr val="1F2937"/>
                </a:solidFill>
                <a:latin typeface="맑은 고딕"/>
                <a:ea typeface="맑은 고딕"/>
                <a:cs typeface="맑은 고딕"/>
              </a:rPr>
              <a:t>선별·게이지·히트맵·전체 앱 스모크 — 변경할 때마다 키 없이 자동 검증.</a:t>
            </a:r>
          </a:p>
        </p:txBody>
      </p:sp>
      <p:sp>
        <p:nvSpPr>
          <p:cNvPr id="14" name="Rounded Rectangle 13"/>
          <p:cNvSpPr/>
          <p:nvPr/>
        </p:nvSpPr>
        <p:spPr>
          <a:xfrm>
            <a:off x="548640" y="4434840"/>
            <a:ext cx="5394960" cy="1234440"/>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5" name="TextBox 14"/>
          <p:cNvSpPr txBox="1"/>
          <p:nvPr/>
        </p:nvSpPr>
        <p:spPr>
          <a:xfrm>
            <a:off x="749808" y="4553712"/>
            <a:ext cx="5029200" cy="1005840"/>
          </a:xfrm>
          <a:prstGeom prst="rect">
            <a:avLst/>
          </a:prstGeom>
          <a:noFill/>
        </p:spPr>
        <p:txBody>
          <a:bodyPr wrap="square" lIns="0" rIns="0" tIns="0" bIns="0">
            <a:spAutoFit/>
          </a:bodyPr>
          <a:lstStyle/>
          <a:p>
            <a:pPr algn="l">
              <a:lnSpc>
                <a:spcPct val="112000"/>
              </a:lnSpc>
              <a:spcBef>
                <a:spcPts val="0"/>
              </a:spcBef>
              <a:spcAft>
                <a:spcPts val="300"/>
              </a:spcAft>
            </a:pPr>
            <a:r>
              <a:rPr sz="1350" b="1" i="0">
                <a:solidFill>
                  <a:srgbClr val="1F3A5F"/>
                </a:solidFill>
                <a:latin typeface="맑은 고딕"/>
                <a:ea typeface="맑은 고딕"/>
                <a:cs typeface="맑은 고딕"/>
              </a:rPr>
              <a:t>탭 격리</a:t>
            </a:r>
          </a:p>
          <a:p>
            <a:pPr algn="l">
              <a:lnSpc>
                <a:spcPct val="120000"/>
              </a:lnSpc>
              <a:spcBef>
                <a:spcPts val="0"/>
              </a:spcBef>
              <a:spcAft>
                <a:spcPts val="0"/>
              </a:spcAft>
            </a:pPr>
            <a:r>
              <a:rPr sz="1100" b="0" i="0">
                <a:solidFill>
                  <a:srgbClr val="1F2937"/>
                </a:solidFill>
                <a:latin typeface="맑은 고딕"/>
                <a:ea typeface="맑은 고딕"/>
                <a:cs typeface="맑은 고딕"/>
              </a:rPr>
              <a:t>한 탭이 죽어도 다른 탭은 산다 — 각 탭을 try/except로 격리.</a:t>
            </a:r>
          </a:p>
        </p:txBody>
      </p:sp>
      <p:sp>
        <p:nvSpPr>
          <p:cNvPr id="16" name="Rounded Rectangle 15"/>
          <p:cNvSpPr/>
          <p:nvPr/>
        </p:nvSpPr>
        <p:spPr>
          <a:xfrm>
            <a:off x="6245352" y="4434840"/>
            <a:ext cx="5394960" cy="1234440"/>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7" name="TextBox 16"/>
          <p:cNvSpPr txBox="1"/>
          <p:nvPr/>
        </p:nvSpPr>
        <p:spPr>
          <a:xfrm>
            <a:off x="6446520" y="4553712"/>
            <a:ext cx="5029200" cy="1005840"/>
          </a:xfrm>
          <a:prstGeom prst="rect">
            <a:avLst/>
          </a:prstGeom>
          <a:noFill/>
        </p:spPr>
        <p:txBody>
          <a:bodyPr wrap="square" lIns="0" rIns="0" tIns="0" bIns="0">
            <a:spAutoFit/>
          </a:bodyPr>
          <a:lstStyle/>
          <a:p>
            <a:pPr algn="l">
              <a:lnSpc>
                <a:spcPct val="112000"/>
              </a:lnSpc>
              <a:spcBef>
                <a:spcPts val="0"/>
              </a:spcBef>
              <a:spcAft>
                <a:spcPts val="300"/>
              </a:spcAft>
            </a:pPr>
            <a:r>
              <a:rPr sz="1350" b="1" i="0">
                <a:solidFill>
                  <a:srgbClr val="1F3A5F"/>
                </a:solidFill>
                <a:latin typeface="맑은 고딕"/>
                <a:ea typeface="맑은 고딕"/>
                <a:cs typeface="맑은 고딕"/>
              </a:rPr>
              <a:t>XSS 방어</a:t>
            </a:r>
          </a:p>
          <a:p>
            <a:pPr algn="l">
              <a:lnSpc>
                <a:spcPct val="120000"/>
              </a:lnSpc>
              <a:spcBef>
                <a:spcPts val="0"/>
              </a:spcBef>
              <a:spcAft>
                <a:spcPts val="0"/>
              </a:spcAft>
            </a:pPr>
            <a:r>
              <a:rPr sz="1100" b="0" i="0">
                <a:solidFill>
                  <a:srgbClr val="1F2937"/>
                </a:solidFill>
                <a:latin typeface="맑은 고딕"/>
                <a:ea typeface="맑은 고딕"/>
                <a:cs typeface="맑은 고딕"/>
              </a:rPr>
              <a:t>LLM 자유 텍스트·시민 이름은 화면에 닿기 전 전부 escape.</a:t>
            </a:r>
          </a:p>
        </p:txBody>
      </p:sp>
      <p:sp>
        <p:nvSpPr>
          <p:cNvPr id="18" name="TextBox 17"/>
          <p:cNvSpPr txBox="1"/>
          <p:nvPr/>
        </p:nvSpPr>
        <p:spPr>
          <a:xfrm>
            <a:off x="548640" y="5852160"/>
            <a:ext cx="11091672" cy="457200"/>
          </a:xfrm>
          <a:prstGeom prst="rect">
            <a:avLst/>
          </a:prstGeom>
          <a:noFill/>
        </p:spPr>
        <p:txBody>
          <a:bodyPr wrap="square" lIns="0" rIns="0" tIns="0" bIns="0">
            <a:spAutoFit/>
          </a:bodyPr>
          <a:lstStyle/>
          <a:p>
            <a:pPr algn="ctr">
              <a:lnSpc>
                <a:spcPct val="112000"/>
              </a:lnSpc>
              <a:spcBef>
                <a:spcPts val="0"/>
              </a:spcBef>
              <a:spcAft>
                <a:spcPts val="0"/>
              </a:spcAft>
            </a:pPr>
            <a:r>
              <a:rPr sz="1150" b="0" i="0">
                <a:solidFill>
                  <a:srgbClr val="6B7280"/>
                </a:solidFill>
                <a:latin typeface="맑은 고딕"/>
                <a:ea typeface="맑은 고딕"/>
                <a:cs typeface="맑은 고딕"/>
              </a:rPr>
              <a:t>역할 분담 — (발표 전 채워주세요: 데이터/페르소나 · Agent/프롬프트 · 대시보드/지표 · UI/시각화)</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06 마무리</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한계 — 먼저 말해두는 다섯 가지</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22</a:t>
            </a:r>
          </a:p>
        </p:txBody>
      </p:sp>
      <p:sp>
        <p:nvSpPr>
          <p:cNvPr id="6" name="Rounded Rectangle 5"/>
          <p:cNvSpPr/>
          <p:nvPr/>
        </p:nvSpPr>
        <p:spPr>
          <a:xfrm>
            <a:off x="548640" y="1645920"/>
            <a:ext cx="11091672" cy="795528"/>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7" name="TextBox 6"/>
          <p:cNvSpPr txBox="1"/>
          <p:nvPr/>
        </p:nvSpPr>
        <p:spPr>
          <a:xfrm>
            <a:off x="804672" y="1719072"/>
            <a:ext cx="10607040" cy="658368"/>
          </a:xfrm>
          <a:prstGeom prst="rect">
            <a:avLst/>
          </a:prstGeom>
          <a:noFill/>
        </p:spPr>
        <p:txBody>
          <a:bodyPr wrap="square" lIns="0" rIns="0" tIns="0" bIns="0">
            <a:spAutoFit/>
          </a:bodyPr>
          <a:lstStyle/>
          <a:p>
            <a:pPr algn="l">
              <a:lnSpc>
                <a:spcPct val="118000"/>
              </a:lnSpc>
              <a:spcBef>
                <a:spcPts val="0"/>
              </a:spcBef>
              <a:spcAft>
                <a:spcPts val="0"/>
              </a:spcAft>
            </a:pPr>
            <a:r>
              <a:rPr sz="1300" b="1" i="0">
                <a:solidFill>
                  <a:srgbClr val="1F3A5F"/>
                </a:solidFill>
                <a:latin typeface="맑은 고딕"/>
                <a:ea typeface="맑은 고딕"/>
                <a:cs typeface="맑은 고딕"/>
              </a:rPr>
              <a:t>미래를 맞히는 도구가 아니다   </a:t>
            </a:r>
            <a:r>
              <a:rPr sz="1180" b="0" i="0">
                <a:solidFill>
                  <a:srgbClr val="1F2937"/>
                </a:solidFill>
                <a:latin typeface="맑은 고딕"/>
                <a:ea typeface="맑은 고딕"/>
                <a:cs typeface="맑은 고딕"/>
              </a:rPr>
              <a:t>일관되게 ‘영향 시나리오’로 포지셔닝. 신뢰성은 예측 정확도가 아니라 검증 3축(재료·작동·한계)과 사전등록으로 방어한다.</a:t>
            </a:r>
          </a:p>
        </p:txBody>
      </p:sp>
      <p:sp>
        <p:nvSpPr>
          <p:cNvPr id="8" name="Rounded Rectangle 7"/>
          <p:cNvSpPr/>
          <p:nvPr/>
        </p:nvSpPr>
        <p:spPr>
          <a:xfrm>
            <a:off x="548640" y="2532888"/>
            <a:ext cx="11091672" cy="795528"/>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9" name="TextBox 8"/>
          <p:cNvSpPr txBox="1"/>
          <p:nvPr/>
        </p:nvSpPr>
        <p:spPr>
          <a:xfrm>
            <a:off x="804672" y="2606040"/>
            <a:ext cx="10607040" cy="658368"/>
          </a:xfrm>
          <a:prstGeom prst="rect">
            <a:avLst/>
          </a:prstGeom>
          <a:noFill/>
        </p:spPr>
        <p:txBody>
          <a:bodyPr wrap="square" lIns="0" rIns="0" tIns="0" bIns="0">
            <a:spAutoFit/>
          </a:bodyPr>
          <a:lstStyle/>
          <a:p>
            <a:pPr algn="l">
              <a:lnSpc>
                <a:spcPct val="118000"/>
              </a:lnSpc>
              <a:spcBef>
                <a:spcPts val="0"/>
              </a:spcBef>
              <a:spcAft>
                <a:spcPts val="0"/>
              </a:spcAft>
            </a:pPr>
            <a:r>
              <a:rPr sz="1300" b="1" i="0">
                <a:solidFill>
                  <a:srgbClr val="1F3A5F"/>
                </a:solidFill>
                <a:latin typeface="맑은 고딕"/>
                <a:ea typeface="맑은 고딕"/>
                <a:cs typeface="맑은 고딕"/>
              </a:rPr>
              <a:t>소득 판정은 근사다   </a:t>
            </a:r>
            <a:r>
              <a:rPr sz="1180" b="0" i="0">
                <a:solidFill>
                  <a:srgbClr val="1F2937"/>
                </a:solidFill>
                <a:latin typeface="맑은 고딕"/>
                <a:ea typeface="맑은 고딕"/>
                <a:cs typeface="맑은 고딕"/>
              </a:rPr>
              <a:t>직업→소득 버킷은 휴리스틱. 그래서 검증 ⑤(의무 기부)는 시민의 자가판정을 썼다 — 코드보다 시민이 자기 형편을 더 잘 안다.</a:t>
            </a:r>
          </a:p>
        </p:txBody>
      </p:sp>
      <p:sp>
        <p:nvSpPr>
          <p:cNvPr id="10" name="Rounded Rectangle 9"/>
          <p:cNvSpPr/>
          <p:nvPr/>
        </p:nvSpPr>
        <p:spPr>
          <a:xfrm>
            <a:off x="548640" y="3419856"/>
            <a:ext cx="11091672" cy="795528"/>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1" name="TextBox 10"/>
          <p:cNvSpPr txBox="1"/>
          <p:nvPr/>
        </p:nvSpPr>
        <p:spPr>
          <a:xfrm>
            <a:off x="804672" y="3493008"/>
            <a:ext cx="10607040" cy="658368"/>
          </a:xfrm>
          <a:prstGeom prst="rect">
            <a:avLst/>
          </a:prstGeom>
          <a:noFill/>
        </p:spPr>
        <p:txBody>
          <a:bodyPr wrap="square" lIns="0" rIns="0" tIns="0" bIns="0">
            <a:spAutoFit/>
          </a:bodyPr>
          <a:lstStyle/>
          <a:p>
            <a:pPr algn="l">
              <a:lnSpc>
                <a:spcPct val="118000"/>
              </a:lnSpc>
              <a:spcBef>
                <a:spcPts val="0"/>
              </a:spcBef>
              <a:spcAft>
                <a:spcPts val="0"/>
              </a:spcAft>
            </a:pPr>
            <a:r>
              <a:rPr sz="1300" b="1" i="0">
                <a:solidFill>
                  <a:srgbClr val="1F3A5F"/>
                </a:solidFill>
                <a:latin typeface="맑은 고딕"/>
                <a:ea typeface="맑은 고딕"/>
                <a:cs typeface="맑은 고딕"/>
              </a:rPr>
              <a:t>‘실현 기대’ 측정축이 없다   </a:t>
            </a:r>
            <a:r>
              <a:rPr sz="1180" b="0" i="0">
                <a:solidFill>
                  <a:srgbClr val="1F2937"/>
                </a:solidFill>
                <a:latin typeface="맑은 고딕"/>
                <a:ea typeface="맑은 고딕"/>
                <a:cs typeface="맑은 고딕"/>
              </a:rPr>
              <a:t>“안 믿지만 받으면 좋지”가 수혜·의향 점수에 섞인다 — 설문에 실현 기대 문항 추가가 다음 후보.</a:t>
            </a:r>
          </a:p>
        </p:txBody>
      </p:sp>
      <p:sp>
        <p:nvSpPr>
          <p:cNvPr id="12" name="Rounded Rectangle 11"/>
          <p:cNvSpPr/>
          <p:nvPr/>
        </p:nvSpPr>
        <p:spPr>
          <a:xfrm>
            <a:off x="548640" y="4306824"/>
            <a:ext cx="11091672" cy="795528"/>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804672" y="4379976"/>
            <a:ext cx="10607040" cy="658368"/>
          </a:xfrm>
          <a:prstGeom prst="rect">
            <a:avLst/>
          </a:prstGeom>
          <a:noFill/>
        </p:spPr>
        <p:txBody>
          <a:bodyPr wrap="square" lIns="0" rIns="0" tIns="0" bIns="0">
            <a:spAutoFit/>
          </a:bodyPr>
          <a:lstStyle/>
          <a:p>
            <a:pPr algn="l">
              <a:lnSpc>
                <a:spcPct val="118000"/>
              </a:lnSpc>
              <a:spcBef>
                <a:spcPts val="0"/>
              </a:spcBef>
              <a:spcAft>
                <a:spcPts val="0"/>
              </a:spcAft>
            </a:pPr>
            <a:r>
              <a:rPr sz="1300" b="1" i="0">
                <a:solidFill>
                  <a:srgbClr val="1F3A5F"/>
                </a:solidFill>
                <a:latin typeface="맑은 고딕"/>
                <a:ea typeface="맑은 고딕"/>
                <a:cs typeface="맑은 고딕"/>
              </a:rPr>
              <a:t>표본이 작다   </a:t>
            </a:r>
            <a:r>
              <a:rPr sz="1180" b="0" i="0">
                <a:solidFill>
                  <a:srgbClr val="1F2937"/>
                </a:solidFill>
                <a:latin typeface="맑은 고딕"/>
                <a:ea typeface="맑은 고딕"/>
                <a:cs typeface="맑은 고딕"/>
              </a:rPr>
              <a:t>시민 24명 — 비율 최소 단위 4.2%p. 통계적 일반화가 아니라 ‘구조가 나타나는지’의 시연. 벤치마크는 1회 실행(폭 우선).</a:t>
            </a:r>
          </a:p>
        </p:txBody>
      </p:sp>
      <p:sp>
        <p:nvSpPr>
          <p:cNvPr id="14" name="Rounded Rectangle 13"/>
          <p:cNvSpPr/>
          <p:nvPr/>
        </p:nvSpPr>
        <p:spPr>
          <a:xfrm>
            <a:off x="548640" y="5193792"/>
            <a:ext cx="11091672" cy="795528"/>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5" name="TextBox 14"/>
          <p:cNvSpPr txBox="1"/>
          <p:nvPr/>
        </p:nvSpPr>
        <p:spPr>
          <a:xfrm>
            <a:off x="804672" y="5266944"/>
            <a:ext cx="10607040" cy="658368"/>
          </a:xfrm>
          <a:prstGeom prst="rect">
            <a:avLst/>
          </a:prstGeom>
          <a:noFill/>
        </p:spPr>
        <p:txBody>
          <a:bodyPr wrap="square" lIns="0" rIns="0" tIns="0" bIns="0">
            <a:spAutoFit/>
          </a:bodyPr>
          <a:lstStyle/>
          <a:p>
            <a:pPr algn="l">
              <a:lnSpc>
                <a:spcPct val="118000"/>
              </a:lnSpc>
              <a:spcBef>
                <a:spcPts val="0"/>
              </a:spcBef>
              <a:spcAft>
                <a:spcPts val="0"/>
              </a:spcAft>
            </a:pPr>
            <a:r>
              <a:rPr sz="1300" b="1" i="0">
                <a:solidFill>
                  <a:srgbClr val="1F3A5F"/>
                </a:solidFill>
                <a:latin typeface="맑은 고딕"/>
                <a:ea typeface="맑은 고딕"/>
                <a:cs typeface="맑은 고딕"/>
              </a:rPr>
              <a:t>이념·가치 축이 없다   </a:t>
            </a:r>
            <a:r>
              <a:rPr sz="1180" b="0" i="0">
                <a:solidFill>
                  <a:srgbClr val="1F2937"/>
                </a:solidFill>
                <a:latin typeface="맑은 고딕"/>
                <a:ea typeface="맑은 고딕"/>
                <a:cs typeface="맑은 고딕"/>
              </a:rPr>
              <a:t>과거 정책 갭 측정(시뮬 vs 당시 여론조사)에서 찬성률 MAE 27.4%p — 주범은 반대 진영 소실. 처방은 프롬프트가 아니라 데이터 강화.</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 name="TextBox 2"/>
          <p:cNvSpPr txBox="1"/>
          <p:nvPr/>
        </p:nvSpPr>
        <p:spPr>
          <a:xfrm>
            <a:off x="914400" y="1051560"/>
            <a:ext cx="10362895" cy="2103120"/>
          </a:xfrm>
          <a:prstGeom prst="rect">
            <a:avLst/>
          </a:prstGeom>
          <a:noFill/>
        </p:spPr>
        <p:txBody>
          <a:bodyPr wrap="square" lIns="0" rIns="0" tIns="0" bIns="0">
            <a:spAutoFit/>
          </a:bodyPr>
          <a:lstStyle/>
          <a:p>
            <a:pPr algn="ctr">
              <a:lnSpc>
                <a:spcPct val="112000"/>
              </a:lnSpc>
              <a:spcBef>
                <a:spcPts val="0"/>
              </a:spcBef>
              <a:spcAft>
                <a:spcPts val="1000"/>
              </a:spcAft>
            </a:pPr>
            <a:r>
              <a:rPr sz="4000" b="1" i="0">
                <a:solidFill>
                  <a:srgbClr val="1F3A5F"/>
                </a:solidFill>
                <a:latin typeface="맑은 고딕"/>
                <a:ea typeface="맑은 고딕"/>
                <a:cs typeface="맑은 고딕"/>
              </a:rPr>
              <a:t>“같은 정책, 다른 인생.”</a:t>
            </a:r>
          </a:p>
          <a:p>
            <a:pPr algn="ctr">
              <a:lnSpc>
                <a:spcPct val="112000"/>
              </a:lnSpc>
              <a:spcBef>
                <a:spcPts val="0"/>
              </a:spcBef>
              <a:spcAft>
                <a:spcPts val="400"/>
              </a:spcAft>
            </a:pPr>
            <a:r>
              <a:rPr sz="1800" b="0" i="0">
                <a:solidFill>
                  <a:srgbClr val="1F2937"/>
                </a:solidFill>
                <a:latin typeface="맑은 고딕"/>
                <a:ea typeface="맑은 고딕"/>
                <a:cs typeface="맑은 고딕"/>
              </a:rPr>
              <a:t>미리랩은 그 갈림을 </a:t>
            </a:r>
            <a:r>
              <a:rPr sz="1800" b="1" i="0">
                <a:solidFill>
                  <a:srgbClr val="2D6CDF"/>
                </a:solidFill>
                <a:latin typeface="맑은 고딕"/>
                <a:ea typeface="맑은 고딕"/>
                <a:cs typeface="맑은 고딕"/>
              </a:rPr>
              <a:t>배포 전에</a:t>
            </a:r>
            <a:r>
              <a:rPr sz="1800" b="0" i="0">
                <a:solidFill>
                  <a:srgbClr val="1F2937"/>
                </a:solidFill>
                <a:latin typeface="맑은 고딕"/>
                <a:ea typeface="맑은 고딕"/>
                <a:cs typeface="맑은 고딕"/>
              </a:rPr>
              <a:t> 보여줍니다</a:t>
            </a:r>
          </a:p>
          <a:p>
            <a:pPr algn="ctr">
              <a:lnSpc>
                <a:spcPct val="112000"/>
              </a:lnSpc>
              <a:spcBef>
                <a:spcPts val="0"/>
              </a:spcBef>
              <a:spcAft>
                <a:spcPts val="0"/>
              </a:spcAft>
            </a:pPr>
            <a:r>
              <a:rPr sz="1500" b="0" i="0">
                <a:solidFill>
                  <a:srgbClr val="6B7280"/>
                </a:solidFill>
                <a:latin typeface="맑은 고딕"/>
                <a:ea typeface="맑은 고딕"/>
                <a:cs typeface="맑은 고딕"/>
              </a:rPr>
              <a:t>— 누가 이해 못 하고 · 누가 신청 못 하고 · 어디서 막히는지</a:t>
            </a:r>
          </a:p>
        </p:txBody>
      </p:sp>
      <p:sp>
        <p:nvSpPr>
          <p:cNvPr id="4" name="Rounded Rectangle 3"/>
          <p:cNvSpPr/>
          <p:nvPr/>
        </p:nvSpPr>
        <p:spPr>
          <a:xfrm>
            <a:off x="640080" y="3429000"/>
            <a:ext cx="2633472" cy="1234440"/>
          </a:xfrm>
          <a:prstGeom prst="roundRect">
            <a:avLst>
              <a:gd name="adj" fmla="val 8000"/>
            </a:avLst>
          </a:prstGeom>
          <a:solidFill>
            <a:srgbClr val="EAF0F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5" name="TextBox 4"/>
          <p:cNvSpPr txBox="1"/>
          <p:nvPr/>
        </p:nvSpPr>
        <p:spPr>
          <a:xfrm>
            <a:off x="804671" y="3566160"/>
            <a:ext cx="2331720" cy="1005840"/>
          </a:xfrm>
          <a:prstGeom prst="rect">
            <a:avLst/>
          </a:prstGeom>
          <a:noFill/>
        </p:spPr>
        <p:txBody>
          <a:bodyPr wrap="square" lIns="0" rIns="0" tIns="0" bIns="0">
            <a:spAutoFit/>
          </a:bodyPr>
          <a:lstStyle/>
          <a:p>
            <a:pPr algn="l">
              <a:lnSpc>
                <a:spcPct val="112000"/>
              </a:lnSpc>
              <a:spcBef>
                <a:spcPts val="0"/>
              </a:spcBef>
              <a:spcAft>
                <a:spcPts val="300"/>
              </a:spcAft>
            </a:pPr>
            <a:r>
              <a:rPr sz="1200" b="1" i="0">
                <a:solidFill>
                  <a:srgbClr val="1F3A5F"/>
                </a:solidFill>
                <a:latin typeface="맑은 고딕"/>
                <a:ea typeface="맑은 고딕"/>
                <a:cs typeface="맑은 고딕"/>
              </a:rPr>
              <a:t>다음 — 이념·가치 축</a:t>
            </a:r>
          </a:p>
          <a:p>
            <a:pPr algn="l">
              <a:lnSpc>
                <a:spcPct val="118000"/>
              </a:lnSpc>
              <a:spcBef>
                <a:spcPts val="0"/>
              </a:spcBef>
              <a:spcAft>
                <a:spcPts val="0"/>
              </a:spcAft>
            </a:pPr>
            <a:r>
              <a:rPr sz="1050" b="0" i="0">
                <a:solidFill>
                  <a:srgbClr val="1F2937"/>
                </a:solidFill>
                <a:latin typeface="맑은 고딕"/>
                <a:ea typeface="맑은 고딕"/>
                <a:cs typeface="맑은 고딕"/>
              </a:rPr>
              <a:t>갭 27.4%p의 주범 ‘반대 진영 소실’ — 데이터 강화로 해소</a:t>
            </a:r>
          </a:p>
        </p:txBody>
      </p:sp>
      <p:sp>
        <p:nvSpPr>
          <p:cNvPr id="6" name="Rounded Rectangle 5"/>
          <p:cNvSpPr/>
          <p:nvPr/>
        </p:nvSpPr>
        <p:spPr>
          <a:xfrm>
            <a:off x="3438144" y="3429000"/>
            <a:ext cx="2633472" cy="1234440"/>
          </a:xfrm>
          <a:prstGeom prst="roundRect">
            <a:avLst>
              <a:gd name="adj" fmla="val 8000"/>
            </a:avLst>
          </a:prstGeom>
          <a:solidFill>
            <a:srgbClr val="EAF0F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7" name="TextBox 6"/>
          <p:cNvSpPr txBox="1"/>
          <p:nvPr/>
        </p:nvSpPr>
        <p:spPr>
          <a:xfrm>
            <a:off x="3602736" y="3566160"/>
            <a:ext cx="2331720" cy="1005840"/>
          </a:xfrm>
          <a:prstGeom prst="rect">
            <a:avLst/>
          </a:prstGeom>
          <a:noFill/>
        </p:spPr>
        <p:txBody>
          <a:bodyPr wrap="square" lIns="0" rIns="0" tIns="0" bIns="0">
            <a:spAutoFit/>
          </a:bodyPr>
          <a:lstStyle/>
          <a:p>
            <a:pPr algn="l">
              <a:lnSpc>
                <a:spcPct val="112000"/>
              </a:lnSpc>
              <a:spcBef>
                <a:spcPts val="0"/>
              </a:spcBef>
              <a:spcAft>
                <a:spcPts val="300"/>
              </a:spcAft>
            </a:pPr>
            <a:r>
              <a:rPr sz="1200" b="1" i="0">
                <a:solidFill>
                  <a:srgbClr val="1F3A5F"/>
                </a:solidFill>
                <a:latin typeface="맑은 고딕"/>
                <a:ea typeface="맑은 고딕"/>
                <a:cs typeface="맑은 고딕"/>
              </a:rPr>
              <a:t>다음 — 실현 기대 문항</a:t>
            </a:r>
          </a:p>
          <a:p>
            <a:pPr algn="l">
              <a:lnSpc>
                <a:spcPct val="118000"/>
              </a:lnSpc>
              <a:spcBef>
                <a:spcPts val="0"/>
              </a:spcBef>
              <a:spcAft>
                <a:spcPts val="0"/>
              </a:spcAft>
            </a:pPr>
            <a:r>
              <a:rPr sz="1050" b="0" i="0">
                <a:solidFill>
                  <a:srgbClr val="1F2937"/>
                </a:solidFill>
                <a:latin typeface="맑은 고딕"/>
                <a:ea typeface="맑은 고딕"/>
                <a:cs typeface="맑은 고딕"/>
              </a:rPr>
              <a:t>“안 믿지만 받으면 좋지”를 분리하는 설문 축 추가</a:t>
            </a:r>
          </a:p>
        </p:txBody>
      </p:sp>
      <p:sp>
        <p:nvSpPr>
          <p:cNvPr id="8" name="Rounded Rectangle 7"/>
          <p:cNvSpPr/>
          <p:nvPr/>
        </p:nvSpPr>
        <p:spPr>
          <a:xfrm>
            <a:off x="6236208" y="3429000"/>
            <a:ext cx="2633472" cy="1234440"/>
          </a:xfrm>
          <a:prstGeom prst="roundRect">
            <a:avLst>
              <a:gd name="adj" fmla="val 8000"/>
            </a:avLst>
          </a:prstGeom>
          <a:solidFill>
            <a:srgbClr val="EAF0F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9" name="TextBox 8"/>
          <p:cNvSpPr txBox="1"/>
          <p:nvPr/>
        </p:nvSpPr>
        <p:spPr>
          <a:xfrm>
            <a:off x="6400800" y="3566160"/>
            <a:ext cx="2331720" cy="1005840"/>
          </a:xfrm>
          <a:prstGeom prst="rect">
            <a:avLst/>
          </a:prstGeom>
          <a:noFill/>
        </p:spPr>
        <p:txBody>
          <a:bodyPr wrap="square" lIns="0" rIns="0" tIns="0" bIns="0">
            <a:spAutoFit/>
          </a:bodyPr>
          <a:lstStyle/>
          <a:p>
            <a:pPr algn="l">
              <a:lnSpc>
                <a:spcPct val="112000"/>
              </a:lnSpc>
              <a:spcBef>
                <a:spcPts val="0"/>
              </a:spcBef>
              <a:spcAft>
                <a:spcPts val="300"/>
              </a:spcAft>
            </a:pPr>
            <a:r>
              <a:rPr sz="1200" b="1" i="0">
                <a:solidFill>
                  <a:srgbClr val="1F3A5F"/>
                </a:solidFill>
                <a:latin typeface="맑은 고딕"/>
                <a:ea typeface="맑은 고딕"/>
                <a:cs typeface="맑은 고딕"/>
              </a:rPr>
              <a:t>다음 — 갭 리베이스라인</a:t>
            </a:r>
          </a:p>
          <a:p>
            <a:pPr algn="l">
              <a:lnSpc>
                <a:spcPct val="118000"/>
              </a:lnSpc>
              <a:spcBef>
                <a:spcPts val="0"/>
              </a:spcBef>
              <a:spcAft>
                <a:spcPts val="0"/>
              </a:spcAft>
            </a:pPr>
            <a:r>
              <a:rPr sz="1050" b="0" i="0">
                <a:solidFill>
                  <a:srgbClr val="1F2937"/>
                </a:solidFill>
                <a:latin typeface="맑은 고딕"/>
                <a:ea typeface="맑은 고딕"/>
                <a:cs typeface="맑은 고딕"/>
              </a:rPr>
              <a:t>Gemini 기준 재측정 — 개선 폭을 같은 자로 추적</a:t>
            </a:r>
          </a:p>
        </p:txBody>
      </p:sp>
      <p:sp>
        <p:nvSpPr>
          <p:cNvPr id="10" name="Rounded Rectangle 9"/>
          <p:cNvSpPr/>
          <p:nvPr/>
        </p:nvSpPr>
        <p:spPr>
          <a:xfrm>
            <a:off x="9034272" y="3429000"/>
            <a:ext cx="2633472" cy="1234440"/>
          </a:xfrm>
          <a:prstGeom prst="roundRect">
            <a:avLst>
              <a:gd name="adj" fmla="val 8000"/>
            </a:avLst>
          </a:prstGeom>
          <a:solidFill>
            <a:srgbClr val="EAF0F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1" name="TextBox 10"/>
          <p:cNvSpPr txBox="1"/>
          <p:nvPr/>
        </p:nvSpPr>
        <p:spPr>
          <a:xfrm>
            <a:off x="9198864" y="3566160"/>
            <a:ext cx="2331720" cy="1005840"/>
          </a:xfrm>
          <a:prstGeom prst="rect">
            <a:avLst/>
          </a:prstGeom>
          <a:noFill/>
        </p:spPr>
        <p:txBody>
          <a:bodyPr wrap="square" lIns="0" rIns="0" tIns="0" bIns="0">
            <a:spAutoFit/>
          </a:bodyPr>
          <a:lstStyle/>
          <a:p>
            <a:pPr algn="l">
              <a:lnSpc>
                <a:spcPct val="112000"/>
              </a:lnSpc>
              <a:spcBef>
                <a:spcPts val="0"/>
              </a:spcBef>
              <a:spcAft>
                <a:spcPts val="300"/>
              </a:spcAft>
            </a:pPr>
            <a:r>
              <a:rPr sz="1200" b="1" i="0">
                <a:solidFill>
                  <a:srgbClr val="1F3A5F"/>
                </a:solidFill>
                <a:latin typeface="맑은 고딕"/>
                <a:ea typeface="맑은 고딕"/>
                <a:cs typeface="맑은 고딕"/>
              </a:rPr>
              <a:t>다음 — 미리마을 확장</a:t>
            </a:r>
          </a:p>
          <a:p>
            <a:pPr algn="l">
              <a:lnSpc>
                <a:spcPct val="118000"/>
              </a:lnSpc>
              <a:spcBef>
                <a:spcPts val="0"/>
              </a:spcBef>
              <a:spcAft>
                <a:spcPts val="0"/>
              </a:spcAft>
            </a:pPr>
            <a:r>
              <a:rPr sz="1050" b="0" i="0">
                <a:solidFill>
                  <a:srgbClr val="1F2937"/>
                </a:solidFill>
                <a:latin typeface="맑은 고딕"/>
                <a:ea typeface="맑은 고딕"/>
                <a:cs typeface="맑은 고딕"/>
              </a:rPr>
              <a:t>누적 기억(B단계) · 적응 스케줄 · 페르소나 RAG</a:t>
            </a:r>
          </a:p>
        </p:txBody>
      </p:sp>
      <p:pic>
        <p:nvPicPr>
          <p:cNvPr id="12" name="Picture 11" descr="sprite_grandma.png"/>
          <p:cNvPicPr>
            <a:picLocks noChangeAspect="1"/>
          </p:cNvPicPr>
          <p:nvPr/>
        </p:nvPicPr>
        <p:blipFill>
          <a:blip r:embed="rId2"/>
          <a:stretch>
            <a:fillRect/>
          </a:stretch>
        </p:blipFill>
        <p:spPr>
          <a:xfrm>
            <a:off x="4381347" y="4892040"/>
            <a:ext cx="548640" cy="548640"/>
          </a:xfrm>
          <a:prstGeom prst="rect">
            <a:avLst/>
          </a:prstGeom>
        </p:spPr>
      </p:pic>
      <p:pic>
        <p:nvPicPr>
          <p:cNvPr id="13" name="Picture 12" descr="sprite_minsu.png"/>
          <p:cNvPicPr>
            <a:picLocks noChangeAspect="1"/>
          </p:cNvPicPr>
          <p:nvPr/>
        </p:nvPicPr>
        <p:blipFill>
          <a:blip r:embed="rId3"/>
          <a:stretch>
            <a:fillRect/>
          </a:stretch>
        </p:blipFill>
        <p:spPr>
          <a:xfrm>
            <a:off x="5067147" y="4892040"/>
            <a:ext cx="548640" cy="548640"/>
          </a:xfrm>
          <a:prstGeom prst="rect">
            <a:avLst/>
          </a:prstGeom>
        </p:spPr>
      </p:pic>
      <p:pic>
        <p:nvPicPr>
          <p:cNvPr id="14" name="Picture 13" descr="sprite_sua.png"/>
          <p:cNvPicPr>
            <a:picLocks noChangeAspect="1"/>
          </p:cNvPicPr>
          <p:nvPr/>
        </p:nvPicPr>
        <p:blipFill>
          <a:blip r:embed="rId4"/>
          <a:stretch>
            <a:fillRect/>
          </a:stretch>
        </p:blipFill>
        <p:spPr>
          <a:xfrm>
            <a:off x="5752947" y="4892040"/>
            <a:ext cx="548640" cy="548640"/>
          </a:xfrm>
          <a:prstGeom prst="rect">
            <a:avLst/>
          </a:prstGeom>
        </p:spPr>
      </p:pic>
      <p:pic>
        <p:nvPicPr>
          <p:cNvPr id="15" name="Picture 14" descr="sprite_owner.png"/>
          <p:cNvPicPr>
            <a:picLocks noChangeAspect="1"/>
          </p:cNvPicPr>
          <p:nvPr/>
        </p:nvPicPr>
        <p:blipFill>
          <a:blip r:embed="rId5"/>
          <a:stretch>
            <a:fillRect/>
          </a:stretch>
        </p:blipFill>
        <p:spPr>
          <a:xfrm>
            <a:off x="6438747" y="4892040"/>
            <a:ext cx="548640" cy="548640"/>
          </a:xfrm>
          <a:prstGeom prst="rect">
            <a:avLst/>
          </a:prstGeom>
        </p:spPr>
      </p:pic>
      <p:pic>
        <p:nvPicPr>
          <p:cNvPr id="16" name="Picture 15" descr="sprite_oldman.png"/>
          <p:cNvPicPr>
            <a:picLocks noChangeAspect="1"/>
          </p:cNvPicPr>
          <p:nvPr/>
        </p:nvPicPr>
        <p:blipFill>
          <a:blip r:embed="rId6"/>
          <a:stretch>
            <a:fillRect/>
          </a:stretch>
        </p:blipFill>
        <p:spPr>
          <a:xfrm>
            <a:off x="7124547" y="4892040"/>
            <a:ext cx="548640" cy="548640"/>
          </a:xfrm>
          <a:prstGeom prst="rect">
            <a:avLst/>
          </a:prstGeom>
        </p:spPr>
      </p:pic>
      <p:sp>
        <p:nvSpPr>
          <p:cNvPr id="17" name="TextBox 16"/>
          <p:cNvSpPr txBox="1"/>
          <p:nvPr/>
        </p:nvSpPr>
        <p:spPr>
          <a:xfrm>
            <a:off x="914400" y="5623560"/>
            <a:ext cx="10362895" cy="822960"/>
          </a:xfrm>
          <a:prstGeom prst="rect">
            <a:avLst/>
          </a:prstGeom>
          <a:noFill/>
        </p:spPr>
        <p:txBody>
          <a:bodyPr wrap="square" lIns="0" rIns="0" tIns="0" bIns="0">
            <a:spAutoFit/>
          </a:bodyPr>
          <a:lstStyle/>
          <a:p>
            <a:pPr algn="ctr">
              <a:lnSpc>
                <a:spcPct val="112000"/>
              </a:lnSpc>
              <a:spcBef>
                <a:spcPts val="0"/>
              </a:spcBef>
              <a:spcAft>
                <a:spcPts val="400"/>
              </a:spcAft>
            </a:pPr>
            <a:r>
              <a:rPr sz="2200" b="1" i="0">
                <a:solidFill>
                  <a:srgbClr val="1F3A5F"/>
                </a:solidFill>
                <a:latin typeface="맑은 고딕"/>
                <a:ea typeface="맑은 고딕"/>
                <a:cs typeface="맑은 고딕"/>
              </a:rPr>
              <a:t>감사합니다 — Q&amp;A</a:t>
            </a:r>
          </a:p>
          <a:p>
            <a:pPr algn="ctr">
              <a:lnSpc>
                <a:spcPct val="112000"/>
              </a:lnSpc>
              <a:spcBef>
                <a:spcPts val="0"/>
              </a:spcBef>
              <a:spcAft>
                <a:spcPts val="0"/>
              </a:spcAft>
            </a:pPr>
            <a:r>
              <a:rPr sz="1000" b="0" i="0">
                <a:solidFill>
                  <a:srgbClr val="6B7280"/>
                </a:solidFill>
                <a:latin typeface="맑은 고딕"/>
                <a:ea typeface="맑은 고딕"/>
                <a:cs typeface="맑은 고딕"/>
              </a:rPr>
              <a:t>데이터 nvidia/Nemotron-Personas-Korea (CC BY 4.0) · LangGraph · Streamlit · gemini-3-flash / gpt-4o-mini · Generative Agents (Park et al.,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