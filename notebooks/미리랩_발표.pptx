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저희는 '미리랩'을 만들었습니다. 미리랩은 정책을 배포하기 '전에' AI 가상 시민 사회에서 '미리' 반응을 실험하는 랩(Lab)입니다. 아래 캐릭터들은 실제로 저희 시뮬레이션 속에서 살아가는 가상 시민들인데, 발표 마지막에 이 친구들이 마을에서 직접 움직이는 모습을 보여드리겠습니다. (팀명·발표자 이름은 슬라이드에 채워주세요)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여섯 부분입니다. 문제의식에서 출발해, 시스템 두 축을 보여드리고, 이 모양에 도달하기까지의 시행착오를 솔직하게 공유합니다. 그리고 '이걸 믿을 수 있나'에 대한 정량 검증, 마지막으로 확장 구현(게시판 RAG와 미리마을)과 한계를 말씀드립니다. — 섹션 단위로 발표자를 나누기 좋게 구성했습니다. 10분 버전이 필요하면 02·04·05를 한 장씩 줄이는 걸 추천합니다.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정부와 지자체는 매년 수천 건의 정책을 발표하지만, 정작 필요한 사람에게 닿지 못하는 구조적 누수가 반복됩니다. 모르거나, 어렵거나, 디지털이 벽이거나, 발표돼도 닿지 않거나. 기존 서비스는 전부 정책을 '찾는' 시민을 돕는 도구입니다. 정책을 '만드는' 입안자가 배포 전에 '누가 못 받을지'를 미리 보는 도구는 없습니다. 저희는 바로 그 빈자리를 노렸습니다.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미리랩의 한 줄 포지셔닝입니다. 같은 청년 월세 정책이라도 26세 청년은 5분 만에 신청해 혜택을 받고, 46세 중장년은 자녀를 위해 대신 신청해 주고, 74세 어르신은 6개월이 지나도 존재조차 모릅니다. '같은 정책, 다른 인생' — 이 갈림을 배포 전에 미리 보여주는 것이 미리랩입니다. 이 세 가지 색(수혜·경계·사각)이 오늘 발표 전체를 관통하는 색입니다.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바닥에는 실제 한국 인구통계 기반 페르소나 파이프라인이 있고, 그 위에 두 축이 섭니다. 축 A '시민 반응'은 집단의 온도 — 시민 전원이 정책에 점수와 입장으로 반응하고 게이지·히트맵으로 집계됩니다. 축 B '정책 인생극장'은 개인의 궤적 — 1·3·6개월 시간 경과 속에서 각자의 인생이 어떻게 갈리는지 봅니다. 이 모든 게 Streamlit 7탭 앱으로 통합돼 있고, API 키가 없어도 mock 모드로 전체 데모가 돌아갑니다. 발표 중 네트워크가 죽어도 데모는 안 죽습니다.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페르소나는 손으로 만들지 않았습니다. NVIDIA가 통계청 등 실제 통계로 합성한 100만 행 데이터셋에서 seed 고정으로 샘플링합니다. 손으로 만들면 보고 싶은 반응을 심게 되니까요. 실제 분포에서 뽑으면 사각지대 인물이 '이미 시드 안에' 들어 있습니다. 데이터셋에 없는 디지털 문해력·소득 같은 신호는 LLM이 아니라 순수 파이썬 규칙으로 유도해서, 같은 입력이면 항상 같은 값이 나옵니다 — 재현성이 발표 안정성이기도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 A는 LangGraph 3노드 파이프라인입니다. 시민 각자가 정책에 1차 반응하고(react), 다른 시민의 반응을 본 뒤 입장을 바꾸기도 하고(interact), 마지막에 분석가 노드가 집계해서 수정안까지 제안합니다(aggregate). 화면에는 게이지 3종과 시민 전원의 히트맵이 뜨고, 행을 클릭하면 그 시민의 생생한 한마디가 보입니다. 그리고 여기서 끝나지 않고 — 진단된 병목으로 수정안을 만들어 '같은 시민'에게 다시 실험하는 A/B 폐루프까지 닫혀 있습니다. 진단→수정→재실험, 그래서 '실험실'입니다. (캡처는 데모 시뮬 돌린 직후 시민 반응 탭 화면을 권장) [Q&amp;A 대비 — 사회혼란도 정의: 3번의 재정의 끝에 '반발 강도 = 불만 점수 평균'으로 확정. v1 양극화는 '전쟁=전원 반대'에서 혼란도가 낮게 나와 폐기(이름≠측정), v2 사각지대(benefit−intent)는 데모에서 0이라 폐기. 찬반 갈림은 stance 분포 바가, '왜' 화났는지는 서사가 맡음 — 정량은 게이지, 정성은 서사로 분리.]</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 B 정책 인생극장입니다. 시민 전원을 1·3·6개월 시간 경과 속에서 살게 하고, 그 '실제 결과'에서 수혜·경계·사각 세 사람을 뽑아 카드로 보여줍니다. 카드를 펼치면 '알게 됨 → 신청 → 서류에서 막힘' 같은 여정 띠와 함께, 어떤 경로로 알게 됐고 어디서 막혔는지가 서사로 나옵니다. 장소 5곳이 사각지대의 표현 장치인데, 청년은 복지로에서 5분이면 끝나는 일이 고령 어르신에겐 어느 채널로도 닿지 못하는 일이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여기부터가 저희 발표의 진짜 내용입니다. 미리랩은 한 번에 설계되지 않았고, 세 번 크게 방향을 틀었습니다. 전파 그래프는 '서로 모르는 통계 샘플에 전파 엣지를 그리는 건 연출'이라서 버렸고, 24명 마을은 무겁고 대표성 공격에 약해서 대조 3명으로 좁혔고, '예측'이라는 단어는 검증 공격을 부르기 때문에 '영향 시나리오'로 포지셔닝을 바꿨습니다. 중요한 건 — 좁힌 것들이 버려진 게 아니라 뒤에서 다른 모습으로 돌아온다는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시행착오, 저희가 '두 심판 문제'라고 부르는 버그입니다. 처음엔 시뮬레이션 전에 점수로 세 명을 '예측'해서 뽑았는데, 경계로 뽑힌 사람의 이야기가 '월세를 받았다'로 나오는 모순이 생겼습니다. 라벨을 정하는 심판과 이야기를 쓰는 심판이 달랐던 거죠. 핵심 통찰은 — 수혜·경계·사각은 점수가 아니라 '결과'라는 것. 그래서 전원을 먼저 살게 한 뒤 실제 결과에서 뽑는 방식으로 바꿨고, 이제 라벨과 이야기는 구조적으로 어긋날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시행착오. 일부러 극단 정책 '전 국민 10억 지급'을 넣어봤더니 전원 찬성이 나왔습니다. 시민들이 실현 가능성이나 부작용은 안 보고 '내가 받느냐'만 따지는 계산기였던 거죠. 프롬프트 최상단에 '현실적으로 판단하라'는 원칙을 넣었더니 10억 지급은 전원 반대로 바뀌었습니다. 다만 정직하게 — 정상 정책의 혼란도까지 살짝 올라가는 과교정이 생겼고, 이 미세 튜닝은 남은 과제로 기록해 뒀습니다. 저희는 시행착오를 숨기지 않고 그대로 보여드립니다.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버그 하나가 아니라, 반복해서 발견한 설계 패턴입니다. LLM은 확률적이라 가끔 말이 안 되는 출력을 냅니다 — 신청했던 사람이 '몰랐다'로 퇴행하거나, 46세를 청년 정책 사각지대로 잘못 라벨하거나, 모르던 사람이 어느새 다 알게 되거나. 저희 답은 일관됩니다: 서사와 판단은 LLM에게 맡기되, 어겨선 안 되는 규칙(상태는 안 되돌아간다 / 대상 여부는 사실이다 / 모르는 사람은 만나야 안다)은 코드 가드가 보증합니다. 이 철학이 시스템 전체를 관통합니다.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'이걸 믿을 수 있나'에 답합니다. 미리랩은 예측 정확도를 주장하지 않는 대신, Generative Agents 논문과 같은 방식의 컴포넌트 ablation으로 방어합니다. 페르소나 주입을 켠 것과 끈 것을 비교하면 — 인물 간 점수 표준편차가 21에서 9로 붕괴하고, 디지털 문해력과 이해도 점수의 상관이 0.6~0.8에서 0으로 떨어집니다. 오른쪽 사례가 직관적입니다: 같은 60세 무직 시민이 페르소나를 빼는 순간 청년 정책에 '수혜 90점'을 줍니다. 반응이 페르소나에서 나온다는 증거입니다.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검증은 '한 번의 우연이 아니냐'에 대한 답입니다. 24명을 30회씩, 총 720회 반응을 모았습니다. 연령이 수혜·의향 점수를 가르는 정도(eta 제곱)가 0.8 수준 — 반응이 무작위 잡음이 아니라 인구통계 집단으로 구조화된다는 뜻입니다. 입장은 완전 분리됐고(청년 반대 0, 노인 찬성 0), 같은 시민을 반복해도 입장이 82% 유지됩니다. 무작위면 33%죠. 그리고 정직하게: LLM이라 절대값은 매번 출렁이지만, 방향은 항상 일관됩니다. 절대값이 아니라 구조를 믿어 달라는 게 저희 주장입니다.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확장 파트 첫 번째, 게시판 RAG입니다. 2일차에 'MVP에서 제외'로 좁혔던 RAG가 마지막에 팀의 손으로 돌아왔습니다. 시민이나 입안자가 정책 문서에 질문하면, 벡터 검색으로 찾은 근거 '안에서만' 답하고 근거와 품질지표를 함께 보여줍니다. 협업 방식이 포인트인데 — 본체에는 자리와 반환 계약만 설계해 두고 팀원이 독립 패키지로 구현해서 마지막에 끼워 넣었습니다. 키가 없으면 추출식 폴백으로 동작하니 데모도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확장, 미리마을입니다. Generative Agents 논문의 원형 — 에이전트가 공간에서 스케줄대로 살아가는 마을을 포켓몬식 오버월드로 구현했습니다. LLM이 10명 각자의 하루를 생성하면 브라우저는 LLM 호출 없이 재생만 합니다. 발표 중에도 안전하죠. 재미있는 시행착오가 있었는데, LLM이 짠 스케줄은 순간이동을 가정해서 막상 걸어가면 만남의 절반이 증발했습니다. 실제 도보 시간을 시뮬해서 만남을 다시 뽑았고요. 그리고 시키지 않았는데 캐릭터들이 서로를 일정에 엮고, 같은 카페 사장이 손님마다 다른 대화를 하는 '창발'이 나타났습니다. [Q&amp;A 대비 — "손으로 안 만든다더니 모순 아니냐": 축 A·B의 통계 샘플은 '대표성'이 목적이라 무작위 추출이 맞고, 미리마을은 '전파'가 목적이라 서로 아는 관계가 필수입니다. 무작위 샘플엔 관계가 없으니 손제작 — 목적이 다르면 재료도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미리마을에 정책을 주입하면 질문이 바뀝니다. '효과가 어떤가'가 아니라 '소식이 누구에게, 어떤 경로로 닿는가'. 복지관 어르신 두 분만 아는 상태로 시작하면, 마을 사람들이 스케줄대로 살다가 마주친 대화에서 소식이 옮습니다. 밤에는 각자 일기로 하루를 압축해 다음날의 기억이 되고요. 실측 결과 하루 만에 10명 중 8명에게 퍼졌는데, 동선이 안 겹친 두 명이 사각지대로 남았습니다. 12장에서 보신 '전파 게이트'가 바로 이 무대의 코드 가드입니다. 그리고 중요한 것 — 처음에 버렸던 '전파'가 여기서 부활했습니다. 여긴 서로 아는 마을이라 전파가 연출이 아니라 관계와 동선의 결과이기 때문입니다. → 이 슬라이드 직후 미리마을 재생 데모(60~90초): 발표 첫 장에서 약속한 '이 친구들이 직접 움직이는 모습'을 여기서 회수합니다. 녹화 재생이라 LLM 0콜, 발표장 네트워크와 무관하게 안전.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기능 얘기를 마치기 전에, 4일 동안 4명이 서로의 작업을 깨지 않게 한 규율을 짧게 소개합니다. 공유 스키마는 변경 금지·추가만 허용하는 팀 계약으로 묶었고, 키 없이 도는 mock 모드와 헤드리스 회귀 스크립트 덕분에 누가 무엇을 바꿔도 안전하게 검증했습니다. 게시판 RAG가 마지막 날 본체를 한 줄도 안 깨고 들어올 수 있었던 게 이 규율의 실증입니다. (시간이 빠듯하면 이 장은 한 문장으로 줄이고 넘어가도 됩니다. 역할 분담 줄은 실제 팀 구성으로 채워주세요.)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전에 한계를 저희 입으로 먼저 말씀드립니다. 미리랩은 미래를 맞히는 도구가 아니고, 그렇게 주장하지도 않습니다. 소득 판정은 휴리스틱 근사이고, 현실성 프롬프트엔 과교정이 남아 있고, 표본은 작습니다. LLM이 LLM을 채점하는 순환 한계도 있고요. 저희가 보여드린 건 '정확한 예측'이 아니라 — 페르소나에 근거하고, 반복해도 재현되고, 집단으로 구조화되는 '영향 시나리오'입니다. 이 정직한 선 긋기가 저희 설계의 일부입니다.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 미리랩은 실제 인구통계 기반 가상 시민에게 정책을 먼저 물어봐서, '같은 정책, 다른 인생'의 갈림을 배포 전에 보여주는 실험실입니다. 다음 단계의 1순위는 실데이터 대조 — 실제 청년월세 신청률·인지율 통계와 시뮬 방향을 맞대보는 외적 타당도 확보입니다. 이어서 페르소나 RAG, 미리마을 누적 기억, 프롬프트 튜닝이 준비돼 있습니다. 들어주셔서 감사합니다. (Q&amp;A 예상 질문: ①'실제 사람 반응과 맞는지 확인했나' → 정직하게: 아직 내적 검증(ablation·집단화·견고성)까지이고, 실통계와의 방향 대조가 다음 1순위라고 답변. Park et al.도 human eval과 비교했음을 인지하고 있다고 덧붙이면 강함 ②비용은 → 시뮬 1회 약 1.3센트, 720회 검증도 약 $0.3 ③실제 입안자가 어떻게 쓰나 → 4장 컨셉의 사각지대 발견 + 7장 A/B 폐루프로 답변)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914400" y="1417320"/>
            <a:ext cx="10362895" cy="3291840"/>
          </a:xfrm>
          <a:prstGeom prst="rect">
            <a:avLst/>
          </a:prstGeom>
          <a:noFill/>
        </p:spPr>
        <p:txBody>
          <a:bodyPr wrap="square" lIns="0" rIns="0" tIns="0" bIns="0">
            <a:spAutoFit/>
          </a:bodyPr>
          <a:lstStyle/>
          <a:p>
            <a:pPr algn="l">
              <a:lnSpc>
                <a:spcPct val="112000"/>
              </a:lnSpc>
              <a:spcBef>
                <a:spcPts val="0"/>
              </a:spcBef>
              <a:spcAft>
                <a:spcPts val="200"/>
              </a:spcAft>
            </a:pPr>
            <a:r>
              <a:rPr sz="6400" b="1" i="0">
                <a:solidFill>
                  <a:srgbClr val="1F3A5F"/>
                </a:solidFill>
                <a:latin typeface="맑은 고딕"/>
                <a:ea typeface="맑은 고딕"/>
                <a:cs typeface="맑은 고딕"/>
              </a:rPr>
              <a:t>미리랩</a:t>
            </a:r>
          </a:p>
          <a:p>
            <a:pPr algn="l">
              <a:lnSpc>
                <a:spcPct val="112000"/>
              </a:lnSpc>
              <a:spcBef>
                <a:spcPts val="0"/>
              </a:spcBef>
              <a:spcAft>
                <a:spcPts val="1800"/>
              </a:spcAft>
            </a:pPr>
            <a:r>
              <a:rPr sz="2000" b="1" i="0">
                <a:solidFill>
                  <a:srgbClr val="2D6CDF"/>
                </a:solidFill>
                <a:latin typeface="맑은 고딕"/>
                <a:ea typeface="맑은 고딕"/>
                <a:cs typeface="맑은 고딕"/>
              </a:rPr>
              <a:t>MiriLab — AI 시민 사회 정책 실험실</a:t>
            </a:r>
          </a:p>
          <a:p>
            <a:pPr algn="l">
              <a:lnSpc>
                <a:spcPct val="112000"/>
              </a:lnSpc>
              <a:spcBef>
                <a:spcPts val="0"/>
              </a:spcBef>
              <a:spcAft>
                <a:spcPts val="200"/>
              </a:spcAft>
            </a:pPr>
            <a:r>
              <a:rPr sz="2200" b="0" i="0">
                <a:solidFill>
                  <a:srgbClr val="1F2937"/>
                </a:solidFill>
                <a:latin typeface="맑은 고딕"/>
                <a:ea typeface="맑은 고딕"/>
                <a:cs typeface="맑은 고딕"/>
              </a:rPr>
              <a:t>정책을 배포하기 전에,</a:t>
            </a:r>
          </a:p>
          <a:p>
            <a:pPr algn="l">
              <a:lnSpc>
                <a:spcPct val="112000"/>
              </a:lnSpc>
              <a:spcBef>
                <a:spcPts val="0"/>
              </a:spcBef>
              <a:spcAft>
                <a:spcPts val="1600"/>
              </a:spcAft>
            </a:pPr>
            <a:r>
              <a:rPr sz="2200" b="0" i="0">
                <a:solidFill>
                  <a:srgbClr val="1F2937"/>
                </a:solidFill>
                <a:latin typeface="맑은 고딕"/>
                <a:ea typeface="맑은 고딕"/>
                <a:cs typeface="맑은 고딕"/>
              </a:rPr>
              <a:t>실제 한국 인구통계 기반 </a:t>
            </a:r>
            <a:r>
              <a:rPr sz="2200" b="1" i="0">
                <a:solidFill>
                  <a:srgbClr val="2D6CDF"/>
                </a:solidFill>
                <a:latin typeface="맑은 고딕"/>
                <a:ea typeface="맑은 고딕"/>
                <a:cs typeface="맑은 고딕"/>
              </a:rPr>
              <a:t>AI 가상 시민</a:t>
            </a:r>
            <a:r>
              <a:rPr sz="2200" b="0" i="0">
                <a:solidFill>
                  <a:srgbClr val="1F2937"/>
                </a:solidFill>
                <a:latin typeface="맑은 고딕"/>
                <a:ea typeface="맑은 고딕"/>
                <a:cs typeface="맑은 고딕"/>
              </a:rPr>
              <a:t>에게 먼저 물어본다.</a:t>
            </a:r>
          </a:p>
          <a:p>
            <a:pPr algn="l">
              <a:lnSpc>
                <a:spcPct val="112000"/>
              </a:lnSpc>
              <a:spcBef>
                <a:spcPts val="0"/>
              </a:spcBef>
              <a:spcAft>
                <a:spcPts val="0"/>
              </a:spcAft>
            </a:pPr>
            <a:r>
              <a:rPr sz="1500" b="1" i="0">
                <a:solidFill>
                  <a:srgbClr val="2E9E6B"/>
                </a:solidFill>
                <a:latin typeface="맑은 고딕"/>
                <a:ea typeface="맑은 고딕"/>
                <a:cs typeface="맑은 고딕"/>
              </a:rPr>
              <a:t>수혜 </a:t>
            </a:r>
            <a:r>
              <a:rPr sz="1500" b="0" i="0">
                <a:solidFill>
                  <a:srgbClr val="6B7280"/>
                </a:solidFill>
                <a:latin typeface="맑은 고딕"/>
                <a:ea typeface="맑은 고딕"/>
                <a:cs typeface="맑은 고딕"/>
              </a:rPr>
              <a:t>·  </a:t>
            </a:r>
            <a:r>
              <a:rPr sz="1500" b="1" i="0">
                <a:solidFill>
                  <a:srgbClr val="E8902A"/>
                </a:solidFill>
                <a:latin typeface="맑은 고딕"/>
                <a:ea typeface="맑은 고딕"/>
                <a:cs typeface="맑은 고딕"/>
              </a:rPr>
              <a:t>경계 </a:t>
            </a:r>
            <a:r>
              <a:rPr sz="1500" b="0" i="0">
                <a:solidFill>
                  <a:srgbClr val="6B7280"/>
                </a:solidFill>
                <a:latin typeface="맑은 고딕"/>
                <a:ea typeface="맑은 고딕"/>
                <a:cs typeface="맑은 고딕"/>
              </a:rPr>
              <a:t>·  </a:t>
            </a:r>
            <a:r>
              <a:rPr sz="1500" b="1" i="0">
                <a:solidFill>
                  <a:srgbClr val="D9534F"/>
                </a:solidFill>
                <a:latin typeface="맑은 고딕"/>
                <a:ea typeface="맑은 고딕"/>
                <a:cs typeface="맑은 고딕"/>
              </a:rPr>
              <a:t>사각지대 </a:t>
            </a:r>
            <a:r>
              <a:rPr sz="1500" b="0" i="0">
                <a:solidFill>
                  <a:srgbClr val="6B7280"/>
                </a:solidFill>
                <a:latin typeface="맑은 고딕"/>
                <a:ea typeface="맑은 고딕"/>
                <a:cs typeface="맑은 고딕"/>
              </a:rPr>
              <a:t>— 같은 정책, 다른 인생</a:t>
            </a:r>
          </a:p>
        </p:txBody>
      </p:sp>
      <p:pic>
        <p:nvPicPr>
          <p:cNvPr id="4" name="Picture 3" descr="sprite_minsu.png"/>
          <p:cNvPicPr>
            <a:picLocks noChangeAspect="1"/>
          </p:cNvPicPr>
          <p:nvPr/>
        </p:nvPicPr>
        <p:blipFill>
          <a:blip r:embed="rId2"/>
          <a:stretch>
            <a:fillRect/>
          </a:stretch>
        </p:blipFill>
        <p:spPr>
          <a:xfrm>
            <a:off x="914400" y="5120640"/>
            <a:ext cx="566928" cy="566928"/>
          </a:xfrm>
          <a:prstGeom prst="rect">
            <a:avLst/>
          </a:prstGeom>
        </p:spPr>
      </p:pic>
      <p:pic>
        <p:nvPicPr>
          <p:cNvPr id="5" name="Picture 4" descr="sprite_sua.png"/>
          <p:cNvPicPr>
            <a:picLocks noChangeAspect="1"/>
          </p:cNvPicPr>
          <p:nvPr/>
        </p:nvPicPr>
        <p:blipFill>
          <a:blip r:embed="rId3"/>
          <a:stretch>
            <a:fillRect/>
          </a:stretch>
        </p:blipFill>
        <p:spPr>
          <a:xfrm>
            <a:off x="1627632" y="5120640"/>
            <a:ext cx="566928" cy="566928"/>
          </a:xfrm>
          <a:prstGeom prst="rect">
            <a:avLst/>
          </a:prstGeom>
        </p:spPr>
      </p:pic>
      <p:pic>
        <p:nvPicPr>
          <p:cNvPr id="6" name="Picture 5" descr="sprite_owner.png"/>
          <p:cNvPicPr>
            <a:picLocks noChangeAspect="1"/>
          </p:cNvPicPr>
          <p:nvPr/>
        </p:nvPicPr>
        <p:blipFill>
          <a:blip r:embed="rId4"/>
          <a:stretch>
            <a:fillRect/>
          </a:stretch>
        </p:blipFill>
        <p:spPr>
          <a:xfrm>
            <a:off x="2340864" y="5120640"/>
            <a:ext cx="566928" cy="566928"/>
          </a:xfrm>
          <a:prstGeom prst="rect">
            <a:avLst/>
          </a:prstGeom>
        </p:spPr>
      </p:pic>
      <p:pic>
        <p:nvPicPr>
          <p:cNvPr id="7" name="Picture 6" descr="sprite_staff.png"/>
          <p:cNvPicPr>
            <a:picLocks noChangeAspect="1"/>
          </p:cNvPicPr>
          <p:nvPr/>
        </p:nvPicPr>
        <p:blipFill>
          <a:blip r:embed="rId5"/>
          <a:stretch>
            <a:fillRect/>
          </a:stretch>
        </p:blipFill>
        <p:spPr>
          <a:xfrm>
            <a:off x="3054096" y="5120640"/>
            <a:ext cx="566928" cy="566928"/>
          </a:xfrm>
          <a:prstGeom prst="rect">
            <a:avLst/>
          </a:prstGeom>
        </p:spPr>
      </p:pic>
      <p:pic>
        <p:nvPicPr>
          <p:cNvPr id="8" name="Picture 7" descr="sprite_grandma.png"/>
          <p:cNvPicPr>
            <a:picLocks noChangeAspect="1"/>
          </p:cNvPicPr>
          <p:nvPr/>
        </p:nvPicPr>
        <p:blipFill>
          <a:blip r:embed="rId6"/>
          <a:stretch>
            <a:fillRect/>
          </a:stretch>
        </p:blipFill>
        <p:spPr>
          <a:xfrm>
            <a:off x="3767328" y="5120640"/>
            <a:ext cx="566928" cy="566928"/>
          </a:xfrm>
          <a:prstGeom prst="rect">
            <a:avLst/>
          </a:prstGeom>
        </p:spPr>
      </p:pic>
      <p:pic>
        <p:nvPicPr>
          <p:cNvPr id="9" name="Picture 8" descr="sprite_oldman.png"/>
          <p:cNvPicPr>
            <a:picLocks noChangeAspect="1"/>
          </p:cNvPicPr>
          <p:nvPr/>
        </p:nvPicPr>
        <p:blipFill>
          <a:blip r:embed="rId7"/>
          <a:stretch>
            <a:fillRect/>
          </a:stretch>
        </p:blipFill>
        <p:spPr>
          <a:xfrm>
            <a:off x="4480560" y="5120640"/>
            <a:ext cx="566928" cy="566928"/>
          </a:xfrm>
          <a:prstGeom prst="rect">
            <a:avLst/>
          </a:prstGeom>
        </p:spPr>
      </p:pic>
      <p:pic>
        <p:nvPicPr>
          <p:cNvPr id="10" name="Picture 9" descr="sprite_miyoung.png"/>
          <p:cNvPicPr>
            <a:picLocks noChangeAspect="1"/>
          </p:cNvPicPr>
          <p:nvPr/>
        </p:nvPicPr>
        <p:blipFill>
          <a:blip r:embed="rId8"/>
          <a:stretch>
            <a:fillRect/>
          </a:stretch>
        </p:blipFill>
        <p:spPr>
          <a:xfrm>
            <a:off x="5193792" y="5120640"/>
            <a:ext cx="566928" cy="566928"/>
          </a:xfrm>
          <a:prstGeom prst="rect">
            <a:avLst/>
          </a:prstGeom>
        </p:spPr>
      </p:pic>
      <p:pic>
        <p:nvPicPr>
          <p:cNvPr id="11" name="Picture 10" descr="sprite_junho.png"/>
          <p:cNvPicPr>
            <a:picLocks noChangeAspect="1"/>
          </p:cNvPicPr>
          <p:nvPr/>
        </p:nvPicPr>
        <p:blipFill>
          <a:blip r:embed="rId9"/>
          <a:stretch>
            <a:fillRect/>
          </a:stretch>
        </p:blipFill>
        <p:spPr>
          <a:xfrm>
            <a:off x="5907024" y="5120640"/>
            <a:ext cx="566928" cy="566928"/>
          </a:xfrm>
          <a:prstGeom prst="rect">
            <a:avLst/>
          </a:prstGeom>
        </p:spPr>
      </p:pic>
      <p:pic>
        <p:nvPicPr>
          <p:cNvPr id="12" name="Picture 11" descr="sprite_jimin.png"/>
          <p:cNvPicPr>
            <a:picLocks noChangeAspect="1"/>
          </p:cNvPicPr>
          <p:nvPr/>
        </p:nvPicPr>
        <p:blipFill>
          <a:blip r:embed="rId10"/>
          <a:stretch>
            <a:fillRect/>
          </a:stretch>
        </p:blipFill>
        <p:spPr>
          <a:xfrm>
            <a:off x="6620256" y="5120640"/>
            <a:ext cx="566928" cy="566928"/>
          </a:xfrm>
          <a:prstGeom prst="rect">
            <a:avLst/>
          </a:prstGeom>
        </p:spPr>
      </p:pic>
      <p:pic>
        <p:nvPicPr>
          <p:cNvPr id="13" name="Picture 12" descr="sprite_daeun.png"/>
          <p:cNvPicPr>
            <a:picLocks noChangeAspect="1"/>
          </p:cNvPicPr>
          <p:nvPr/>
        </p:nvPicPr>
        <p:blipFill>
          <a:blip r:embed="rId11"/>
          <a:stretch>
            <a:fillRect/>
          </a:stretch>
        </p:blipFill>
        <p:spPr>
          <a:xfrm>
            <a:off x="7333488" y="5120640"/>
            <a:ext cx="566928" cy="566928"/>
          </a:xfrm>
          <a:prstGeom prst="rect">
            <a:avLst/>
          </a:prstGeom>
        </p:spPr>
      </p:pic>
      <p:sp>
        <p:nvSpPr>
          <p:cNvPr id="14" name="TextBox 13"/>
          <p:cNvSpPr txBox="1"/>
          <p:nvPr/>
        </p:nvSpPr>
        <p:spPr>
          <a:xfrm>
            <a:off x="914400" y="5989320"/>
            <a:ext cx="10362895" cy="548640"/>
          </a:xfrm>
          <a:prstGeom prst="rect">
            <a:avLst/>
          </a:prstGeom>
          <a:noFill/>
        </p:spPr>
        <p:txBody>
          <a:bodyPr wrap="square" lIns="0" rIns="0" tIns="0" bIns="0">
            <a:spAutoFit/>
          </a:bodyPr>
          <a:lstStyle/>
          <a:p>
            <a:pPr algn="l">
              <a:lnSpc>
                <a:spcPct val="112000"/>
              </a:lnSpc>
              <a:spcBef>
                <a:spcPts val="0"/>
              </a:spcBef>
              <a:spcAft>
                <a:spcPts val="0"/>
              </a:spcAft>
            </a:pPr>
            <a:r>
              <a:rPr sz="1300" b="0" i="0">
                <a:solidFill>
                  <a:srgbClr val="6B7280"/>
                </a:solidFill>
                <a:latin typeface="맑은 고딕"/>
                <a:ea typeface="맑은 고딕"/>
                <a:cs typeface="맑은 고딕"/>
              </a:rPr>
              <a:t>DLthon 2  ·  팀명/발표자 (채워주세요)  ·  2026. 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발표 흐름</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오늘 이야기의 순서 — 약 12~15분</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2</a:t>
            </a:r>
          </a:p>
        </p:txBody>
      </p:sp>
      <p:sp>
        <p:nvSpPr>
          <p:cNvPr id="6" name="Rounded Rectangle 5"/>
          <p:cNvSpPr/>
          <p:nvPr/>
        </p:nvSpPr>
        <p:spPr>
          <a:xfrm>
            <a:off x="548640" y="1600200"/>
            <a:ext cx="11091672" cy="676656"/>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Oval 6"/>
          <p:cNvSpPr/>
          <p:nvPr/>
        </p:nvSpPr>
        <p:spPr>
          <a:xfrm>
            <a:off x="713232" y="1719072"/>
            <a:ext cx="438912" cy="43891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300" b="1" i="0">
                <a:solidFill>
                  <a:srgbClr val="FFFFFF"/>
                </a:solidFill>
                <a:latin typeface="맑은 고딕"/>
                <a:ea typeface="맑은 고딕"/>
                <a:cs typeface="맑은 고딕"/>
              </a:rPr>
              <a:t>01</a:t>
            </a:r>
          </a:p>
        </p:txBody>
      </p:sp>
      <p:sp>
        <p:nvSpPr>
          <p:cNvPr id="8" name="TextBox 7"/>
          <p:cNvSpPr txBox="1"/>
          <p:nvPr/>
        </p:nvSpPr>
        <p:spPr>
          <a:xfrm>
            <a:off x="1371600" y="1682496"/>
            <a:ext cx="8595360" cy="548640"/>
          </a:xfrm>
          <a:prstGeom prst="rect">
            <a:avLst/>
          </a:prstGeom>
          <a:noFill/>
        </p:spPr>
        <p:txBody>
          <a:bodyPr wrap="square" lIns="0" rIns="0" tIns="0" bIns="0" anchor="ctr">
            <a:spAutoFit/>
          </a:bodyPr>
          <a:lstStyle/>
          <a:p>
            <a:pPr algn="l">
              <a:lnSpc>
                <a:spcPct val="112000"/>
              </a:lnSpc>
              <a:spcBef>
                <a:spcPts val="0"/>
              </a:spcBef>
              <a:spcAft>
                <a:spcPts val="0"/>
              </a:spcAft>
            </a:pPr>
            <a:r>
              <a:rPr sz="1500" b="1" i="0">
                <a:solidFill>
                  <a:srgbClr val="1F3A5F"/>
                </a:solidFill>
                <a:latin typeface="맑은 고딕"/>
                <a:ea typeface="맑은 고딕"/>
                <a:cs typeface="맑은 고딕"/>
              </a:rPr>
              <a:t>문제와 컨셉   </a:t>
            </a:r>
            <a:r>
              <a:rPr sz="1250" b="0" i="0">
                <a:solidFill>
                  <a:srgbClr val="6B7280"/>
                </a:solidFill>
                <a:latin typeface="맑은 고딕"/>
                <a:ea typeface="맑은 고딕"/>
                <a:cs typeface="맑은 고딕"/>
              </a:rPr>
              <a:t>정책은 왜 시민에게 닿지 못하는가 → 미리랩의 답</a:t>
            </a:r>
          </a:p>
        </p:txBody>
      </p:sp>
      <p:sp>
        <p:nvSpPr>
          <p:cNvPr id="9" name="TextBox 8"/>
          <p:cNvSpPr txBox="1"/>
          <p:nvPr/>
        </p:nvSpPr>
        <p:spPr>
          <a:xfrm>
            <a:off x="10058400" y="1682496"/>
            <a:ext cx="1417320" cy="548640"/>
          </a:xfrm>
          <a:prstGeom prst="rect">
            <a:avLst/>
          </a:prstGeom>
          <a:noFill/>
        </p:spPr>
        <p:txBody>
          <a:bodyPr wrap="square" lIns="0" rIns="0" tIns="0" bIns="0" anchor="ctr">
            <a:spAutoFit/>
          </a:bodyPr>
          <a:lstStyle/>
          <a:p>
            <a:pPr algn="r">
              <a:lnSpc>
                <a:spcPct val="112000"/>
              </a:lnSpc>
              <a:spcBef>
                <a:spcPts val="0"/>
              </a:spcBef>
              <a:spcAft>
                <a:spcPts val="0"/>
              </a:spcAft>
            </a:pPr>
            <a:r>
              <a:rPr sz="1200" b="1" i="0">
                <a:solidFill>
                  <a:srgbClr val="1F3A5F"/>
                </a:solidFill>
                <a:latin typeface="맑은 고딕"/>
                <a:ea typeface="맑은 고딕"/>
                <a:cs typeface="맑은 고딕"/>
              </a:rPr>
              <a:t>약 2분</a:t>
            </a:r>
          </a:p>
        </p:txBody>
      </p:sp>
      <p:sp>
        <p:nvSpPr>
          <p:cNvPr id="10" name="Rounded Rectangle 9"/>
          <p:cNvSpPr/>
          <p:nvPr/>
        </p:nvSpPr>
        <p:spPr>
          <a:xfrm>
            <a:off x="548640" y="2386584"/>
            <a:ext cx="11091672" cy="676656"/>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Oval 10"/>
          <p:cNvSpPr/>
          <p:nvPr/>
        </p:nvSpPr>
        <p:spPr>
          <a:xfrm>
            <a:off x="713232" y="2505456"/>
            <a:ext cx="438912" cy="438912"/>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300" b="1" i="0">
                <a:solidFill>
                  <a:srgbClr val="FFFFFF"/>
                </a:solidFill>
                <a:latin typeface="맑은 고딕"/>
                <a:ea typeface="맑은 고딕"/>
                <a:cs typeface="맑은 고딕"/>
              </a:rPr>
              <a:t>02</a:t>
            </a:r>
          </a:p>
        </p:txBody>
      </p:sp>
      <p:sp>
        <p:nvSpPr>
          <p:cNvPr id="12" name="TextBox 11"/>
          <p:cNvSpPr txBox="1"/>
          <p:nvPr/>
        </p:nvSpPr>
        <p:spPr>
          <a:xfrm>
            <a:off x="1371600" y="2468879"/>
            <a:ext cx="8595360" cy="548640"/>
          </a:xfrm>
          <a:prstGeom prst="rect">
            <a:avLst/>
          </a:prstGeom>
          <a:noFill/>
        </p:spPr>
        <p:txBody>
          <a:bodyPr wrap="square" lIns="0" rIns="0" tIns="0" bIns="0" anchor="ctr">
            <a:spAutoFit/>
          </a:bodyPr>
          <a:lstStyle/>
          <a:p>
            <a:pPr algn="l">
              <a:lnSpc>
                <a:spcPct val="112000"/>
              </a:lnSpc>
              <a:spcBef>
                <a:spcPts val="0"/>
              </a:spcBef>
              <a:spcAft>
                <a:spcPts val="0"/>
              </a:spcAft>
            </a:pPr>
            <a:r>
              <a:rPr sz="1500" b="1" i="0">
                <a:solidFill>
                  <a:srgbClr val="1F3A5F"/>
                </a:solidFill>
                <a:latin typeface="맑은 고딕"/>
                <a:ea typeface="맑은 고딕"/>
                <a:cs typeface="맑은 고딕"/>
              </a:rPr>
              <a:t>시스템   </a:t>
            </a:r>
            <a:r>
              <a:rPr sz="1250" b="0" i="0">
                <a:solidFill>
                  <a:srgbClr val="6B7280"/>
                </a:solidFill>
                <a:latin typeface="맑은 고딕"/>
                <a:ea typeface="맑은 고딕"/>
                <a:cs typeface="맑은 고딕"/>
              </a:rPr>
              <a:t>페르소나 파이프라인 + 두 축(시민 반응 / 정책 인생극장)</a:t>
            </a:r>
          </a:p>
        </p:txBody>
      </p:sp>
      <p:sp>
        <p:nvSpPr>
          <p:cNvPr id="13" name="TextBox 12"/>
          <p:cNvSpPr txBox="1"/>
          <p:nvPr/>
        </p:nvSpPr>
        <p:spPr>
          <a:xfrm>
            <a:off x="10058400" y="2468879"/>
            <a:ext cx="1417320" cy="548640"/>
          </a:xfrm>
          <a:prstGeom prst="rect">
            <a:avLst/>
          </a:prstGeom>
          <a:noFill/>
        </p:spPr>
        <p:txBody>
          <a:bodyPr wrap="square" lIns="0" rIns="0" tIns="0" bIns="0" anchor="ctr">
            <a:spAutoFit/>
          </a:bodyPr>
          <a:lstStyle/>
          <a:p>
            <a:pPr algn="r">
              <a:lnSpc>
                <a:spcPct val="112000"/>
              </a:lnSpc>
              <a:spcBef>
                <a:spcPts val="0"/>
              </a:spcBef>
              <a:spcAft>
                <a:spcPts val="0"/>
              </a:spcAft>
            </a:pPr>
            <a:r>
              <a:rPr sz="1200" b="1" i="0">
                <a:solidFill>
                  <a:srgbClr val="2D6CDF"/>
                </a:solidFill>
                <a:latin typeface="맑은 고딕"/>
                <a:ea typeface="맑은 고딕"/>
                <a:cs typeface="맑은 고딕"/>
              </a:rPr>
              <a:t>약 3분</a:t>
            </a:r>
          </a:p>
        </p:txBody>
      </p:sp>
      <p:sp>
        <p:nvSpPr>
          <p:cNvPr id="14" name="Rounded Rectangle 13"/>
          <p:cNvSpPr/>
          <p:nvPr/>
        </p:nvSpPr>
        <p:spPr>
          <a:xfrm>
            <a:off x="548640" y="3172968"/>
            <a:ext cx="11091672" cy="676656"/>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Oval 14"/>
          <p:cNvSpPr/>
          <p:nvPr/>
        </p:nvSpPr>
        <p:spPr>
          <a:xfrm>
            <a:off x="713232" y="3291839"/>
            <a:ext cx="438912" cy="438912"/>
          </a:xfrm>
          <a:prstGeom prst="ellipse">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300" b="1" i="0">
                <a:solidFill>
                  <a:srgbClr val="FFFFFF"/>
                </a:solidFill>
                <a:latin typeface="맑은 고딕"/>
                <a:ea typeface="맑은 고딕"/>
                <a:cs typeface="맑은 고딕"/>
              </a:rPr>
              <a:t>03</a:t>
            </a:r>
          </a:p>
        </p:txBody>
      </p:sp>
      <p:sp>
        <p:nvSpPr>
          <p:cNvPr id="16" name="TextBox 15"/>
          <p:cNvSpPr txBox="1"/>
          <p:nvPr/>
        </p:nvSpPr>
        <p:spPr>
          <a:xfrm>
            <a:off x="1371600" y="3255263"/>
            <a:ext cx="8595360" cy="548640"/>
          </a:xfrm>
          <a:prstGeom prst="rect">
            <a:avLst/>
          </a:prstGeom>
          <a:noFill/>
        </p:spPr>
        <p:txBody>
          <a:bodyPr wrap="square" lIns="0" rIns="0" tIns="0" bIns="0" anchor="ctr">
            <a:spAutoFit/>
          </a:bodyPr>
          <a:lstStyle/>
          <a:p>
            <a:pPr algn="l">
              <a:lnSpc>
                <a:spcPct val="112000"/>
              </a:lnSpc>
              <a:spcBef>
                <a:spcPts val="0"/>
              </a:spcBef>
              <a:spcAft>
                <a:spcPts val="0"/>
              </a:spcAft>
            </a:pPr>
            <a:r>
              <a:rPr sz="1500" b="1" i="0">
                <a:solidFill>
                  <a:srgbClr val="1F3A5F"/>
                </a:solidFill>
                <a:latin typeface="맑은 고딕"/>
                <a:ea typeface="맑은 고딕"/>
                <a:cs typeface="맑은 고딕"/>
              </a:rPr>
              <a:t>시행착오   </a:t>
            </a:r>
            <a:r>
              <a:rPr sz="1250" b="0" i="0">
                <a:solidFill>
                  <a:srgbClr val="6B7280"/>
                </a:solidFill>
                <a:latin typeface="맑은 고딕"/>
                <a:ea typeface="맑은 고딕"/>
                <a:cs typeface="맑은 고딕"/>
              </a:rPr>
              <a:t>왜 이 모양이 되었나 — 막다른 길 3가지</a:t>
            </a:r>
          </a:p>
        </p:txBody>
      </p:sp>
      <p:sp>
        <p:nvSpPr>
          <p:cNvPr id="17" name="TextBox 16"/>
          <p:cNvSpPr txBox="1"/>
          <p:nvPr/>
        </p:nvSpPr>
        <p:spPr>
          <a:xfrm>
            <a:off x="10058400" y="3255263"/>
            <a:ext cx="1417320" cy="548640"/>
          </a:xfrm>
          <a:prstGeom prst="rect">
            <a:avLst/>
          </a:prstGeom>
          <a:noFill/>
        </p:spPr>
        <p:txBody>
          <a:bodyPr wrap="square" lIns="0" rIns="0" tIns="0" bIns="0" anchor="ctr">
            <a:spAutoFit/>
          </a:bodyPr>
          <a:lstStyle/>
          <a:p>
            <a:pPr algn="r">
              <a:lnSpc>
                <a:spcPct val="112000"/>
              </a:lnSpc>
              <a:spcBef>
                <a:spcPts val="0"/>
              </a:spcBef>
              <a:spcAft>
                <a:spcPts val="0"/>
              </a:spcAft>
            </a:pPr>
            <a:r>
              <a:rPr sz="1200" b="1" i="0">
                <a:solidFill>
                  <a:srgbClr val="E8902A"/>
                </a:solidFill>
                <a:latin typeface="맑은 고딕"/>
                <a:ea typeface="맑은 고딕"/>
                <a:cs typeface="맑은 고딕"/>
              </a:rPr>
              <a:t>약 3분</a:t>
            </a:r>
          </a:p>
        </p:txBody>
      </p:sp>
      <p:sp>
        <p:nvSpPr>
          <p:cNvPr id="18" name="Rounded Rectangle 17"/>
          <p:cNvSpPr/>
          <p:nvPr/>
        </p:nvSpPr>
        <p:spPr>
          <a:xfrm>
            <a:off x="548640" y="3959352"/>
            <a:ext cx="11091672" cy="676656"/>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9" name="Oval 18"/>
          <p:cNvSpPr/>
          <p:nvPr/>
        </p:nvSpPr>
        <p:spPr>
          <a:xfrm>
            <a:off x="713232" y="4078224"/>
            <a:ext cx="438912" cy="438912"/>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300" b="1" i="0">
                <a:solidFill>
                  <a:srgbClr val="FFFFFF"/>
                </a:solidFill>
                <a:latin typeface="맑은 고딕"/>
                <a:ea typeface="맑은 고딕"/>
                <a:cs typeface="맑은 고딕"/>
              </a:rPr>
              <a:t>04</a:t>
            </a:r>
          </a:p>
        </p:txBody>
      </p:sp>
      <p:sp>
        <p:nvSpPr>
          <p:cNvPr id="20" name="TextBox 19"/>
          <p:cNvSpPr txBox="1"/>
          <p:nvPr/>
        </p:nvSpPr>
        <p:spPr>
          <a:xfrm>
            <a:off x="1371600" y="4041648"/>
            <a:ext cx="8595360" cy="548640"/>
          </a:xfrm>
          <a:prstGeom prst="rect">
            <a:avLst/>
          </a:prstGeom>
          <a:noFill/>
        </p:spPr>
        <p:txBody>
          <a:bodyPr wrap="square" lIns="0" rIns="0" tIns="0" bIns="0" anchor="ctr">
            <a:spAutoFit/>
          </a:bodyPr>
          <a:lstStyle/>
          <a:p>
            <a:pPr algn="l">
              <a:lnSpc>
                <a:spcPct val="112000"/>
              </a:lnSpc>
              <a:spcBef>
                <a:spcPts val="0"/>
              </a:spcBef>
              <a:spcAft>
                <a:spcPts val="0"/>
              </a:spcAft>
            </a:pPr>
            <a:r>
              <a:rPr sz="1500" b="1" i="0">
                <a:solidFill>
                  <a:srgbClr val="1F3A5F"/>
                </a:solidFill>
                <a:latin typeface="맑은 고딕"/>
                <a:ea typeface="맑은 고딕"/>
                <a:cs typeface="맑은 고딕"/>
              </a:rPr>
              <a:t>신뢰성 검증   </a:t>
            </a:r>
            <a:r>
              <a:rPr sz="1250" b="0" i="0">
                <a:solidFill>
                  <a:srgbClr val="6B7280"/>
                </a:solidFill>
                <a:latin typeface="맑은 고딕"/>
                <a:ea typeface="맑은 고딕"/>
                <a:cs typeface="맑은 고딕"/>
              </a:rPr>
              <a:t>ablation + 집단화·견고성·설득력 (정량)</a:t>
            </a:r>
          </a:p>
        </p:txBody>
      </p:sp>
      <p:sp>
        <p:nvSpPr>
          <p:cNvPr id="21" name="TextBox 20"/>
          <p:cNvSpPr txBox="1"/>
          <p:nvPr/>
        </p:nvSpPr>
        <p:spPr>
          <a:xfrm>
            <a:off x="10058400" y="4041648"/>
            <a:ext cx="1417320" cy="548640"/>
          </a:xfrm>
          <a:prstGeom prst="rect">
            <a:avLst/>
          </a:prstGeom>
          <a:noFill/>
        </p:spPr>
        <p:txBody>
          <a:bodyPr wrap="square" lIns="0" rIns="0" tIns="0" bIns="0" anchor="ctr">
            <a:spAutoFit/>
          </a:bodyPr>
          <a:lstStyle/>
          <a:p>
            <a:pPr algn="r">
              <a:lnSpc>
                <a:spcPct val="112000"/>
              </a:lnSpc>
              <a:spcBef>
                <a:spcPts val="0"/>
              </a:spcBef>
              <a:spcAft>
                <a:spcPts val="0"/>
              </a:spcAft>
            </a:pPr>
            <a:r>
              <a:rPr sz="1200" b="1" i="0">
                <a:solidFill>
                  <a:srgbClr val="2E9E6B"/>
                </a:solidFill>
                <a:latin typeface="맑은 고딕"/>
                <a:ea typeface="맑은 고딕"/>
                <a:cs typeface="맑은 고딕"/>
              </a:rPr>
              <a:t>약 2.5분</a:t>
            </a:r>
          </a:p>
        </p:txBody>
      </p:sp>
      <p:sp>
        <p:nvSpPr>
          <p:cNvPr id="22" name="Rounded Rectangle 21"/>
          <p:cNvSpPr/>
          <p:nvPr/>
        </p:nvSpPr>
        <p:spPr>
          <a:xfrm>
            <a:off x="548640" y="4745736"/>
            <a:ext cx="11091672" cy="676656"/>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3" name="Oval 22"/>
          <p:cNvSpPr/>
          <p:nvPr/>
        </p:nvSpPr>
        <p:spPr>
          <a:xfrm>
            <a:off x="713232" y="4864608"/>
            <a:ext cx="438912" cy="438912"/>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300" b="1" i="0">
                <a:solidFill>
                  <a:srgbClr val="FFFFFF"/>
                </a:solidFill>
                <a:latin typeface="맑은 고딕"/>
                <a:ea typeface="맑은 고딕"/>
                <a:cs typeface="맑은 고딕"/>
              </a:rPr>
              <a:t>05</a:t>
            </a:r>
          </a:p>
        </p:txBody>
      </p:sp>
      <p:sp>
        <p:nvSpPr>
          <p:cNvPr id="24" name="TextBox 23"/>
          <p:cNvSpPr txBox="1"/>
          <p:nvPr/>
        </p:nvSpPr>
        <p:spPr>
          <a:xfrm>
            <a:off x="1371600" y="4828032"/>
            <a:ext cx="8595360" cy="548640"/>
          </a:xfrm>
          <a:prstGeom prst="rect">
            <a:avLst/>
          </a:prstGeom>
          <a:noFill/>
        </p:spPr>
        <p:txBody>
          <a:bodyPr wrap="square" lIns="0" rIns="0" tIns="0" bIns="0" anchor="ctr">
            <a:spAutoFit/>
          </a:bodyPr>
          <a:lstStyle/>
          <a:p>
            <a:pPr algn="l">
              <a:lnSpc>
                <a:spcPct val="112000"/>
              </a:lnSpc>
              <a:spcBef>
                <a:spcPts val="0"/>
              </a:spcBef>
              <a:spcAft>
                <a:spcPts val="0"/>
              </a:spcAft>
            </a:pPr>
            <a:r>
              <a:rPr sz="1500" b="1" i="0">
                <a:solidFill>
                  <a:srgbClr val="1F3A5F"/>
                </a:solidFill>
                <a:latin typeface="맑은 고딕"/>
                <a:ea typeface="맑은 고딕"/>
                <a:cs typeface="맑은 고딕"/>
              </a:rPr>
              <a:t>확장 구현   </a:t>
            </a:r>
            <a:r>
              <a:rPr sz="1250" b="0" i="0">
                <a:solidFill>
                  <a:srgbClr val="6B7280"/>
                </a:solidFill>
                <a:latin typeface="맑은 고딕"/>
                <a:ea typeface="맑은 고딕"/>
                <a:cs typeface="맑은 고딕"/>
              </a:rPr>
              <a:t>게시판 RAG + 미리마을 + 60초 라이브 재생 데모</a:t>
            </a:r>
          </a:p>
        </p:txBody>
      </p:sp>
      <p:sp>
        <p:nvSpPr>
          <p:cNvPr id="25" name="TextBox 24"/>
          <p:cNvSpPr txBox="1"/>
          <p:nvPr/>
        </p:nvSpPr>
        <p:spPr>
          <a:xfrm>
            <a:off x="10058400" y="4828032"/>
            <a:ext cx="1417320" cy="548640"/>
          </a:xfrm>
          <a:prstGeom prst="rect">
            <a:avLst/>
          </a:prstGeom>
          <a:noFill/>
        </p:spPr>
        <p:txBody>
          <a:bodyPr wrap="square" lIns="0" rIns="0" tIns="0" bIns="0" anchor="ctr">
            <a:spAutoFit/>
          </a:bodyPr>
          <a:lstStyle/>
          <a:p>
            <a:pPr algn="r">
              <a:lnSpc>
                <a:spcPct val="112000"/>
              </a:lnSpc>
              <a:spcBef>
                <a:spcPts val="0"/>
              </a:spcBef>
              <a:spcAft>
                <a:spcPts val="0"/>
              </a:spcAft>
            </a:pPr>
            <a:r>
              <a:rPr sz="1200" b="1" i="0">
                <a:solidFill>
                  <a:srgbClr val="D9534F"/>
                </a:solidFill>
                <a:latin typeface="맑은 고딕"/>
                <a:ea typeface="맑은 고딕"/>
                <a:cs typeface="맑은 고딕"/>
              </a:rPr>
              <a:t>약 3분</a:t>
            </a:r>
          </a:p>
        </p:txBody>
      </p:sp>
      <p:sp>
        <p:nvSpPr>
          <p:cNvPr id="26" name="Rounded Rectangle 25"/>
          <p:cNvSpPr/>
          <p:nvPr/>
        </p:nvSpPr>
        <p:spPr>
          <a:xfrm>
            <a:off x="548640" y="5532120"/>
            <a:ext cx="11091672" cy="676656"/>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7" name="Oval 26"/>
          <p:cNvSpPr/>
          <p:nvPr/>
        </p:nvSpPr>
        <p:spPr>
          <a:xfrm>
            <a:off x="713232" y="5650992"/>
            <a:ext cx="438912" cy="438912"/>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300" b="1" i="0">
                <a:solidFill>
                  <a:srgbClr val="FFFFFF"/>
                </a:solidFill>
                <a:latin typeface="맑은 고딕"/>
                <a:ea typeface="맑은 고딕"/>
                <a:cs typeface="맑은 고딕"/>
              </a:rPr>
              <a:t>06</a:t>
            </a:r>
          </a:p>
        </p:txBody>
      </p:sp>
      <p:sp>
        <p:nvSpPr>
          <p:cNvPr id="28" name="TextBox 27"/>
          <p:cNvSpPr txBox="1"/>
          <p:nvPr/>
        </p:nvSpPr>
        <p:spPr>
          <a:xfrm>
            <a:off x="1371600" y="5614416"/>
            <a:ext cx="8595360" cy="548640"/>
          </a:xfrm>
          <a:prstGeom prst="rect">
            <a:avLst/>
          </a:prstGeom>
          <a:noFill/>
        </p:spPr>
        <p:txBody>
          <a:bodyPr wrap="square" lIns="0" rIns="0" tIns="0" bIns="0" anchor="ctr">
            <a:spAutoFit/>
          </a:bodyPr>
          <a:lstStyle/>
          <a:p>
            <a:pPr algn="l">
              <a:lnSpc>
                <a:spcPct val="112000"/>
              </a:lnSpc>
              <a:spcBef>
                <a:spcPts val="0"/>
              </a:spcBef>
              <a:spcAft>
                <a:spcPts val="0"/>
              </a:spcAft>
            </a:pPr>
            <a:r>
              <a:rPr sz="1500" b="1" i="0">
                <a:solidFill>
                  <a:srgbClr val="1F3A5F"/>
                </a:solidFill>
                <a:latin typeface="맑은 고딕"/>
                <a:ea typeface="맑은 고딕"/>
                <a:cs typeface="맑은 고딕"/>
              </a:rPr>
              <a:t>한계와 마무리   </a:t>
            </a:r>
            <a:r>
              <a:rPr sz="1250" b="0" i="0">
                <a:solidFill>
                  <a:srgbClr val="6B7280"/>
                </a:solidFill>
                <a:latin typeface="맑은 고딕"/>
                <a:ea typeface="맑은 고딕"/>
                <a:cs typeface="맑은 고딕"/>
              </a:rPr>
              <a:t>팀 규율 → 정직한 한계 → 핵심 메시지 → Q&amp;A</a:t>
            </a:r>
          </a:p>
        </p:txBody>
      </p:sp>
      <p:sp>
        <p:nvSpPr>
          <p:cNvPr id="29" name="TextBox 28"/>
          <p:cNvSpPr txBox="1"/>
          <p:nvPr/>
        </p:nvSpPr>
        <p:spPr>
          <a:xfrm>
            <a:off x="10058400" y="5614416"/>
            <a:ext cx="1417320" cy="548640"/>
          </a:xfrm>
          <a:prstGeom prst="rect">
            <a:avLst/>
          </a:prstGeom>
          <a:noFill/>
        </p:spPr>
        <p:txBody>
          <a:bodyPr wrap="square" lIns="0" rIns="0" tIns="0" bIns="0" anchor="ctr">
            <a:spAutoFit/>
          </a:bodyPr>
          <a:lstStyle/>
          <a:p>
            <a:pPr algn="r">
              <a:lnSpc>
                <a:spcPct val="112000"/>
              </a:lnSpc>
              <a:spcBef>
                <a:spcPts val="0"/>
              </a:spcBef>
              <a:spcAft>
                <a:spcPts val="0"/>
              </a:spcAft>
            </a:pPr>
            <a:r>
              <a:rPr sz="1200" b="1" i="0">
                <a:solidFill>
                  <a:srgbClr val="6B7280"/>
                </a:solidFill>
                <a:latin typeface="맑은 고딕"/>
                <a:ea typeface="맑은 고딕"/>
                <a:cs typeface="맑은 고딕"/>
              </a:rPr>
              <a:t>약 2분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01 문제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정책은 왜 시민에게 닿지 못하는가</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3</a:t>
            </a:r>
          </a:p>
        </p:txBody>
      </p:sp>
      <p:sp>
        <p:nvSpPr>
          <p:cNvPr id="6" name="Rounded Rectangle 5"/>
          <p:cNvSpPr/>
          <p:nvPr/>
        </p:nvSpPr>
        <p:spPr>
          <a:xfrm>
            <a:off x="548640" y="1691640"/>
            <a:ext cx="2679192" cy="160020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13232" y="1874519"/>
            <a:ext cx="2377440" cy="1280160"/>
          </a:xfrm>
          <a:prstGeom prst="rect">
            <a:avLst/>
          </a:prstGeom>
          <a:noFill/>
        </p:spPr>
        <p:txBody>
          <a:bodyPr wrap="square" lIns="0" rIns="0" tIns="0" bIns="0">
            <a:spAutoFit/>
          </a:bodyPr>
          <a:lstStyle/>
          <a:p>
            <a:pPr algn="l">
              <a:lnSpc>
                <a:spcPct val="112000"/>
              </a:lnSpc>
              <a:spcBef>
                <a:spcPts val="0"/>
              </a:spcBef>
              <a:spcAft>
                <a:spcPts val="600"/>
              </a:spcAft>
            </a:pPr>
            <a:r>
              <a:rPr sz="1600" b="1" i="0">
                <a:solidFill>
                  <a:srgbClr val="D9534F"/>
                </a:solidFill>
                <a:latin typeface="맑은 고딕"/>
                <a:ea typeface="맑은 고딕"/>
                <a:cs typeface="맑은 고딕"/>
              </a:rPr>
              <a:t>정보 격차</a:t>
            </a:r>
          </a:p>
          <a:p>
            <a:pPr algn="l">
              <a:lnSpc>
                <a:spcPct val="120000"/>
              </a:lnSpc>
              <a:spcBef>
                <a:spcPts val="0"/>
              </a:spcBef>
              <a:spcAft>
                <a:spcPts val="100"/>
              </a:spcAft>
            </a:pPr>
            <a:r>
              <a:rPr sz="1250" b="0" i="0">
                <a:solidFill>
                  <a:srgbClr val="1F2937"/>
                </a:solidFill>
                <a:latin typeface="맑은 고딕"/>
                <a:ea typeface="맑은 고딕"/>
                <a:cs typeface="맑은 고딕"/>
              </a:rPr>
              <a:t>내가 대상자인지</a:t>
            </a:r>
          </a:p>
          <a:p>
            <a:pPr algn="l">
              <a:lnSpc>
                <a:spcPct val="120000"/>
              </a:lnSpc>
              <a:spcBef>
                <a:spcPts val="0"/>
              </a:spcBef>
              <a:spcAft>
                <a:spcPts val="100"/>
              </a:spcAft>
            </a:pPr>
            <a:r>
              <a:rPr sz="1250" b="0" i="0">
                <a:solidFill>
                  <a:srgbClr val="1F2937"/>
                </a:solidFill>
                <a:latin typeface="맑은 고딕"/>
                <a:ea typeface="맑은 고딕"/>
                <a:cs typeface="맑은 고딕"/>
              </a:rPr>
              <a:t>조차 모른다</a:t>
            </a:r>
          </a:p>
        </p:txBody>
      </p:sp>
      <p:sp>
        <p:nvSpPr>
          <p:cNvPr id="8" name="Rounded Rectangle 7"/>
          <p:cNvSpPr/>
          <p:nvPr/>
        </p:nvSpPr>
        <p:spPr>
          <a:xfrm>
            <a:off x="3355848" y="1691640"/>
            <a:ext cx="2679192" cy="160020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3520440" y="1874519"/>
            <a:ext cx="2377440" cy="1280160"/>
          </a:xfrm>
          <a:prstGeom prst="rect">
            <a:avLst/>
          </a:prstGeom>
          <a:noFill/>
        </p:spPr>
        <p:txBody>
          <a:bodyPr wrap="square" lIns="0" rIns="0" tIns="0" bIns="0">
            <a:spAutoFit/>
          </a:bodyPr>
          <a:lstStyle/>
          <a:p>
            <a:pPr algn="l">
              <a:lnSpc>
                <a:spcPct val="112000"/>
              </a:lnSpc>
              <a:spcBef>
                <a:spcPts val="0"/>
              </a:spcBef>
              <a:spcAft>
                <a:spcPts val="600"/>
              </a:spcAft>
            </a:pPr>
            <a:r>
              <a:rPr sz="1600" b="1" i="0">
                <a:solidFill>
                  <a:srgbClr val="D9534F"/>
                </a:solidFill>
                <a:latin typeface="맑은 고딕"/>
                <a:ea typeface="맑은 고딕"/>
                <a:cs typeface="맑은 고딕"/>
              </a:rPr>
              <a:t>이해도 부족</a:t>
            </a:r>
          </a:p>
          <a:p>
            <a:pPr algn="l">
              <a:lnSpc>
                <a:spcPct val="120000"/>
              </a:lnSpc>
              <a:spcBef>
                <a:spcPts val="0"/>
              </a:spcBef>
              <a:spcAft>
                <a:spcPts val="100"/>
              </a:spcAft>
            </a:pPr>
            <a:r>
              <a:rPr sz="1250" b="0" i="0">
                <a:solidFill>
                  <a:srgbClr val="1F2937"/>
                </a:solidFill>
                <a:latin typeface="맑은 고딕"/>
                <a:ea typeface="맑은 고딕"/>
                <a:cs typeface="맑은 고딕"/>
              </a:rPr>
              <a:t>문구가 어렵고</a:t>
            </a:r>
          </a:p>
          <a:p>
            <a:pPr algn="l">
              <a:lnSpc>
                <a:spcPct val="120000"/>
              </a:lnSpc>
              <a:spcBef>
                <a:spcPts val="0"/>
              </a:spcBef>
              <a:spcAft>
                <a:spcPts val="100"/>
              </a:spcAft>
            </a:pPr>
            <a:r>
              <a:rPr sz="1250" b="0" i="0">
                <a:solidFill>
                  <a:srgbClr val="1F2937"/>
                </a:solidFill>
                <a:latin typeface="맑은 고딕"/>
                <a:ea typeface="맑은 고딕"/>
                <a:cs typeface="맑은 고딕"/>
              </a:rPr>
              <a:t>신청 조건이 불명확하다</a:t>
            </a:r>
          </a:p>
        </p:txBody>
      </p:sp>
      <p:sp>
        <p:nvSpPr>
          <p:cNvPr id="10" name="Rounded Rectangle 9"/>
          <p:cNvSpPr/>
          <p:nvPr/>
        </p:nvSpPr>
        <p:spPr>
          <a:xfrm>
            <a:off x="6163056" y="1691640"/>
            <a:ext cx="2679192" cy="160020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6327648" y="1874519"/>
            <a:ext cx="2377440" cy="1280160"/>
          </a:xfrm>
          <a:prstGeom prst="rect">
            <a:avLst/>
          </a:prstGeom>
          <a:noFill/>
        </p:spPr>
        <p:txBody>
          <a:bodyPr wrap="square" lIns="0" rIns="0" tIns="0" bIns="0">
            <a:spAutoFit/>
          </a:bodyPr>
          <a:lstStyle/>
          <a:p>
            <a:pPr algn="l">
              <a:lnSpc>
                <a:spcPct val="112000"/>
              </a:lnSpc>
              <a:spcBef>
                <a:spcPts val="0"/>
              </a:spcBef>
              <a:spcAft>
                <a:spcPts val="600"/>
              </a:spcAft>
            </a:pPr>
            <a:r>
              <a:rPr sz="1600" b="1" i="0">
                <a:solidFill>
                  <a:srgbClr val="D9534F"/>
                </a:solidFill>
                <a:latin typeface="맑은 고딕"/>
                <a:ea typeface="맑은 고딕"/>
                <a:cs typeface="맑은 고딕"/>
              </a:rPr>
              <a:t>디지털 장벽</a:t>
            </a:r>
          </a:p>
          <a:p>
            <a:pPr algn="l">
              <a:lnSpc>
                <a:spcPct val="120000"/>
              </a:lnSpc>
              <a:spcBef>
                <a:spcPts val="0"/>
              </a:spcBef>
              <a:spcAft>
                <a:spcPts val="100"/>
              </a:spcAft>
            </a:pPr>
            <a:r>
              <a:rPr sz="1250" b="0" i="0">
                <a:solidFill>
                  <a:srgbClr val="1F2937"/>
                </a:solidFill>
                <a:latin typeface="맑은 고딕"/>
                <a:ea typeface="맑은 고딕"/>
                <a:cs typeface="맑은 고딕"/>
              </a:rPr>
              <a:t>시니어에겐 온라인 신청</a:t>
            </a:r>
          </a:p>
          <a:p>
            <a:pPr algn="l">
              <a:lnSpc>
                <a:spcPct val="120000"/>
              </a:lnSpc>
              <a:spcBef>
                <a:spcPts val="0"/>
              </a:spcBef>
              <a:spcAft>
                <a:spcPts val="100"/>
              </a:spcAft>
            </a:pPr>
            <a:r>
              <a:rPr sz="1250" b="0" i="0">
                <a:solidFill>
                  <a:srgbClr val="1F2937"/>
                </a:solidFill>
                <a:latin typeface="맑은 고딕"/>
                <a:ea typeface="맑은 고딕"/>
                <a:cs typeface="맑은 고딕"/>
              </a:rPr>
              <a:t>자체가 벽이다</a:t>
            </a:r>
          </a:p>
        </p:txBody>
      </p:sp>
      <p:sp>
        <p:nvSpPr>
          <p:cNvPr id="12" name="Rounded Rectangle 11"/>
          <p:cNvSpPr/>
          <p:nvPr/>
        </p:nvSpPr>
        <p:spPr>
          <a:xfrm>
            <a:off x="8970264" y="1691640"/>
            <a:ext cx="2679192" cy="160020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9134856" y="1874519"/>
            <a:ext cx="2377440" cy="1280160"/>
          </a:xfrm>
          <a:prstGeom prst="rect">
            <a:avLst/>
          </a:prstGeom>
          <a:noFill/>
        </p:spPr>
        <p:txBody>
          <a:bodyPr wrap="square" lIns="0" rIns="0" tIns="0" bIns="0">
            <a:spAutoFit/>
          </a:bodyPr>
          <a:lstStyle/>
          <a:p>
            <a:pPr algn="l">
              <a:lnSpc>
                <a:spcPct val="112000"/>
              </a:lnSpc>
              <a:spcBef>
                <a:spcPts val="0"/>
              </a:spcBef>
              <a:spcAft>
                <a:spcPts val="600"/>
              </a:spcAft>
            </a:pPr>
            <a:r>
              <a:rPr sz="1600" b="1" i="0">
                <a:solidFill>
                  <a:srgbClr val="D9534F"/>
                </a:solidFill>
                <a:latin typeface="맑은 고딕"/>
                <a:ea typeface="맑은 고딕"/>
                <a:cs typeface="맑은 고딕"/>
              </a:rPr>
              <a:t>도달 실패</a:t>
            </a:r>
          </a:p>
          <a:p>
            <a:pPr algn="l">
              <a:lnSpc>
                <a:spcPct val="120000"/>
              </a:lnSpc>
              <a:spcBef>
                <a:spcPts val="0"/>
              </a:spcBef>
              <a:spcAft>
                <a:spcPts val="100"/>
              </a:spcAft>
            </a:pPr>
            <a:r>
              <a:rPr sz="1250" b="0" i="0">
                <a:solidFill>
                  <a:srgbClr val="1F2937"/>
                </a:solidFill>
                <a:latin typeface="맑은 고딕"/>
                <a:ea typeface="맑은 고딕"/>
                <a:cs typeface="맑은 고딕"/>
              </a:rPr>
              <a:t>발표돼도 닿지 않는다</a:t>
            </a:r>
          </a:p>
          <a:p>
            <a:pPr algn="l">
              <a:lnSpc>
                <a:spcPct val="120000"/>
              </a:lnSpc>
              <a:spcBef>
                <a:spcPts val="0"/>
              </a:spcBef>
              <a:spcAft>
                <a:spcPts val="100"/>
              </a:spcAft>
            </a:pPr>
            <a:r>
              <a:rPr sz="1250" b="0" i="0">
                <a:solidFill>
                  <a:srgbClr val="1F2937"/>
                </a:solidFill>
                <a:latin typeface="맑은 고딕"/>
                <a:ea typeface="맑은 고딕"/>
                <a:cs typeface="맑은 고딕"/>
              </a:rPr>
              <a:t>— “그림의 떡”</a:t>
            </a:r>
          </a:p>
        </p:txBody>
      </p:sp>
      <p:sp>
        <p:nvSpPr>
          <p:cNvPr id="14" name="Rounded Rectangle 13"/>
          <p:cNvSpPr/>
          <p:nvPr/>
        </p:nvSpPr>
        <p:spPr>
          <a:xfrm>
            <a:off x="548640" y="3657600"/>
            <a:ext cx="11091672" cy="237744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TextBox 14"/>
          <p:cNvSpPr txBox="1"/>
          <p:nvPr/>
        </p:nvSpPr>
        <p:spPr>
          <a:xfrm>
            <a:off x="868680" y="3886200"/>
            <a:ext cx="10515600" cy="2011680"/>
          </a:xfrm>
          <a:prstGeom prst="rect">
            <a:avLst/>
          </a:prstGeom>
          <a:noFill/>
        </p:spPr>
        <p:txBody>
          <a:bodyPr wrap="square" lIns="0" rIns="0" tIns="0" bIns="0">
            <a:spAutoFit/>
          </a:bodyPr>
          <a:lstStyle/>
          <a:p>
            <a:pPr algn="l">
              <a:lnSpc>
                <a:spcPct val="112000"/>
              </a:lnSpc>
              <a:spcBef>
                <a:spcPts val="0"/>
              </a:spcBef>
              <a:spcAft>
                <a:spcPts val="800"/>
              </a:spcAft>
            </a:pPr>
            <a:r>
              <a:rPr sz="1500" b="1" i="0">
                <a:solidFill>
                  <a:srgbClr val="1F3A5F"/>
                </a:solidFill>
                <a:latin typeface="맑은 고딕"/>
                <a:ea typeface="맑은 고딕"/>
                <a:cs typeface="맑은 고딕"/>
              </a:rPr>
              <a:t>기존 서비스의 한계</a:t>
            </a:r>
          </a:p>
          <a:p>
            <a:pPr algn="l">
              <a:lnSpc>
                <a:spcPct val="112000"/>
              </a:lnSpc>
              <a:spcBef>
                <a:spcPts val="0"/>
              </a:spcBef>
              <a:spcAft>
                <a:spcPts val="600"/>
              </a:spcAft>
            </a:pPr>
            <a:r>
              <a:rPr sz="1500" b="0" i="0">
                <a:solidFill>
                  <a:srgbClr val="1F2937"/>
                </a:solidFill>
                <a:latin typeface="맑은 고딕"/>
                <a:ea typeface="맑은 고딕"/>
                <a:cs typeface="맑은 고딕"/>
              </a:rPr>
              <a:t>정부24 챗봇 · 복지로  →  정책을 </a:t>
            </a:r>
            <a:r>
              <a:rPr sz="1500" b="1" i="0">
                <a:solidFill>
                  <a:srgbClr val="2D6CDF"/>
                </a:solidFill>
                <a:latin typeface="맑은 고딕"/>
                <a:ea typeface="맑은 고딕"/>
                <a:cs typeface="맑은 고딕"/>
              </a:rPr>
              <a:t>‘찾는’ 사람</a:t>
            </a:r>
            <a:r>
              <a:rPr sz="1500" b="0" i="0">
                <a:solidFill>
                  <a:srgbClr val="1F2937"/>
                </a:solidFill>
                <a:latin typeface="맑은 고딕"/>
                <a:ea typeface="맑은 고딕"/>
                <a:cs typeface="맑은 고딕"/>
              </a:rPr>
              <a:t>을 돕는다 (검색·매칭)</a:t>
            </a:r>
          </a:p>
          <a:p>
            <a:pPr algn="l">
              <a:lnSpc>
                <a:spcPct val="112000"/>
              </a:lnSpc>
              <a:spcBef>
                <a:spcPts val="0"/>
              </a:spcBef>
              <a:spcAft>
                <a:spcPts val="200"/>
              </a:spcAft>
            </a:pPr>
            <a:r>
              <a:rPr sz="1500" b="0" i="0">
                <a:solidFill>
                  <a:srgbClr val="1F2937"/>
                </a:solidFill>
                <a:latin typeface="맑은 고딕"/>
                <a:ea typeface="맑은 고딕"/>
                <a:cs typeface="맑은 고딕"/>
              </a:rPr>
              <a:t>그러나 정책을 </a:t>
            </a:r>
            <a:r>
              <a:rPr sz="1500" b="1" i="0">
                <a:solidFill>
                  <a:srgbClr val="D9534F"/>
                </a:solidFill>
                <a:latin typeface="맑은 고딕"/>
                <a:ea typeface="맑은 고딕"/>
                <a:cs typeface="맑은 고딕"/>
              </a:rPr>
              <a:t>‘만드는’ 사람(입안자)</a:t>
            </a:r>
            <a:r>
              <a:rPr sz="1500" b="0" i="0">
                <a:solidFill>
                  <a:srgbClr val="1F2937"/>
                </a:solidFill>
                <a:latin typeface="맑은 고딕"/>
                <a:ea typeface="맑은 고딕"/>
                <a:cs typeface="맑은 고딕"/>
              </a:rPr>
              <a:t>이 “이 정책, 배포하면 누가 못 받을까?”를</a:t>
            </a:r>
          </a:p>
          <a:p>
            <a:pPr algn="l">
              <a:lnSpc>
                <a:spcPct val="112000"/>
              </a:lnSpc>
              <a:spcBef>
                <a:spcPts val="0"/>
              </a:spcBef>
              <a:spcAft>
                <a:spcPts val="0"/>
              </a:spcAft>
            </a:pPr>
            <a:r>
              <a:rPr sz="1500" b="1" i="0">
                <a:solidFill>
                  <a:srgbClr val="1F2937"/>
                </a:solidFill>
                <a:latin typeface="맑은 고딕"/>
                <a:ea typeface="맑은 고딕"/>
                <a:cs typeface="맑은 고딕"/>
              </a:rPr>
              <a:t>배포 전에 미리 볼 수 있는 도구는 없다.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01 컨셉</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미리랩 — 정책을 시민 입장에서 ‘미리’ 실험한다</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4</a:t>
            </a:r>
          </a:p>
        </p:txBody>
      </p:sp>
      <p:sp>
        <p:nvSpPr>
          <p:cNvPr id="6" name="Rounded Rectangle 5"/>
          <p:cNvSpPr/>
          <p:nvPr/>
        </p:nvSpPr>
        <p:spPr>
          <a:xfrm>
            <a:off x="548640" y="1600200"/>
            <a:ext cx="11091672" cy="96012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868680" y="1783080"/>
            <a:ext cx="10515600" cy="640080"/>
          </a:xfrm>
          <a:prstGeom prst="rect">
            <a:avLst/>
          </a:prstGeom>
          <a:noFill/>
        </p:spPr>
        <p:txBody>
          <a:bodyPr wrap="square" lIns="0" rIns="0" tIns="0" bIns="0" anchor="ctr">
            <a:spAutoFit/>
          </a:bodyPr>
          <a:lstStyle/>
          <a:p>
            <a:pPr algn="ctr">
              <a:lnSpc>
                <a:spcPct val="112000"/>
              </a:lnSpc>
              <a:spcBef>
                <a:spcPts val="0"/>
              </a:spcBef>
              <a:spcAft>
                <a:spcPts val="0"/>
              </a:spcAft>
            </a:pPr>
            <a:r>
              <a:rPr sz="1700" b="1" i="0">
                <a:solidFill>
                  <a:srgbClr val="1F3A5F"/>
                </a:solidFill>
                <a:latin typeface="맑은 고딕"/>
                <a:ea typeface="맑은 고딕"/>
                <a:cs typeface="맑은 고딕"/>
              </a:rPr>
              <a:t>“누가 이해 못 하고 · 누가 신청 못 하고 · 어디서 막히는지”</a:t>
            </a:r>
            <a:r>
              <a:rPr sz="1700" b="0" i="0">
                <a:solidFill>
                  <a:srgbClr val="1F2937"/>
                </a:solidFill>
                <a:latin typeface="맑은 고딕"/>
                <a:ea typeface="맑은 고딕"/>
                <a:cs typeface="맑은 고딕"/>
              </a:rPr>
              <a:t>를 배포 전에 보여준다</a:t>
            </a:r>
          </a:p>
        </p:txBody>
      </p:sp>
      <p:sp>
        <p:nvSpPr>
          <p:cNvPr id="8" name="TextBox 7"/>
          <p:cNvSpPr txBox="1"/>
          <p:nvPr/>
        </p:nvSpPr>
        <p:spPr>
          <a:xfrm>
            <a:off x="548640" y="2788920"/>
            <a:ext cx="11091672" cy="411480"/>
          </a:xfrm>
          <a:prstGeom prst="rect">
            <a:avLst/>
          </a:prstGeom>
          <a:noFill/>
        </p:spPr>
        <p:txBody>
          <a:bodyPr wrap="square" lIns="0" rIns="0" tIns="0" bIns="0">
            <a:spAutoFit/>
          </a:bodyPr>
          <a:lstStyle/>
          <a:p>
            <a:pPr algn="l">
              <a:lnSpc>
                <a:spcPct val="112000"/>
              </a:lnSpc>
              <a:spcBef>
                <a:spcPts val="0"/>
              </a:spcBef>
              <a:spcAft>
                <a:spcPts val="0"/>
              </a:spcAft>
            </a:pPr>
            <a:r>
              <a:rPr sz="1500" b="1" i="0">
                <a:solidFill>
                  <a:srgbClr val="1F2937"/>
                </a:solidFill>
                <a:latin typeface="맑은 고딕"/>
                <a:ea typeface="맑은 고딕"/>
                <a:cs typeface="맑은 고딕"/>
              </a:rPr>
              <a:t>핵심 장면 — 같은 ‘청년 월세 지원’ 정책, 6개월 후</a:t>
            </a:r>
          </a:p>
        </p:txBody>
      </p:sp>
      <p:sp>
        <p:nvSpPr>
          <p:cNvPr id="9" name="Rounded Rectangle 8"/>
          <p:cNvSpPr/>
          <p:nvPr/>
        </p:nvSpPr>
        <p:spPr>
          <a:xfrm>
            <a:off x="548640" y="3291840"/>
            <a:ext cx="3593592" cy="210312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Rounded Rectangle 9"/>
          <p:cNvSpPr/>
          <p:nvPr/>
        </p:nvSpPr>
        <p:spPr>
          <a:xfrm>
            <a:off x="548640" y="3291840"/>
            <a:ext cx="64008" cy="2103120"/>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731520" y="3401568"/>
            <a:ext cx="3273552" cy="1883663"/>
          </a:xfrm>
          <a:prstGeom prst="rect">
            <a:avLst/>
          </a:prstGeom>
          <a:noFill/>
        </p:spPr>
        <p:txBody>
          <a:bodyPr wrap="square" lIns="0" rIns="0" tIns="0" bIns="0">
            <a:spAutoFit/>
          </a:bodyPr>
          <a:lstStyle/>
          <a:p>
            <a:pPr algn="l">
              <a:lnSpc>
                <a:spcPct val="112000"/>
              </a:lnSpc>
              <a:spcBef>
                <a:spcPts val="0"/>
              </a:spcBef>
              <a:spcAft>
                <a:spcPts val="400"/>
              </a:spcAft>
            </a:pPr>
            <a:r>
              <a:rPr sz="1400" b="1" i="0">
                <a:solidFill>
                  <a:srgbClr val="2E9E6B"/>
                </a:solidFill>
                <a:latin typeface="맑은 고딕"/>
                <a:ea typeface="맑은 고딕"/>
                <a:cs typeface="맑은 고딕"/>
              </a:rPr>
              <a:t>수혜  ·  A (26세 청년)</a:t>
            </a:r>
          </a:p>
          <a:p>
            <a:pPr algn="l">
              <a:lnSpc>
                <a:spcPct val="115000"/>
              </a:lnSpc>
              <a:spcBef>
                <a:spcPts val="0"/>
              </a:spcBef>
              <a:spcAft>
                <a:spcPts val="200"/>
              </a:spcAft>
            </a:pPr>
            <a:r>
              <a:rPr sz="1300" b="0" i="0">
                <a:solidFill>
                  <a:srgbClr val="1F2937"/>
                </a:solidFill>
                <a:latin typeface="맑은 고딕"/>
                <a:ea typeface="맑은 고딕"/>
                <a:cs typeface="맑은 고딕"/>
              </a:rPr>
              <a:t>복지로에서 5분 만에 신청,</a:t>
            </a:r>
          </a:p>
          <a:p>
            <a:pPr algn="l">
              <a:lnSpc>
                <a:spcPct val="115000"/>
              </a:lnSpc>
              <a:spcBef>
                <a:spcPts val="0"/>
              </a:spcBef>
              <a:spcAft>
                <a:spcPts val="200"/>
              </a:spcAft>
            </a:pPr>
            <a:r>
              <a:rPr sz="1300" b="0" i="0">
                <a:solidFill>
                  <a:srgbClr val="1F2937"/>
                </a:solidFill>
                <a:latin typeface="맑은 고딕"/>
                <a:ea typeface="맑은 고딕"/>
                <a:cs typeface="맑은 고딕"/>
              </a:rPr>
              <a:t>월세 부담이 줄어</a:t>
            </a:r>
          </a:p>
          <a:p>
            <a:pPr algn="l">
              <a:lnSpc>
                <a:spcPct val="115000"/>
              </a:lnSpc>
              <a:spcBef>
                <a:spcPts val="0"/>
              </a:spcBef>
              <a:spcAft>
                <a:spcPts val="200"/>
              </a:spcAft>
            </a:pPr>
            <a:r>
              <a:rPr sz="1300" b="0" i="0">
                <a:solidFill>
                  <a:srgbClr val="1F2937"/>
                </a:solidFill>
                <a:latin typeface="맑은 고딕"/>
                <a:ea typeface="맑은 고딕"/>
                <a:cs typeface="맑은 고딕"/>
              </a:rPr>
              <a:t>첫 저축을 시작했다.</a:t>
            </a:r>
          </a:p>
        </p:txBody>
      </p:sp>
      <p:sp>
        <p:nvSpPr>
          <p:cNvPr id="12" name="Rounded Rectangle 11"/>
          <p:cNvSpPr/>
          <p:nvPr/>
        </p:nvSpPr>
        <p:spPr>
          <a:xfrm>
            <a:off x="4297680" y="3291840"/>
            <a:ext cx="3593592" cy="210312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Rounded Rectangle 12"/>
          <p:cNvSpPr/>
          <p:nvPr/>
        </p:nvSpPr>
        <p:spPr>
          <a:xfrm>
            <a:off x="4297680" y="3291840"/>
            <a:ext cx="64008" cy="2103120"/>
          </a:xfrm>
          <a:prstGeom prst="roundRect">
            <a:avLst>
              <a:gd name="adj" fmla="val 50000"/>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4480560" y="3401568"/>
            <a:ext cx="3273552" cy="1883663"/>
          </a:xfrm>
          <a:prstGeom prst="rect">
            <a:avLst/>
          </a:prstGeom>
          <a:noFill/>
        </p:spPr>
        <p:txBody>
          <a:bodyPr wrap="square" lIns="0" rIns="0" tIns="0" bIns="0">
            <a:spAutoFit/>
          </a:bodyPr>
          <a:lstStyle/>
          <a:p>
            <a:pPr algn="l">
              <a:lnSpc>
                <a:spcPct val="112000"/>
              </a:lnSpc>
              <a:spcBef>
                <a:spcPts val="0"/>
              </a:spcBef>
              <a:spcAft>
                <a:spcPts val="400"/>
              </a:spcAft>
            </a:pPr>
            <a:r>
              <a:rPr sz="1400" b="1" i="0">
                <a:solidFill>
                  <a:srgbClr val="E8902A"/>
                </a:solidFill>
                <a:latin typeface="맑은 고딕"/>
                <a:ea typeface="맑은 고딕"/>
                <a:cs typeface="맑은 고딕"/>
              </a:rPr>
              <a:t>경계  ·  B (46세 중장년)</a:t>
            </a:r>
          </a:p>
          <a:p>
            <a:pPr algn="l">
              <a:lnSpc>
                <a:spcPct val="115000"/>
              </a:lnSpc>
              <a:spcBef>
                <a:spcPts val="0"/>
              </a:spcBef>
              <a:spcAft>
                <a:spcPts val="200"/>
              </a:spcAft>
            </a:pPr>
            <a:r>
              <a:rPr sz="1300" b="0" i="0">
                <a:solidFill>
                  <a:srgbClr val="1F2937"/>
                </a:solidFill>
                <a:latin typeface="맑은 고딕"/>
                <a:ea typeface="맑은 고딕"/>
                <a:cs typeface="맑은 고딕"/>
              </a:rPr>
              <a:t>본인은 대상이 아니지만</a:t>
            </a:r>
          </a:p>
          <a:p>
            <a:pPr algn="l">
              <a:lnSpc>
                <a:spcPct val="115000"/>
              </a:lnSpc>
              <a:spcBef>
                <a:spcPts val="0"/>
              </a:spcBef>
              <a:spcAft>
                <a:spcPts val="200"/>
              </a:spcAft>
            </a:pPr>
            <a:r>
              <a:rPr sz="1300" b="0" i="0">
                <a:solidFill>
                  <a:srgbClr val="1F2937"/>
                </a:solidFill>
                <a:latin typeface="맑은 고딕"/>
                <a:ea typeface="맑은 고딕"/>
                <a:cs typeface="맑은 고딕"/>
              </a:rPr>
              <a:t>자녀를 위해 알아보고</a:t>
            </a:r>
          </a:p>
          <a:p>
            <a:pPr algn="l">
              <a:lnSpc>
                <a:spcPct val="115000"/>
              </a:lnSpc>
              <a:spcBef>
                <a:spcPts val="0"/>
              </a:spcBef>
              <a:spcAft>
                <a:spcPts val="200"/>
              </a:spcAft>
            </a:pPr>
            <a:r>
              <a:rPr sz="1300" b="0" i="0">
                <a:solidFill>
                  <a:srgbClr val="1F2937"/>
                </a:solidFill>
                <a:latin typeface="맑은 고딕"/>
                <a:ea typeface="맑은 고딕"/>
                <a:cs typeface="맑은 고딕"/>
              </a:rPr>
              <a:t>대신 신청해 준다.</a:t>
            </a:r>
          </a:p>
        </p:txBody>
      </p:sp>
      <p:sp>
        <p:nvSpPr>
          <p:cNvPr id="15" name="Rounded Rectangle 14"/>
          <p:cNvSpPr/>
          <p:nvPr/>
        </p:nvSpPr>
        <p:spPr>
          <a:xfrm>
            <a:off x="8046720" y="3291840"/>
            <a:ext cx="3593592" cy="210312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Rounded Rectangle 15"/>
          <p:cNvSpPr/>
          <p:nvPr/>
        </p:nvSpPr>
        <p:spPr>
          <a:xfrm>
            <a:off x="8046720" y="3291840"/>
            <a:ext cx="64008" cy="2103120"/>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7" name="TextBox 16"/>
          <p:cNvSpPr txBox="1"/>
          <p:nvPr/>
        </p:nvSpPr>
        <p:spPr>
          <a:xfrm>
            <a:off x="8229600" y="3401568"/>
            <a:ext cx="3273552" cy="1883663"/>
          </a:xfrm>
          <a:prstGeom prst="rect">
            <a:avLst/>
          </a:prstGeom>
          <a:noFill/>
        </p:spPr>
        <p:txBody>
          <a:bodyPr wrap="square" lIns="0" rIns="0" tIns="0" bIns="0">
            <a:spAutoFit/>
          </a:bodyPr>
          <a:lstStyle/>
          <a:p>
            <a:pPr algn="l">
              <a:lnSpc>
                <a:spcPct val="112000"/>
              </a:lnSpc>
              <a:spcBef>
                <a:spcPts val="0"/>
              </a:spcBef>
              <a:spcAft>
                <a:spcPts val="400"/>
              </a:spcAft>
            </a:pPr>
            <a:r>
              <a:rPr sz="1400" b="1" i="0">
                <a:solidFill>
                  <a:srgbClr val="D9534F"/>
                </a:solidFill>
                <a:latin typeface="맑은 고딕"/>
                <a:ea typeface="맑은 고딕"/>
                <a:cs typeface="맑은 고딕"/>
              </a:rPr>
              <a:t>사각지대  ·  C (74세 고령)</a:t>
            </a:r>
          </a:p>
          <a:p>
            <a:pPr algn="l">
              <a:lnSpc>
                <a:spcPct val="115000"/>
              </a:lnSpc>
              <a:spcBef>
                <a:spcPts val="0"/>
              </a:spcBef>
              <a:spcAft>
                <a:spcPts val="200"/>
              </a:spcAft>
            </a:pPr>
            <a:r>
              <a:rPr sz="1300" b="0" i="0">
                <a:solidFill>
                  <a:srgbClr val="1F2937"/>
                </a:solidFill>
                <a:latin typeface="맑은 고딕"/>
                <a:ea typeface="맑은 고딕"/>
                <a:cs typeface="맑은 고딕"/>
              </a:rPr>
              <a:t>6개월이 지나도</a:t>
            </a:r>
          </a:p>
          <a:p>
            <a:pPr algn="l">
              <a:lnSpc>
                <a:spcPct val="115000"/>
              </a:lnSpc>
              <a:spcBef>
                <a:spcPts val="0"/>
              </a:spcBef>
              <a:spcAft>
                <a:spcPts val="200"/>
              </a:spcAft>
            </a:pPr>
            <a:r>
              <a:rPr sz="1300" b="0" i="0">
                <a:solidFill>
                  <a:srgbClr val="1F2937"/>
                </a:solidFill>
                <a:latin typeface="맑은 고딕"/>
                <a:ea typeface="맑은 고딕"/>
                <a:cs typeface="맑은 고딕"/>
              </a:rPr>
              <a:t>정책의 존재조차</a:t>
            </a:r>
          </a:p>
          <a:p>
            <a:pPr algn="l">
              <a:lnSpc>
                <a:spcPct val="115000"/>
              </a:lnSpc>
              <a:spcBef>
                <a:spcPts val="0"/>
              </a:spcBef>
              <a:spcAft>
                <a:spcPts val="200"/>
              </a:spcAft>
            </a:pPr>
            <a:r>
              <a:rPr sz="1300" b="0" i="0">
                <a:solidFill>
                  <a:srgbClr val="1F2937"/>
                </a:solidFill>
                <a:latin typeface="맑은 고딕"/>
                <a:ea typeface="맑은 고딕"/>
                <a:cs typeface="맑은 고딕"/>
              </a:rPr>
              <a:t>알지 못했다.</a:t>
            </a:r>
          </a:p>
        </p:txBody>
      </p:sp>
      <p:sp>
        <p:nvSpPr>
          <p:cNvPr id="18" name="TextBox 17"/>
          <p:cNvSpPr txBox="1"/>
          <p:nvPr/>
        </p:nvSpPr>
        <p:spPr>
          <a:xfrm>
            <a:off x="548640" y="5623560"/>
            <a:ext cx="11091672" cy="548640"/>
          </a:xfrm>
          <a:prstGeom prst="rect">
            <a:avLst/>
          </a:prstGeom>
          <a:noFill/>
        </p:spPr>
        <p:txBody>
          <a:bodyPr wrap="square" lIns="0" rIns="0" tIns="0" bIns="0">
            <a:spAutoFit/>
          </a:bodyPr>
          <a:lstStyle/>
          <a:p>
            <a:pPr algn="ctr">
              <a:lnSpc>
                <a:spcPct val="112000"/>
              </a:lnSpc>
              <a:spcBef>
                <a:spcPts val="0"/>
              </a:spcBef>
              <a:spcAft>
                <a:spcPts val="0"/>
              </a:spcAft>
            </a:pPr>
            <a:r>
              <a:rPr sz="1800" b="1" i="0">
                <a:solidFill>
                  <a:srgbClr val="1F3A5F"/>
                </a:solidFill>
                <a:latin typeface="맑은 고딕"/>
                <a:ea typeface="맑은 고딕"/>
                <a:cs typeface="맑은 고딕"/>
              </a:rPr>
              <a:t>“같은 정책, 다른 인생.” — 미리랩은 이 갈림을 배포 전에 보여준다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02 시스템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시스템 한눈에 — 페르소나 위의 두 축</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5</a:t>
            </a:r>
          </a:p>
        </p:txBody>
      </p:sp>
      <p:sp>
        <p:nvSpPr>
          <p:cNvPr id="6" name="Rounded Rectangle 5"/>
          <p:cNvSpPr/>
          <p:nvPr/>
        </p:nvSpPr>
        <p:spPr>
          <a:xfrm>
            <a:off x="2990088" y="1554480"/>
            <a:ext cx="6217920" cy="91440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3099816" y="1627632"/>
            <a:ext cx="5998464" cy="768096"/>
          </a:xfrm>
          <a:prstGeom prst="rect">
            <a:avLst/>
          </a:prstGeom>
          <a:noFill/>
        </p:spPr>
        <p:txBody>
          <a:bodyPr wrap="square" lIns="0" rIns="0" tIns="0" bIns="0">
            <a:spAutoFit/>
          </a:bodyPr>
          <a:lstStyle/>
          <a:p>
            <a:pPr algn="l">
              <a:lnSpc>
                <a:spcPct val="112000"/>
              </a:lnSpc>
              <a:spcBef>
                <a:spcPts val="0"/>
              </a:spcBef>
              <a:spcAft>
                <a:spcPts val="200"/>
              </a:spcAft>
            </a:pPr>
            <a:r>
              <a:rPr sz="1300" b="1" i="0">
                <a:solidFill>
                  <a:srgbClr val="1F3A5F"/>
                </a:solidFill>
                <a:latin typeface="맑은 고딕"/>
                <a:ea typeface="맑은 고딕"/>
                <a:cs typeface="맑은 고딕"/>
              </a:rPr>
              <a:t>페르소나 파이프라인  (data/personas.py)</a:t>
            </a:r>
          </a:p>
          <a:p>
            <a:pPr algn="l">
              <a:lnSpc>
                <a:spcPct val="112000"/>
              </a:lnSpc>
              <a:spcBef>
                <a:spcPts val="0"/>
              </a:spcBef>
              <a:spcAft>
                <a:spcPts val="100"/>
              </a:spcAft>
            </a:pPr>
            <a:r>
              <a:rPr sz="1100" b="0" i="0">
                <a:solidFill>
                  <a:srgbClr val="1F2937"/>
                </a:solidFill>
                <a:latin typeface="맑은 고딕"/>
                <a:ea typeface="맑은 고딕"/>
                <a:cs typeface="맑은 고딕"/>
              </a:rPr>
              <a:t>nvidia/Nemotron-Personas-Korea → 결정론 signals 파생 → 캐시</a:t>
            </a:r>
          </a:p>
        </p:txBody>
      </p:sp>
      <p:sp>
        <p:nvSpPr>
          <p:cNvPr id="8" name="TextBox 7"/>
          <p:cNvSpPr txBox="1"/>
          <p:nvPr/>
        </p:nvSpPr>
        <p:spPr>
          <a:xfrm>
            <a:off x="4572000" y="2487168"/>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800" b="1" i="0">
                <a:solidFill>
                  <a:srgbClr val="6B7280"/>
                </a:solidFill>
                <a:latin typeface="맑은 고딕"/>
                <a:ea typeface="맑은 고딕"/>
                <a:cs typeface="맑은 고딕"/>
              </a:rPr>
              <a:t>↓</a:t>
            </a:r>
          </a:p>
        </p:txBody>
      </p:sp>
      <p:sp>
        <p:nvSpPr>
          <p:cNvPr id="9" name="TextBox 8"/>
          <p:cNvSpPr txBox="1"/>
          <p:nvPr/>
        </p:nvSpPr>
        <p:spPr>
          <a:xfrm>
            <a:off x="6583680" y="2487168"/>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800" b="1" i="0">
                <a:solidFill>
                  <a:srgbClr val="6B7280"/>
                </a:solidFill>
                <a:latin typeface="맑은 고딕"/>
                <a:ea typeface="맑은 고딕"/>
                <a:cs typeface="맑은 고딕"/>
              </a:rPr>
              <a:t>↓</a:t>
            </a:r>
          </a:p>
        </p:txBody>
      </p:sp>
      <p:sp>
        <p:nvSpPr>
          <p:cNvPr id="10" name="Rounded Rectangle 9"/>
          <p:cNvSpPr/>
          <p:nvPr/>
        </p:nvSpPr>
        <p:spPr>
          <a:xfrm>
            <a:off x="548640" y="2852928"/>
            <a:ext cx="5486400" cy="182880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658368" y="2926080"/>
            <a:ext cx="5266944" cy="1682496"/>
          </a:xfrm>
          <a:prstGeom prst="rect">
            <a:avLst/>
          </a:prstGeom>
          <a:noFill/>
        </p:spPr>
        <p:txBody>
          <a:bodyPr wrap="square" lIns="0" rIns="0" tIns="0" bIns="0">
            <a:spAutoFit/>
          </a:bodyPr>
          <a:lstStyle/>
          <a:p>
            <a:pPr algn="l">
              <a:lnSpc>
                <a:spcPct val="112000"/>
              </a:lnSpc>
              <a:spcBef>
                <a:spcPts val="0"/>
              </a:spcBef>
              <a:spcAft>
                <a:spcPts val="200"/>
              </a:spcAft>
            </a:pPr>
            <a:r>
              <a:rPr sz="1400" b="1" i="0">
                <a:solidFill>
                  <a:srgbClr val="2E9E6B"/>
                </a:solidFill>
                <a:latin typeface="맑은 고딕"/>
                <a:ea typeface="맑은 고딕"/>
                <a:cs typeface="맑은 고딕"/>
              </a:rPr>
              <a:t>축 A — 시민 반응 (집단의 온도)</a:t>
            </a:r>
          </a:p>
          <a:p>
            <a:pPr algn="l">
              <a:lnSpc>
                <a:spcPct val="112000"/>
              </a:lnSpc>
              <a:spcBef>
                <a:spcPts val="0"/>
              </a:spcBef>
              <a:spcAft>
                <a:spcPts val="100"/>
              </a:spcAft>
            </a:pPr>
            <a:r>
              <a:rPr sz="1150" b="0" i="0">
                <a:solidFill>
                  <a:srgbClr val="1F2937"/>
                </a:solidFill>
                <a:latin typeface="맑은 고딕"/>
                <a:ea typeface="맑은 고딕"/>
                <a:cs typeface="맑은 고딕"/>
              </a:rPr>
              <a:t>react → interact → aggregate  (LangGraph 3노드)</a:t>
            </a:r>
          </a:p>
          <a:p>
            <a:pPr algn="l">
              <a:lnSpc>
                <a:spcPct val="112000"/>
              </a:lnSpc>
              <a:spcBef>
                <a:spcPts val="0"/>
              </a:spcBef>
              <a:spcAft>
                <a:spcPts val="100"/>
              </a:spcAft>
            </a:pPr>
            <a:r>
              <a:rPr sz="1150" b="0" i="0">
                <a:solidFill>
                  <a:srgbClr val="1F2937"/>
                </a:solidFill>
                <a:latin typeface="맑은 고딕"/>
                <a:ea typeface="맑은 고딕"/>
                <a:cs typeface="맑은 고딕"/>
              </a:rPr>
              <a:t>시민 전원 5축 점수 (이해 · 수혜 · 의향 · 불만 · 공유)</a:t>
            </a:r>
          </a:p>
          <a:p>
            <a:pPr algn="l">
              <a:lnSpc>
                <a:spcPct val="112000"/>
              </a:lnSpc>
              <a:spcBef>
                <a:spcPts val="0"/>
              </a:spcBef>
              <a:spcAft>
                <a:spcPts val="100"/>
              </a:spcAft>
            </a:pPr>
            <a:r>
              <a:rPr sz="1150" b="0" i="0">
                <a:solidFill>
                  <a:srgbClr val="1F2937"/>
                </a:solidFill>
                <a:latin typeface="맑은 고딕"/>
                <a:ea typeface="맑은 고딕"/>
                <a:cs typeface="맑은 고딕"/>
              </a:rPr>
              <a:t>게이지 3종 + 시민 반응 히트맵 + 신청 여정 분석</a:t>
            </a:r>
          </a:p>
          <a:p>
            <a:pPr algn="l">
              <a:lnSpc>
                <a:spcPct val="112000"/>
              </a:lnSpc>
              <a:spcBef>
                <a:spcPts val="0"/>
              </a:spcBef>
              <a:spcAft>
                <a:spcPts val="100"/>
              </a:spcAft>
            </a:pPr>
            <a:r>
              <a:rPr sz="1150" b="0" i="0">
                <a:solidFill>
                  <a:srgbClr val="1F2937"/>
                </a:solidFill>
                <a:latin typeface="맑은 고딕"/>
                <a:ea typeface="맑은 고딕"/>
                <a:cs typeface="맑은 고딕"/>
              </a:rPr>
              <a:t>집계 → 수정안 → 같은 시민으로 A/B 재검증 (개선 폐루프)</a:t>
            </a:r>
          </a:p>
        </p:txBody>
      </p:sp>
      <p:sp>
        <p:nvSpPr>
          <p:cNvPr id="12" name="Rounded Rectangle 11"/>
          <p:cNvSpPr/>
          <p:nvPr/>
        </p:nvSpPr>
        <p:spPr>
          <a:xfrm>
            <a:off x="6336792" y="2852928"/>
            <a:ext cx="5303520" cy="182880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6446520" y="2926080"/>
            <a:ext cx="5084064" cy="1682496"/>
          </a:xfrm>
          <a:prstGeom prst="rect">
            <a:avLst/>
          </a:prstGeom>
          <a:noFill/>
        </p:spPr>
        <p:txBody>
          <a:bodyPr wrap="square" lIns="0" rIns="0" tIns="0" bIns="0">
            <a:spAutoFit/>
          </a:bodyPr>
          <a:lstStyle/>
          <a:p>
            <a:pPr algn="l">
              <a:lnSpc>
                <a:spcPct val="112000"/>
              </a:lnSpc>
              <a:spcBef>
                <a:spcPts val="0"/>
              </a:spcBef>
              <a:spcAft>
                <a:spcPts val="200"/>
              </a:spcAft>
            </a:pPr>
            <a:r>
              <a:rPr sz="1400" b="1" i="0">
                <a:solidFill>
                  <a:srgbClr val="E8902A"/>
                </a:solidFill>
                <a:latin typeface="맑은 고딕"/>
                <a:ea typeface="맑은 고딕"/>
                <a:cs typeface="맑은 고딕"/>
              </a:rPr>
              <a:t>축 B — 정책 인생극장 (개인의 궤적)</a:t>
            </a:r>
          </a:p>
          <a:p>
            <a:pPr algn="l">
              <a:lnSpc>
                <a:spcPct val="112000"/>
              </a:lnSpc>
              <a:spcBef>
                <a:spcPts val="0"/>
              </a:spcBef>
              <a:spcAft>
                <a:spcPts val="100"/>
              </a:spcAft>
            </a:pPr>
            <a:r>
              <a:rPr sz="1150" b="0" i="0">
                <a:solidFill>
                  <a:srgbClr val="1F2937"/>
                </a:solidFill>
                <a:latin typeface="맑은 고딕"/>
                <a:ea typeface="맑은 고딕"/>
                <a:cs typeface="맑은 고딕"/>
              </a:rPr>
              <a:t>전원 시간경과 시뮬 (1 · 3 · 6개월)</a:t>
            </a:r>
          </a:p>
          <a:p>
            <a:pPr algn="l">
              <a:lnSpc>
                <a:spcPct val="112000"/>
              </a:lnSpc>
              <a:spcBef>
                <a:spcPts val="0"/>
              </a:spcBef>
              <a:spcAft>
                <a:spcPts val="100"/>
              </a:spcAft>
            </a:pPr>
            <a:r>
              <a:rPr sz="1150" b="0" i="0">
                <a:solidFill>
                  <a:srgbClr val="1F2937"/>
                </a:solidFill>
                <a:latin typeface="맑은 고딕"/>
                <a:ea typeface="맑은 고딕"/>
                <a:cs typeface="맑은 고딕"/>
              </a:rPr>
              <a:t>실제 결과에서 대조 3명 선별 (수혜/경계/사각)</a:t>
            </a:r>
          </a:p>
          <a:p>
            <a:pPr algn="l">
              <a:lnSpc>
                <a:spcPct val="112000"/>
              </a:lnSpc>
              <a:spcBef>
                <a:spcPts val="0"/>
              </a:spcBef>
              <a:spcAft>
                <a:spcPts val="100"/>
              </a:spcAft>
            </a:pPr>
            <a:r>
              <a:rPr sz="1150" b="0" i="0">
                <a:solidFill>
                  <a:srgbClr val="1F2937"/>
                </a:solidFill>
                <a:latin typeface="맑은 고딕"/>
                <a:ea typeface="맑은 고딕"/>
                <a:cs typeface="맑은 고딕"/>
              </a:rPr>
              <a:t>접근 여정 추적 — 경로(reached_via) · 막힘(barrier)</a:t>
            </a:r>
          </a:p>
          <a:p>
            <a:pPr algn="l">
              <a:lnSpc>
                <a:spcPct val="112000"/>
              </a:lnSpc>
              <a:spcBef>
                <a:spcPts val="0"/>
              </a:spcBef>
              <a:spcAft>
                <a:spcPts val="100"/>
              </a:spcAft>
            </a:pPr>
            <a:r>
              <a:rPr sz="1150" b="0" i="0">
                <a:solidFill>
                  <a:srgbClr val="1F2937"/>
                </a:solidFill>
                <a:latin typeface="맑은 고딕"/>
                <a:ea typeface="맑은 고딕"/>
                <a:cs typeface="맑은 고딕"/>
              </a:rPr>
              <a:t>전체 풀 분포 헤드라인 (대표성 보완)</a:t>
            </a:r>
          </a:p>
        </p:txBody>
      </p:sp>
      <p:sp>
        <p:nvSpPr>
          <p:cNvPr id="14" name="TextBox 13"/>
          <p:cNvSpPr txBox="1"/>
          <p:nvPr/>
        </p:nvSpPr>
        <p:spPr>
          <a:xfrm>
            <a:off x="5550408" y="4700016"/>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800" b="1" i="0">
                <a:solidFill>
                  <a:srgbClr val="6B7280"/>
                </a:solidFill>
                <a:latin typeface="맑은 고딕"/>
                <a:ea typeface="맑은 고딕"/>
                <a:cs typeface="맑은 고딕"/>
              </a:rPr>
              <a:t>↓</a:t>
            </a:r>
          </a:p>
        </p:txBody>
      </p:sp>
      <p:sp>
        <p:nvSpPr>
          <p:cNvPr id="15" name="Rounded Rectangle 14"/>
          <p:cNvSpPr/>
          <p:nvPr/>
        </p:nvSpPr>
        <p:spPr>
          <a:xfrm>
            <a:off x="548640" y="5074920"/>
            <a:ext cx="11091672" cy="1051560"/>
          </a:xfrm>
          <a:prstGeom prst="roundRect">
            <a:avLst>
              <a:gd name="adj" fmla="val 8000"/>
            </a:avLst>
          </a:prstGeom>
          <a:solidFill>
            <a:srgbClr val="F4F6FA"/>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TextBox 15"/>
          <p:cNvSpPr txBox="1"/>
          <p:nvPr/>
        </p:nvSpPr>
        <p:spPr>
          <a:xfrm>
            <a:off x="658368" y="5148072"/>
            <a:ext cx="10872216" cy="905255"/>
          </a:xfrm>
          <a:prstGeom prst="rect">
            <a:avLst/>
          </a:prstGeom>
          <a:noFill/>
        </p:spPr>
        <p:txBody>
          <a:bodyPr wrap="square" lIns="0" rIns="0" tIns="0" bIns="0">
            <a:spAutoFit/>
          </a:bodyPr>
          <a:lstStyle/>
          <a:p>
            <a:pPr algn="l">
              <a:lnSpc>
                <a:spcPct val="112000"/>
              </a:lnSpc>
              <a:spcBef>
                <a:spcPts val="0"/>
              </a:spcBef>
              <a:spcAft>
                <a:spcPts val="200"/>
              </a:spcAft>
            </a:pPr>
            <a:r>
              <a:rPr sz="1300" b="1" i="0">
                <a:solidFill>
                  <a:srgbClr val="1F3A5F"/>
                </a:solidFill>
                <a:latin typeface="맑은 고딕"/>
                <a:ea typeface="맑은 고딕"/>
                <a:cs typeface="맑은 고딕"/>
              </a:rPr>
              <a:t>Streamlit 7탭 앱  (app.py)</a:t>
            </a:r>
          </a:p>
          <a:p>
            <a:pPr algn="l">
              <a:lnSpc>
                <a:spcPct val="112000"/>
              </a:lnSpc>
              <a:spcBef>
                <a:spcPts val="0"/>
              </a:spcBef>
              <a:spcAft>
                <a:spcPts val="100"/>
              </a:spcAft>
            </a:pPr>
            <a:r>
              <a:rPr sz="1150" b="0" i="0">
                <a:solidFill>
                  <a:srgbClr val="1F2937"/>
                </a:solidFill>
                <a:latin typeface="맑은 고딕"/>
                <a:ea typeface="맑은 고딕"/>
                <a:cs typeface="맑은 고딕"/>
              </a:rPr>
              <a:t>정책 입력 · 시민 반응 · 정책 인생극장 · SNS 채팅방 · 정책 개선 · 게시판(RAG) · 미리마을</a:t>
            </a:r>
          </a:p>
          <a:p>
            <a:pPr algn="l">
              <a:lnSpc>
                <a:spcPct val="112000"/>
              </a:lnSpc>
              <a:spcBef>
                <a:spcPts val="0"/>
              </a:spcBef>
              <a:spcAft>
                <a:spcPts val="100"/>
              </a:spcAft>
            </a:pPr>
            <a:r>
              <a:rPr sz="1150" b="0" i="0">
                <a:solidFill>
                  <a:srgbClr val="1F2937"/>
                </a:solidFill>
                <a:latin typeface="맑은 고딕"/>
                <a:ea typeface="맑은 고딕"/>
                <a:cs typeface="맑은 고딕"/>
              </a:rPr>
              <a:t>mock 모드 = API 키 없이 전체 UI 데모 가능 (발표 안전망)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02 시스템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페르소나 — “손으로 만들지 않는다”</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6</a:t>
            </a:r>
          </a:p>
        </p:txBody>
      </p:sp>
      <p:sp>
        <p:nvSpPr>
          <p:cNvPr id="6" name="TextBox 5"/>
          <p:cNvSpPr txBox="1"/>
          <p:nvPr/>
        </p:nvSpPr>
        <p:spPr>
          <a:xfrm>
            <a:off x="548640" y="1600200"/>
            <a:ext cx="5394960" cy="4206240"/>
          </a:xfrm>
          <a:prstGeom prst="rect">
            <a:avLst/>
          </a:prstGeom>
          <a:noFill/>
        </p:spPr>
        <p:txBody>
          <a:bodyPr wrap="square" lIns="0" rIns="0" tIns="0" bIns="0">
            <a:spAutoFit/>
          </a:bodyPr>
          <a:lstStyle/>
          <a:p>
            <a:pPr algn="l">
              <a:lnSpc>
                <a:spcPct val="112000"/>
              </a:lnSpc>
              <a:spcBef>
                <a:spcPts val="0"/>
              </a:spcBef>
              <a:spcAft>
                <a:spcPts val="800"/>
              </a:spcAft>
            </a:pPr>
            <a:r>
              <a:rPr sz="1600" b="1" i="0">
                <a:solidFill>
                  <a:srgbClr val="1F3A5F"/>
                </a:solidFill>
                <a:latin typeface="맑은 고딕"/>
                <a:ea typeface="맑은 고딕"/>
                <a:cs typeface="맑은 고딕"/>
              </a:rPr>
              <a:t>원칙: 그럴듯한 가짜 대신, 실제 통계</a:t>
            </a:r>
          </a:p>
          <a:p>
            <a:pPr algn="l">
              <a:lnSpc>
                <a:spcPct val="118000"/>
              </a:lnSpc>
              <a:spcBef>
                <a:spcPts val="0"/>
              </a:spcBef>
              <a:spcAft>
                <a:spcPts val="700"/>
              </a:spcAft>
            </a:pPr>
            <a:r>
              <a:rPr sz="1350" b="1" i="0">
                <a:solidFill>
                  <a:srgbClr val="2D6CDF"/>
                </a:solidFill>
                <a:latin typeface="맑은 고딕"/>
                <a:ea typeface="맑은 고딕"/>
                <a:cs typeface="맑은 고딕"/>
              </a:rPr>
              <a:t>•  </a:t>
            </a:r>
            <a:r>
              <a:rPr sz="1350" b="1" i="0">
                <a:solidFill>
                  <a:srgbClr val="2D6CDF"/>
                </a:solidFill>
                <a:latin typeface="맑은 고딕"/>
                <a:ea typeface="맑은 고딕"/>
                <a:cs typeface="맑은 고딕"/>
              </a:rPr>
              <a:t>nvidia/Nemotron-Personas-Korea</a:t>
            </a:r>
            <a:r>
              <a:rPr sz="1350" b="0" i="0">
                <a:solidFill>
                  <a:srgbClr val="1F2937"/>
                </a:solidFill>
                <a:latin typeface="맑은 고딕"/>
                <a:ea typeface="맑은 고딕"/>
                <a:cs typeface="맑은 고딕"/>
              </a:rPr>
              <a:t>  — 통계청·대법원·건보공단 기반 합성 데이터셋</a:t>
            </a:r>
          </a:p>
          <a:p>
            <a:pPr algn="l">
              <a:lnSpc>
                <a:spcPct val="118000"/>
              </a:lnSpc>
              <a:spcBef>
                <a:spcPts val="0"/>
              </a:spcBef>
              <a:spcAft>
                <a:spcPts val="700"/>
              </a:spcAft>
            </a:pPr>
            <a:r>
              <a:rPr sz="1350" b="1" i="0">
                <a:solidFill>
                  <a:srgbClr val="2D6CDF"/>
                </a:solidFill>
                <a:latin typeface="맑은 고딕"/>
                <a:ea typeface="맑은 고딕"/>
                <a:cs typeface="맑은 고딕"/>
              </a:rPr>
              <a:t>•  </a:t>
            </a:r>
            <a:r>
              <a:rPr sz="1350" b="0" i="0">
                <a:solidFill>
                  <a:srgbClr val="1F2937"/>
                </a:solidFill>
                <a:latin typeface="맑은 고딕"/>
                <a:ea typeface="맑은 고딕"/>
                <a:cs typeface="맑은 고딕"/>
              </a:rPr>
              <a:t>약 100만 행 × 26컬럼, CC BY 4.0 (상업 활용 가능)</a:t>
            </a:r>
          </a:p>
          <a:p>
            <a:pPr algn="l">
              <a:lnSpc>
                <a:spcPct val="118000"/>
              </a:lnSpc>
              <a:spcBef>
                <a:spcPts val="0"/>
              </a:spcBef>
              <a:spcAft>
                <a:spcPts val="700"/>
              </a:spcAft>
            </a:pPr>
            <a:r>
              <a:rPr sz="1350" b="1" i="0">
                <a:solidFill>
                  <a:srgbClr val="2D6CDF"/>
                </a:solidFill>
                <a:latin typeface="맑은 고딕"/>
                <a:ea typeface="맑은 고딕"/>
                <a:cs typeface="맑은 고딕"/>
              </a:rPr>
              <a:t>•  </a:t>
            </a:r>
            <a:r>
              <a:rPr sz="1350" b="0" i="0">
                <a:solidFill>
                  <a:srgbClr val="1F2937"/>
                </a:solidFill>
                <a:latin typeface="맑은 고딕"/>
                <a:ea typeface="맑은 고딕"/>
                <a:cs typeface="맑은 고딕"/>
              </a:rPr>
              <a:t>첫 샤드(220MB)만 + seed 고정 샘플링 + 로컬 캐시</a:t>
            </a:r>
          </a:p>
          <a:p>
            <a:pPr algn="l">
              <a:lnSpc>
                <a:spcPct val="118000"/>
              </a:lnSpc>
              <a:spcBef>
                <a:spcPts val="0"/>
              </a:spcBef>
              <a:spcAft>
                <a:spcPts val="700"/>
              </a:spcAft>
            </a:pPr>
            <a:r>
              <a:rPr sz="1350" b="1" i="0">
                <a:solidFill>
                  <a:srgbClr val="2D6CDF"/>
                </a:solidFill>
                <a:latin typeface="맑은 고딕"/>
                <a:ea typeface="맑은 고딕"/>
                <a:cs typeface="맑은 고딕"/>
              </a:rPr>
              <a:t>•  </a:t>
            </a:r>
            <a:r>
              <a:rPr sz="1350" b="1" i="0">
                <a:solidFill>
                  <a:srgbClr val="1F2937"/>
                </a:solidFill>
                <a:latin typeface="맑은 고딕"/>
                <a:ea typeface="맑은 고딕"/>
                <a:cs typeface="맑은 고딕"/>
              </a:rPr>
              <a:t>→ 재현성 </a:t>
            </a:r>
            <a:r>
              <a:rPr sz="1350" b="0" i="0">
                <a:solidFill>
                  <a:srgbClr val="6B7280"/>
                </a:solidFill>
                <a:latin typeface="맑은 고딕"/>
                <a:ea typeface="맑은 고딕"/>
                <a:cs typeface="맑은 고딕"/>
              </a:rPr>
              <a:t>(발표마다 같은 시민, 오프라인에서도 동작)</a:t>
            </a:r>
          </a:p>
          <a:p>
            <a:pPr algn="l">
              <a:lnSpc>
                <a:spcPct val="112000"/>
              </a:lnSpc>
              <a:spcBef>
                <a:spcPts val="0"/>
              </a:spcBef>
              <a:spcAft>
                <a:spcPts val="200"/>
              </a:spcAft>
            </a:pPr>
            <a:r>
              <a:rPr sz="600" b="0" i="0">
                <a:solidFill>
                  <a:srgbClr val="1F2937"/>
                </a:solidFill>
                <a:latin typeface="맑은 고딕"/>
                <a:ea typeface="맑은 고딕"/>
                <a:cs typeface="맑은 고딕"/>
              </a:rPr>
              <a:t/>
            </a:r>
          </a:p>
          <a:p>
            <a:pPr algn="l">
              <a:lnSpc>
                <a:spcPct val="112000"/>
              </a:lnSpc>
              <a:spcBef>
                <a:spcPts val="0"/>
              </a:spcBef>
              <a:spcAft>
                <a:spcPts val="600"/>
              </a:spcAft>
            </a:pPr>
            <a:r>
              <a:rPr sz="1500" b="1" i="0">
                <a:solidFill>
                  <a:srgbClr val="1F3A5F"/>
                </a:solidFill>
                <a:latin typeface="맑은 고딕"/>
                <a:ea typeface="맑은 고딕"/>
                <a:cs typeface="맑은 고딕"/>
              </a:rPr>
              <a:t>왜 중요한가</a:t>
            </a:r>
          </a:p>
          <a:p>
            <a:pPr algn="l">
              <a:lnSpc>
                <a:spcPct val="130000"/>
              </a:lnSpc>
              <a:spcBef>
                <a:spcPts val="0"/>
              </a:spcBef>
              <a:spcAft>
                <a:spcPts val="0"/>
              </a:spcAft>
            </a:pPr>
            <a:r>
              <a:rPr sz="1300" b="0" i="0">
                <a:solidFill>
                  <a:srgbClr val="1F2937"/>
                </a:solidFill>
                <a:latin typeface="맑은 고딕"/>
                <a:ea typeface="맑은 고딕"/>
                <a:cs typeface="맑은 고딕"/>
              </a:rPr>
              <a:t>개요 초안은 “페르소나 20~30명 직접 설계”였다. 손으로 만들면 우리가 보고 싶은 반응을 심게 된다. 실제 분포에서 샘플링하면 ‘시드 안에 이미 사각지대 인물이 들어 있다.’</a:t>
            </a:r>
          </a:p>
        </p:txBody>
      </p:sp>
      <p:sp>
        <p:nvSpPr>
          <p:cNvPr id="7" name="Rounded Rectangle 6"/>
          <p:cNvSpPr/>
          <p:nvPr/>
        </p:nvSpPr>
        <p:spPr>
          <a:xfrm>
            <a:off x="6263640" y="1600200"/>
            <a:ext cx="5376672" cy="420624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6492240" y="1783080"/>
            <a:ext cx="4919472" cy="3840480"/>
          </a:xfrm>
          <a:prstGeom prst="rect">
            <a:avLst/>
          </a:prstGeom>
          <a:noFill/>
        </p:spPr>
        <p:txBody>
          <a:bodyPr wrap="square" lIns="0" rIns="0" tIns="0" bIns="0">
            <a:spAutoFit/>
          </a:bodyPr>
          <a:lstStyle/>
          <a:p>
            <a:pPr algn="l">
              <a:lnSpc>
                <a:spcPct val="112000"/>
              </a:lnSpc>
              <a:spcBef>
                <a:spcPts val="0"/>
              </a:spcBef>
              <a:spcAft>
                <a:spcPts val="800"/>
              </a:spcAft>
            </a:pPr>
            <a:r>
              <a:rPr sz="1400" b="1" i="0">
                <a:solidFill>
                  <a:srgbClr val="1F3A5F"/>
                </a:solidFill>
                <a:latin typeface="맑은 고딕"/>
                <a:ea typeface="맑은 고딕"/>
                <a:cs typeface="맑은 고딕"/>
              </a:rPr>
              <a:t>데이터에 없는 신호는 결정론으로 유도 (LLM 0콜)</a:t>
            </a:r>
          </a:p>
          <a:p>
            <a:pPr algn="l">
              <a:lnSpc>
                <a:spcPct val="112000"/>
              </a:lnSpc>
              <a:spcBef>
                <a:spcPts val="0"/>
              </a:spcBef>
              <a:spcAft>
                <a:spcPts val="100"/>
              </a:spcAft>
            </a:pPr>
            <a:r>
              <a:rPr sz="1250" b="1" i="0">
                <a:solidFill>
                  <a:srgbClr val="2D6CDF"/>
                </a:solidFill>
                <a:latin typeface="맑은 고딕"/>
                <a:ea typeface="맑은 고딕"/>
                <a:cs typeface="맑은 고딕"/>
              </a:rPr>
              <a:t>digital_literacy</a:t>
            </a:r>
          </a:p>
          <a:p>
            <a:pPr algn="l">
              <a:lnSpc>
                <a:spcPct val="115000"/>
              </a:lnSpc>
              <a:spcBef>
                <a:spcPts val="0"/>
              </a:spcBef>
              <a:spcAft>
                <a:spcPts val="700"/>
              </a:spcAft>
            </a:pPr>
            <a:r>
              <a:rPr sz="1150" b="0" i="0">
                <a:solidFill>
                  <a:srgbClr val="1F2937"/>
                </a:solidFill>
                <a:latin typeface="맑은 고딕"/>
                <a:ea typeface="맑은 고딕"/>
                <a:cs typeface="맑은 고딕"/>
              </a:rPr>
              <a:t>나이 기본점수 × 학력 배율 × 직업 가감 (65세↑ 급락)</a:t>
            </a:r>
          </a:p>
          <a:p>
            <a:pPr algn="l">
              <a:lnSpc>
                <a:spcPct val="112000"/>
              </a:lnSpc>
              <a:spcBef>
                <a:spcPts val="0"/>
              </a:spcBef>
              <a:spcAft>
                <a:spcPts val="100"/>
              </a:spcAft>
            </a:pPr>
            <a:r>
              <a:rPr sz="1250" b="1" i="0">
                <a:solidFill>
                  <a:srgbClr val="2D6CDF"/>
                </a:solidFill>
                <a:latin typeface="맑은 고딕"/>
                <a:ea typeface="맑은 고딕"/>
                <a:cs typeface="맑은 고딕"/>
              </a:rPr>
              <a:t>income_level</a:t>
            </a:r>
          </a:p>
          <a:p>
            <a:pPr algn="l">
              <a:lnSpc>
                <a:spcPct val="115000"/>
              </a:lnSpc>
              <a:spcBef>
                <a:spcPts val="0"/>
              </a:spcBef>
              <a:spcAft>
                <a:spcPts val="700"/>
              </a:spcAft>
            </a:pPr>
            <a:r>
              <a:rPr sz="1150" b="0" i="0">
                <a:solidFill>
                  <a:srgbClr val="1F2937"/>
                </a:solidFill>
                <a:latin typeface="맑은 고딕"/>
                <a:ea typeface="맑은 고딕"/>
                <a:cs typeface="맑은 고딕"/>
              </a:rPr>
              <a:t>직업 키워드 우선 (무직·학생→low, 전문직→high) + 학력 보정</a:t>
            </a:r>
          </a:p>
          <a:p>
            <a:pPr algn="l">
              <a:lnSpc>
                <a:spcPct val="112000"/>
              </a:lnSpc>
              <a:spcBef>
                <a:spcPts val="0"/>
              </a:spcBef>
              <a:spcAft>
                <a:spcPts val="100"/>
              </a:spcAft>
            </a:pPr>
            <a:r>
              <a:rPr sz="1250" b="1" i="0">
                <a:solidFill>
                  <a:srgbClr val="2D6CDF"/>
                </a:solidFill>
                <a:latin typeface="맑은 고딕"/>
                <a:ea typeface="맑은 고딕"/>
                <a:cs typeface="맑은 고딕"/>
              </a:rPr>
              <a:t>government_trust</a:t>
            </a:r>
          </a:p>
          <a:p>
            <a:pPr algn="l">
              <a:lnSpc>
                <a:spcPct val="115000"/>
              </a:lnSpc>
              <a:spcBef>
                <a:spcPts val="0"/>
              </a:spcBef>
              <a:spcAft>
                <a:spcPts val="700"/>
              </a:spcAft>
            </a:pPr>
            <a:r>
              <a:rPr sz="1150" b="0" i="0">
                <a:solidFill>
                  <a:srgbClr val="1F2937"/>
                </a:solidFill>
                <a:latin typeface="맑은 고딕"/>
                <a:ea typeface="맑은 고딕"/>
                <a:cs typeface="맑은 고딕"/>
              </a:rPr>
              <a:t>uuid 해시 지터 0.5±0.1 — 같은 사람은 항상 같은 값</a:t>
            </a:r>
          </a:p>
          <a:p>
            <a:pPr algn="l">
              <a:lnSpc>
                <a:spcPct val="112000"/>
              </a:lnSpc>
              <a:spcBef>
                <a:spcPts val="0"/>
              </a:spcBef>
              <a:spcAft>
                <a:spcPts val="100"/>
              </a:spcAft>
            </a:pPr>
            <a:r>
              <a:rPr sz="1250" b="1" i="0">
                <a:solidFill>
                  <a:srgbClr val="2D6CDF"/>
                </a:solidFill>
                <a:latin typeface="맑은 고딕"/>
                <a:ea typeface="맑은 고딕"/>
                <a:cs typeface="맑은 고딕"/>
              </a:rPr>
              <a:t>social_network</a:t>
            </a:r>
          </a:p>
          <a:p>
            <a:pPr algn="l">
              <a:lnSpc>
                <a:spcPct val="115000"/>
              </a:lnSpc>
              <a:spcBef>
                <a:spcPts val="0"/>
              </a:spcBef>
              <a:spcAft>
                <a:spcPts val="700"/>
              </a:spcAft>
            </a:pPr>
            <a:r>
              <a:rPr sz="1150" b="0" i="0">
                <a:solidFill>
                  <a:srgbClr val="1F2937"/>
                </a:solidFill>
                <a:latin typeface="맑은 고딕"/>
                <a:ea typeface="맑은 고딕"/>
                <a:cs typeface="맑은 고딕"/>
              </a:rPr>
              <a:t>가구·직업 기반 태그 (독거→복지관·경로당, 자녀→가족 단톡방)</a:t>
            </a:r>
          </a:p>
          <a:p>
            <a:pPr algn="l">
              <a:lnSpc>
                <a:spcPct val="112000"/>
              </a:lnSpc>
              <a:spcBef>
                <a:spcPts val="0"/>
              </a:spcBef>
              <a:spcAft>
                <a:spcPts val="0"/>
              </a:spcAft>
            </a:pPr>
            <a:r>
              <a:rPr sz="1150" b="1" i="0">
                <a:solidFill>
                  <a:srgbClr val="6B7280"/>
                </a:solidFill>
                <a:latin typeface="맑은 고딕"/>
                <a:ea typeface="맑은 고딕"/>
                <a:cs typeface="맑은 고딕"/>
              </a:rPr>
              <a:t>같은 입력 → 항상 같은 출력. “판단은 LLM, 사실은 코드” 철학의 시작.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02 시스템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축 A — 시민 반응: 집단의 온도를 잰다</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7</a:t>
            </a:r>
          </a:p>
        </p:txBody>
      </p:sp>
      <p:sp>
        <p:nvSpPr>
          <p:cNvPr id="6" name="Rounded Rectangle 5"/>
          <p:cNvSpPr/>
          <p:nvPr/>
        </p:nvSpPr>
        <p:spPr>
          <a:xfrm>
            <a:off x="548640" y="1645920"/>
            <a:ext cx="5120640" cy="841248"/>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658368" y="1719072"/>
            <a:ext cx="4901183" cy="694944"/>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2E9E6B"/>
                </a:solidFill>
                <a:latin typeface="맑은 고딕"/>
                <a:ea typeface="맑은 고딕"/>
                <a:cs typeface="맑은 고딕"/>
              </a:rPr>
              <a:t>① react — 1차 반응</a:t>
            </a:r>
          </a:p>
          <a:p>
            <a:pPr algn="l">
              <a:lnSpc>
                <a:spcPct val="112000"/>
              </a:lnSpc>
              <a:spcBef>
                <a:spcPts val="0"/>
              </a:spcBef>
              <a:spcAft>
                <a:spcPts val="100"/>
              </a:spcAft>
            </a:pPr>
            <a:r>
              <a:rPr sz="1050" b="0" i="0">
                <a:solidFill>
                  <a:srgbClr val="1F2937"/>
                </a:solidFill>
                <a:latin typeface="맑은 고딕"/>
                <a:ea typeface="맑은 고딕"/>
                <a:cs typeface="맑은 고딕"/>
              </a:rPr>
              <a:t>시민 각자: 입장(찬/반/혼합) + 5축 점수 (이해·수혜·의향·불만·공유, 0~100)</a:t>
            </a:r>
          </a:p>
        </p:txBody>
      </p:sp>
      <p:sp>
        <p:nvSpPr>
          <p:cNvPr id="8" name="TextBox 7"/>
          <p:cNvSpPr txBox="1"/>
          <p:nvPr/>
        </p:nvSpPr>
        <p:spPr>
          <a:xfrm>
            <a:off x="2560320" y="2505456"/>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400" b="1" i="0">
                <a:solidFill>
                  <a:srgbClr val="6B7280"/>
                </a:solidFill>
                <a:latin typeface="맑은 고딕"/>
                <a:ea typeface="맑은 고딕"/>
                <a:cs typeface="맑은 고딕"/>
              </a:rPr>
              <a:t>↓</a:t>
            </a:r>
          </a:p>
        </p:txBody>
      </p:sp>
      <p:sp>
        <p:nvSpPr>
          <p:cNvPr id="9" name="Rounded Rectangle 8"/>
          <p:cNvSpPr/>
          <p:nvPr/>
        </p:nvSpPr>
        <p:spPr>
          <a:xfrm>
            <a:off x="548640" y="2816352"/>
            <a:ext cx="5120640" cy="758952"/>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658368" y="2889504"/>
            <a:ext cx="4901183" cy="612647"/>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2E9E6B"/>
                </a:solidFill>
                <a:latin typeface="맑은 고딕"/>
                <a:ea typeface="맑은 고딕"/>
                <a:cs typeface="맑은 고딕"/>
              </a:rPr>
              <a:t>② interact — 2차 상호작용</a:t>
            </a:r>
          </a:p>
          <a:p>
            <a:pPr algn="l">
              <a:lnSpc>
                <a:spcPct val="112000"/>
              </a:lnSpc>
              <a:spcBef>
                <a:spcPts val="0"/>
              </a:spcBef>
              <a:spcAft>
                <a:spcPts val="100"/>
              </a:spcAft>
            </a:pPr>
            <a:r>
              <a:rPr sz="1050" b="0" i="0">
                <a:solidFill>
                  <a:srgbClr val="1F2937"/>
                </a:solidFill>
                <a:latin typeface="맑은 고딕"/>
                <a:ea typeface="맑은 고딕"/>
                <a:cs typeface="맑은 고딕"/>
              </a:rPr>
              <a:t>다른 시민들의 반응 요약을 보고 입장 변화</a:t>
            </a:r>
          </a:p>
        </p:txBody>
      </p:sp>
      <p:sp>
        <p:nvSpPr>
          <p:cNvPr id="11" name="TextBox 10"/>
          <p:cNvSpPr txBox="1"/>
          <p:nvPr/>
        </p:nvSpPr>
        <p:spPr>
          <a:xfrm>
            <a:off x="2560320" y="3593592"/>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400" b="1" i="0">
                <a:solidFill>
                  <a:srgbClr val="6B7280"/>
                </a:solidFill>
                <a:latin typeface="맑은 고딕"/>
                <a:ea typeface="맑은 고딕"/>
                <a:cs typeface="맑은 고딕"/>
              </a:rPr>
              <a:t>↓</a:t>
            </a:r>
          </a:p>
        </p:txBody>
      </p:sp>
      <p:sp>
        <p:nvSpPr>
          <p:cNvPr id="12" name="Rounded Rectangle 11"/>
          <p:cNvSpPr/>
          <p:nvPr/>
        </p:nvSpPr>
        <p:spPr>
          <a:xfrm>
            <a:off x="548640" y="3904487"/>
            <a:ext cx="5120640" cy="841248"/>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658368" y="3977639"/>
            <a:ext cx="4901183" cy="694944"/>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2E9E6B"/>
                </a:solidFill>
                <a:latin typeface="맑은 고딕"/>
                <a:ea typeface="맑은 고딕"/>
                <a:cs typeface="맑은 고딕"/>
              </a:rPr>
              <a:t>③ aggregate — 집계·제안</a:t>
            </a:r>
          </a:p>
          <a:p>
            <a:pPr algn="l">
              <a:lnSpc>
                <a:spcPct val="112000"/>
              </a:lnSpc>
              <a:spcBef>
                <a:spcPts val="0"/>
              </a:spcBef>
              <a:spcAft>
                <a:spcPts val="100"/>
              </a:spcAft>
            </a:pPr>
            <a:r>
              <a:rPr sz="1050" b="0" i="0">
                <a:solidFill>
                  <a:srgbClr val="1F2937"/>
                </a:solidFill>
                <a:latin typeface="맑은 고딕"/>
                <a:ea typeface="맑은 고딕"/>
                <a:cs typeface="맑은 고딕"/>
              </a:rPr>
              <a:t>갈등/합의 요약 + 수정안(개선 반영 정책) 생성</a:t>
            </a:r>
          </a:p>
        </p:txBody>
      </p:sp>
      <p:sp>
        <p:nvSpPr>
          <p:cNvPr id="14" name="TextBox 13"/>
          <p:cNvSpPr txBox="1"/>
          <p:nvPr/>
        </p:nvSpPr>
        <p:spPr>
          <a:xfrm>
            <a:off x="548640" y="4937760"/>
            <a:ext cx="5120640" cy="1417320"/>
          </a:xfrm>
          <a:prstGeom prst="rect">
            <a:avLst/>
          </a:prstGeom>
          <a:noFill/>
        </p:spPr>
        <p:txBody>
          <a:bodyPr wrap="square" lIns="0" rIns="0" tIns="0" bIns="0">
            <a:spAutoFit/>
          </a:bodyPr>
          <a:lstStyle/>
          <a:p>
            <a:pPr algn="l">
              <a:lnSpc>
                <a:spcPct val="112000"/>
              </a:lnSpc>
              <a:spcBef>
                <a:spcPts val="0"/>
              </a:spcBef>
              <a:spcAft>
                <a:spcPts val="400"/>
              </a:spcAft>
            </a:pPr>
            <a:r>
              <a:rPr sz="1300" b="1" i="0">
                <a:solidFill>
                  <a:srgbClr val="1F3A5F"/>
                </a:solidFill>
                <a:latin typeface="맑은 고딕"/>
                <a:ea typeface="맑은 고딕"/>
                <a:cs typeface="맑은 고딕"/>
              </a:rPr>
              <a:t>화면 산출</a:t>
            </a:r>
          </a:p>
          <a:p>
            <a:pPr algn="l">
              <a:lnSpc>
                <a:spcPct val="118000"/>
              </a:lnSpc>
              <a:spcBef>
                <a:spcPts val="0"/>
              </a:spcBef>
              <a:spcAft>
                <a:spcPts val="250"/>
              </a:spcAft>
            </a:pPr>
            <a:r>
              <a:rPr sz="1100" b="1" i="0">
                <a:solidFill>
                  <a:srgbClr val="2D6CDF"/>
                </a:solidFill>
                <a:latin typeface="맑은 고딕"/>
                <a:ea typeface="맑은 고딕"/>
                <a:cs typeface="맑은 고딕"/>
              </a:rPr>
              <a:t>•  </a:t>
            </a:r>
            <a:r>
              <a:rPr sz="1100" b="0" i="0">
                <a:solidFill>
                  <a:srgbClr val="1F2937"/>
                </a:solidFill>
                <a:latin typeface="맑은 고딕"/>
                <a:ea typeface="맑은 고딕"/>
                <a:cs typeface="맑은 고딕"/>
              </a:rPr>
              <a:t>게이지 3종 — 정책수용도 · 신청의향지수 · 사회혼란도(=불만 평균)</a:t>
            </a:r>
          </a:p>
          <a:p>
            <a:pPr algn="l">
              <a:lnSpc>
                <a:spcPct val="118000"/>
              </a:lnSpc>
              <a:spcBef>
                <a:spcPts val="0"/>
              </a:spcBef>
              <a:spcAft>
                <a:spcPts val="250"/>
              </a:spcAft>
            </a:pPr>
            <a:r>
              <a:rPr sz="1100" b="1" i="0">
                <a:solidFill>
                  <a:srgbClr val="2D6CDF"/>
                </a:solidFill>
                <a:latin typeface="맑은 고딕"/>
                <a:ea typeface="맑은 고딕"/>
                <a:cs typeface="맑은 고딕"/>
              </a:rPr>
              <a:t>•  </a:t>
            </a:r>
            <a:r>
              <a:rPr sz="1100" b="0" i="0">
                <a:solidFill>
                  <a:srgbClr val="1F2937"/>
                </a:solidFill>
                <a:latin typeface="맑은 고딕"/>
                <a:ea typeface="맑은 고딕"/>
                <a:cs typeface="맑은 고딕"/>
              </a:rPr>
              <a:t>시민 전원 × 점수 히트맵 (행 클릭 → 그 시민의 ‘한마디’)</a:t>
            </a:r>
          </a:p>
          <a:p>
            <a:pPr algn="l">
              <a:lnSpc>
                <a:spcPct val="118000"/>
              </a:lnSpc>
              <a:spcBef>
                <a:spcPts val="0"/>
              </a:spcBef>
              <a:spcAft>
                <a:spcPts val="250"/>
              </a:spcAft>
            </a:pPr>
            <a:r>
              <a:rPr sz="1100" b="1" i="0">
                <a:solidFill>
                  <a:srgbClr val="2D6CDF"/>
                </a:solidFill>
                <a:latin typeface="맑은 고딕"/>
                <a:ea typeface="맑은 고딕"/>
                <a:cs typeface="맑은 고딕"/>
              </a:rPr>
              <a:t>•  </a:t>
            </a:r>
            <a:r>
              <a:rPr sz="1100" b="0" i="0">
                <a:solidFill>
                  <a:srgbClr val="1F2937"/>
                </a:solidFill>
                <a:latin typeface="맑은 고딕"/>
                <a:ea typeface="맑은 고딕"/>
                <a:cs typeface="맑은 고딕"/>
              </a:rPr>
              <a:t>신청 여정 분석 — 퍼널 · 연령대 접근성 · 병목 TOP3</a:t>
            </a:r>
          </a:p>
          <a:p>
            <a:pPr algn="l">
              <a:lnSpc>
                <a:spcPct val="118000"/>
              </a:lnSpc>
              <a:spcBef>
                <a:spcPts val="0"/>
              </a:spcBef>
              <a:spcAft>
                <a:spcPts val="250"/>
              </a:spcAft>
            </a:pPr>
            <a:r>
              <a:rPr sz="1100" b="1" i="0">
                <a:solidFill>
                  <a:srgbClr val="2D6CDF"/>
                </a:solidFill>
                <a:latin typeface="맑은 고딕"/>
                <a:ea typeface="맑은 고딕"/>
                <a:cs typeface="맑은 고딕"/>
              </a:rPr>
              <a:t>•  </a:t>
            </a:r>
            <a:r>
              <a:rPr sz="1100" b="0" i="0">
                <a:solidFill>
                  <a:srgbClr val="1F2937"/>
                </a:solidFill>
                <a:latin typeface="맑은 고딕"/>
                <a:ea typeface="맑은 고딕"/>
                <a:cs typeface="맑은 고딕"/>
              </a:rPr>
              <a:t>정책 개선 탭 — 수정안을 같은 시민 코호트로 A/B 재검증</a:t>
            </a:r>
          </a:p>
        </p:txBody>
      </p:sp>
      <p:sp>
        <p:nvSpPr>
          <p:cNvPr id="15" name="Rounded Rectangle 14"/>
          <p:cNvSpPr/>
          <p:nvPr/>
        </p:nvSpPr>
        <p:spPr>
          <a:xfrm>
            <a:off x="5943600" y="1645920"/>
            <a:ext cx="5696712" cy="4572000"/>
          </a:xfrm>
          <a:prstGeom prst="roundRect">
            <a:avLst>
              <a:gd name="adj" fmla="val 4000"/>
            </a:avLst>
          </a:prstGeom>
          <a:solidFill>
            <a:srgbClr val="F1F3F7"/>
          </a:solidFill>
          <a:ln w="1524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400" b="1" i="0">
                <a:solidFill>
                  <a:srgbClr val="6B7280"/>
                </a:solidFill>
                <a:latin typeface="맑은 고딕"/>
                <a:ea typeface="맑은 고딕"/>
                <a:cs typeface="맑은 고딕"/>
              </a:rPr>
              <a:t>📸 ‘시민 반응’ 탭 캡처</a:t>
            </a:r>
          </a:p>
          <a:p>
            <a:pPr algn="ctr">
              <a:lnSpc>
                <a:spcPct val="112000"/>
              </a:lnSpc>
              <a:spcBef>
                <a:spcPts val="0"/>
              </a:spcBef>
              <a:spcAft>
                <a:spcPts val="0"/>
              </a:spcAft>
            </a:pPr>
            <a:r>
              <a:rPr sz="1000" b="0" i="0">
                <a:solidFill>
                  <a:srgbClr val="9AA5B1"/>
                </a:solidFill>
                <a:latin typeface="맑은 고딕"/>
                <a:ea typeface="맑은 고딕"/>
                <a:cs typeface="맑은 고딕"/>
              </a:rPr>
              <a:t>게이지 3종 + 히트맵이 같이 보이는 화면 추천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02 시스템</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축 B — 정책 인생극장: 개인의 궤적을 따라간다</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8</a:t>
            </a:r>
          </a:p>
        </p:txBody>
      </p:sp>
      <p:sp>
        <p:nvSpPr>
          <p:cNvPr id="6" name="Rounded Rectangle 5"/>
          <p:cNvSpPr/>
          <p:nvPr/>
        </p:nvSpPr>
        <p:spPr>
          <a:xfrm>
            <a:off x="548640" y="1645920"/>
            <a:ext cx="5120640" cy="786384"/>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658368" y="1719072"/>
            <a:ext cx="4901183" cy="640080"/>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E8902A"/>
                </a:solidFill>
                <a:latin typeface="맑은 고딕"/>
                <a:ea typeface="맑은 고딕"/>
                <a:cs typeface="맑은 고딕"/>
              </a:rPr>
              <a:t>① 전원 시간경과 시뮬 (1 · 3 · 6개월)</a:t>
            </a:r>
          </a:p>
          <a:p>
            <a:pPr algn="l">
              <a:lnSpc>
                <a:spcPct val="112000"/>
              </a:lnSpc>
              <a:spcBef>
                <a:spcPts val="0"/>
              </a:spcBef>
              <a:spcAft>
                <a:spcPts val="100"/>
              </a:spcAft>
            </a:pPr>
            <a:r>
              <a:rPr sz="1050" b="0" i="0">
                <a:solidFill>
                  <a:srgbClr val="1F2937"/>
                </a:solidFill>
                <a:latin typeface="맑은 고딕"/>
                <a:ea typeface="맑은 고딕"/>
                <a:cs typeface="맑은 고딕"/>
              </a:rPr>
              <a:t>시점마다: 장소 + 경로 + 행동 서사 + 상태 + 막힌 지점</a:t>
            </a:r>
          </a:p>
        </p:txBody>
      </p:sp>
      <p:sp>
        <p:nvSpPr>
          <p:cNvPr id="8" name="TextBox 7"/>
          <p:cNvSpPr txBox="1"/>
          <p:nvPr/>
        </p:nvSpPr>
        <p:spPr>
          <a:xfrm>
            <a:off x="2560320" y="2450592"/>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400" b="1" i="0">
                <a:solidFill>
                  <a:srgbClr val="6B7280"/>
                </a:solidFill>
                <a:latin typeface="맑은 고딕"/>
                <a:ea typeface="맑은 고딕"/>
                <a:cs typeface="맑은 고딕"/>
              </a:rPr>
              <a:t>↓</a:t>
            </a:r>
          </a:p>
        </p:txBody>
      </p:sp>
      <p:sp>
        <p:nvSpPr>
          <p:cNvPr id="9" name="Rounded Rectangle 8"/>
          <p:cNvSpPr/>
          <p:nvPr/>
        </p:nvSpPr>
        <p:spPr>
          <a:xfrm>
            <a:off x="548640" y="2761488"/>
            <a:ext cx="5120640" cy="786384"/>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658368" y="2834640"/>
            <a:ext cx="4901183" cy="640080"/>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E8902A"/>
                </a:solidFill>
                <a:latin typeface="맑은 고딕"/>
                <a:ea typeface="맑은 고딕"/>
                <a:cs typeface="맑은 고딕"/>
              </a:rPr>
              <a:t>② 실제 결과에서 대조 3명 선별</a:t>
            </a:r>
          </a:p>
          <a:p>
            <a:pPr algn="l">
              <a:lnSpc>
                <a:spcPct val="112000"/>
              </a:lnSpc>
              <a:spcBef>
                <a:spcPts val="0"/>
              </a:spcBef>
              <a:spcAft>
                <a:spcPts val="100"/>
              </a:spcAft>
            </a:pPr>
            <a:r>
              <a:rPr sz="1050" b="0" i="0">
                <a:solidFill>
                  <a:srgbClr val="1F2937"/>
                </a:solidFill>
                <a:latin typeface="맑은 고딕"/>
                <a:ea typeface="맑은 고딕"/>
                <a:cs typeface="맑은 고딕"/>
              </a:rPr>
              <a:t>받음 → 수혜 / 진행 중 → 경계 / 막힘·못 닿음 → 사각</a:t>
            </a:r>
          </a:p>
        </p:txBody>
      </p:sp>
      <p:sp>
        <p:nvSpPr>
          <p:cNvPr id="11" name="TextBox 10"/>
          <p:cNvSpPr txBox="1"/>
          <p:nvPr/>
        </p:nvSpPr>
        <p:spPr>
          <a:xfrm>
            <a:off x="2560320" y="3566160"/>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400" b="1" i="0">
                <a:solidFill>
                  <a:srgbClr val="6B7280"/>
                </a:solidFill>
                <a:latin typeface="맑은 고딕"/>
                <a:ea typeface="맑은 고딕"/>
                <a:cs typeface="맑은 고딕"/>
              </a:rPr>
              <a:t>↓</a:t>
            </a:r>
          </a:p>
        </p:txBody>
      </p:sp>
      <p:sp>
        <p:nvSpPr>
          <p:cNvPr id="12" name="Rounded Rectangle 11"/>
          <p:cNvSpPr/>
          <p:nvPr/>
        </p:nvSpPr>
        <p:spPr>
          <a:xfrm>
            <a:off x="548640" y="3877056"/>
            <a:ext cx="5120640" cy="86868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658368" y="3950208"/>
            <a:ext cx="4901183" cy="722375"/>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E8902A"/>
                </a:solidFill>
                <a:latin typeface="맑은 고딕"/>
                <a:ea typeface="맑은 고딕"/>
                <a:cs typeface="맑은 고딕"/>
              </a:rPr>
              <a:t>③ 접근 여정 카드</a:t>
            </a:r>
          </a:p>
          <a:p>
            <a:pPr algn="l">
              <a:lnSpc>
                <a:spcPct val="112000"/>
              </a:lnSpc>
              <a:spcBef>
                <a:spcPts val="0"/>
              </a:spcBef>
              <a:spcAft>
                <a:spcPts val="100"/>
              </a:spcAft>
            </a:pPr>
            <a:r>
              <a:rPr sz="1050" b="0" i="0">
                <a:solidFill>
                  <a:srgbClr val="1F2937"/>
                </a:solidFill>
                <a:latin typeface="맑은 고딕"/>
                <a:ea typeface="맑은 고딕"/>
                <a:cs typeface="맑은 고딕"/>
              </a:rPr>
              <a:t>🧭 알게됨 → 신청 → ⛔막힘  (경로·막힌 지점·삶의 변화)</a:t>
            </a:r>
          </a:p>
        </p:txBody>
      </p:sp>
      <p:sp>
        <p:nvSpPr>
          <p:cNvPr id="14" name="TextBox 13"/>
          <p:cNvSpPr txBox="1"/>
          <p:nvPr/>
        </p:nvSpPr>
        <p:spPr>
          <a:xfrm>
            <a:off x="548640" y="4956048"/>
            <a:ext cx="5120640" cy="1280160"/>
          </a:xfrm>
          <a:prstGeom prst="rect">
            <a:avLst/>
          </a:prstGeom>
          <a:noFill/>
        </p:spPr>
        <p:txBody>
          <a:bodyPr wrap="square" lIns="0" rIns="0" tIns="0" bIns="0">
            <a:spAutoFit/>
          </a:bodyPr>
          <a:lstStyle/>
          <a:p>
            <a:pPr algn="l">
              <a:lnSpc>
                <a:spcPct val="112000"/>
              </a:lnSpc>
              <a:spcBef>
                <a:spcPts val="0"/>
              </a:spcBef>
              <a:spcAft>
                <a:spcPts val="400"/>
              </a:spcAft>
            </a:pPr>
            <a:r>
              <a:rPr sz="1300" b="1" i="0">
                <a:solidFill>
                  <a:srgbClr val="1F3A5F"/>
                </a:solidFill>
                <a:latin typeface="맑은 고딕"/>
                <a:ea typeface="맑은 고딕"/>
                <a:cs typeface="맑은 고딕"/>
              </a:rPr>
              <a:t>채널 5곳이 사각지대의 표현 장치  </a:t>
            </a:r>
          </a:p>
          <a:p>
            <a:pPr algn="l">
              <a:lnSpc>
                <a:spcPct val="112000"/>
              </a:lnSpc>
              <a:spcBef>
                <a:spcPts val="0"/>
              </a:spcBef>
              <a:spcAft>
                <a:spcPts val="300"/>
              </a:spcAft>
            </a:pPr>
            <a:r>
              <a:rPr sz="1200" b="0" i="0">
                <a:solidFill>
                  <a:srgbClr val="1F2937"/>
                </a:solidFill>
                <a:latin typeface="맑은 고딕"/>
                <a:ea typeface="맑은 고딕"/>
                <a:cs typeface="맑은 고딕"/>
              </a:rPr>
              <a:t>복지로(온라인) · 주민센터 · 복지관 · 직장/시장 · 집</a:t>
            </a:r>
          </a:p>
          <a:p>
            <a:pPr algn="l">
              <a:lnSpc>
                <a:spcPct val="112000"/>
              </a:lnSpc>
              <a:spcBef>
                <a:spcPts val="0"/>
              </a:spcBef>
              <a:spcAft>
                <a:spcPts val="0"/>
              </a:spcAft>
            </a:pPr>
            <a:r>
              <a:rPr sz="1200" b="1" i="0">
                <a:solidFill>
                  <a:srgbClr val="D9534F"/>
                </a:solidFill>
                <a:latin typeface="맑은 고딕"/>
                <a:ea typeface="맑은 고딕"/>
                <a:cs typeface="맑은 고딕"/>
              </a:rPr>
              <a:t>청년은 복지로에서 5분 — 고령은 어디에도 못 닿아 ‘집’에 갇힌다.</a:t>
            </a:r>
          </a:p>
        </p:txBody>
      </p:sp>
      <p:sp>
        <p:nvSpPr>
          <p:cNvPr id="15" name="Rounded Rectangle 14"/>
          <p:cNvSpPr/>
          <p:nvPr/>
        </p:nvSpPr>
        <p:spPr>
          <a:xfrm>
            <a:off x="5943600" y="1645920"/>
            <a:ext cx="5696712" cy="4572000"/>
          </a:xfrm>
          <a:prstGeom prst="roundRect">
            <a:avLst>
              <a:gd name="adj" fmla="val 4000"/>
            </a:avLst>
          </a:prstGeom>
          <a:solidFill>
            <a:srgbClr val="F1F3F7"/>
          </a:solidFill>
          <a:ln w="1524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400" b="1" i="0">
                <a:solidFill>
                  <a:srgbClr val="6B7280"/>
                </a:solidFill>
                <a:latin typeface="맑은 고딕"/>
                <a:ea typeface="맑은 고딕"/>
                <a:cs typeface="맑은 고딕"/>
              </a:rPr>
              <a:t>📸 ‘정책 인생극장’ 탭 캡처</a:t>
            </a:r>
          </a:p>
          <a:p>
            <a:pPr algn="ctr">
              <a:lnSpc>
                <a:spcPct val="112000"/>
              </a:lnSpc>
              <a:spcBef>
                <a:spcPts val="0"/>
              </a:spcBef>
              <a:spcAft>
                <a:spcPts val="0"/>
              </a:spcAft>
            </a:pPr>
            <a:r>
              <a:rPr sz="1000" b="0" i="0">
                <a:solidFill>
                  <a:srgbClr val="9AA5B1"/>
                </a:solidFill>
                <a:latin typeface="맑은 고딕"/>
                <a:ea typeface="맑은 고딕"/>
                <a:cs typeface="맑은 고딕"/>
              </a:rPr>
              <a:t>대조 3명 카드 + 여정 띠(알게됨→신청→막힘)가 보이는 화면 추천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03 시행착오</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스코프의 진화 — 무엇을, 왜 덜어냈나</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9</a:t>
            </a:r>
          </a:p>
        </p:txBody>
      </p:sp>
      <p:sp>
        <p:nvSpPr>
          <p:cNvPr id="6" name="Rounded Rectangle 5"/>
          <p:cNvSpPr/>
          <p:nvPr/>
        </p:nvSpPr>
        <p:spPr>
          <a:xfrm>
            <a:off x="548640" y="1600200"/>
            <a:ext cx="11091672" cy="713232"/>
          </a:xfrm>
          <a:prstGeom prst="roundRect">
            <a:avLst>
              <a:gd name="adj" fmla="val 8000"/>
            </a:avLst>
          </a:prstGeom>
          <a:solidFill>
            <a:srgbClr val="F4F6FA"/>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658368" y="1673352"/>
            <a:ext cx="10872216" cy="566928"/>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1F2937"/>
                </a:solidFill>
                <a:latin typeface="맑은 고딕"/>
                <a:ea typeface="맑은 고딕"/>
                <a:cs typeface="맑은 고딕"/>
              </a:rPr>
              <a:t>출발 — 8기능 비전</a:t>
            </a:r>
          </a:p>
          <a:p>
            <a:pPr algn="l">
              <a:lnSpc>
                <a:spcPct val="112000"/>
              </a:lnSpc>
              <a:spcBef>
                <a:spcPts val="0"/>
              </a:spcBef>
              <a:spcAft>
                <a:spcPts val="100"/>
              </a:spcAft>
            </a:pPr>
            <a:r>
              <a:rPr sz="1050" b="0" i="0">
                <a:solidFill>
                  <a:srgbClr val="1F2937"/>
                </a:solidFill>
                <a:latin typeface="맑은 고딕"/>
                <a:ea typeface="맑은 고딕"/>
                <a:cs typeface="맑은 고딕"/>
              </a:rPr>
              <a:t>RAG · 시민 Agent · SNS 채팅 · 감성 대시보드 · 전파 그래프 · 게시판 자동답변 · A/B 테스트 · 쉬운 글 변환</a:t>
            </a:r>
          </a:p>
        </p:txBody>
      </p:sp>
      <p:sp>
        <p:nvSpPr>
          <p:cNvPr id="8" name="TextBox 7"/>
          <p:cNvSpPr txBox="1"/>
          <p:nvPr/>
        </p:nvSpPr>
        <p:spPr>
          <a:xfrm>
            <a:off x="5550408" y="2331720"/>
            <a:ext cx="1097280" cy="365760"/>
          </a:xfrm>
          <a:prstGeom prst="rect">
            <a:avLst/>
          </a:prstGeom>
          <a:noFill/>
        </p:spPr>
        <p:txBody>
          <a:bodyPr wrap="square" lIns="0" rIns="0" tIns="0" bIns="0">
            <a:spAutoFit/>
          </a:bodyPr>
          <a:lstStyle/>
          <a:p>
            <a:pPr algn="ctr">
              <a:lnSpc>
                <a:spcPct val="112000"/>
              </a:lnSpc>
              <a:spcBef>
                <a:spcPts val="0"/>
              </a:spcBef>
              <a:spcAft>
                <a:spcPts val="0"/>
              </a:spcAft>
            </a:pPr>
            <a:r>
              <a:rPr sz="1400" b="1" i="0">
                <a:solidFill>
                  <a:srgbClr val="6B7280"/>
                </a:solidFill>
                <a:latin typeface="맑은 고딕"/>
                <a:ea typeface="맑은 고딕"/>
                <a:cs typeface="맑은 고딕"/>
              </a:rPr>
              <a:t>↓</a:t>
            </a:r>
          </a:p>
        </p:txBody>
      </p:sp>
      <p:sp>
        <p:nvSpPr>
          <p:cNvPr id="9" name="Rounded Rectangle 8"/>
          <p:cNvSpPr/>
          <p:nvPr/>
        </p:nvSpPr>
        <p:spPr>
          <a:xfrm>
            <a:off x="548640" y="2697480"/>
            <a:ext cx="3593592" cy="228600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731520" y="2862072"/>
            <a:ext cx="3246120" cy="2011680"/>
          </a:xfrm>
          <a:prstGeom prst="rect">
            <a:avLst/>
          </a:prstGeom>
          <a:noFill/>
        </p:spPr>
        <p:txBody>
          <a:bodyPr wrap="square" lIns="0" rIns="0" tIns="0" bIns="0">
            <a:spAutoFit/>
          </a:bodyPr>
          <a:lstStyle/>
          <a:p>
            <a:pPr algn="l">
              <a:lnSpc>
                <a:spcPct val="112000"/>
              </a:lnSpc>
              <a:spcBef>
                <a:spcPts val="0"/>
              </a:spcBef>
              <a:spcAft>
                <a:spcPts val="600"/>
              </a:spcAft>
            </a:pPr>
            <a:r>
              <a:rPr sz="1400" b="1" i="0">
                <a:solidFill>
                  <a:srgbClr val="D9534F"/>
                </a:solidFill>
                <a:latin typeface="맑은 고딕"/>
                <a:ea typeface="맑은 고딕"/>
                <a:cs typeface="맑은 고딕"/>
              </a:rPr>
              <a:t>① 전파 그래프 폐기</a:t>
            </a:r>
          </a:p>
          <a:p>
            <a:pPr algn="l">
              <a:lnSpc>
                <a:spcPct val="128000"/>
              </a:lnSpc>
              <a:spcBef>
                <a:spcPts val="0"/>
              </a:spcBef>
              <a:spcAft>
                <a:spcPts val="0"/>
              </a:spcAft>
            </a:pPr>
            <a:r>
              <a:rPr sz="1150" b="0" i="0">
                <a:solidFill>
                  <a:srgbClr val="1F2937"/>
                </a:solidFill>
                <a:latin typeface="맑은 고딕"/>
                <a:ea typeface="맑은 고딕"/>
                <a:cs typeface="맑은 고딕"/>
              </a:rPr>
              <a:t>통계에서 무작위 샘플링한 페르소나는 서로 모르는 독립 개인 — 그 사이에 ‘전파 엣지’를 그리는 건 근거 없는 연출이다.</a:t>
            </a:r>
          </a:p>
        </p:txBody>
      </p:sp>
      <p:sp>
        <p:nvSpPr>
          <p:cNvPr id="11" name="Rounded Rectangle 10"/>
          <p:cNvSpPr/>
          <p:nvPr/>
        </p:nvSpPr>
        <p:spPr>
          <a:xfrm>
            <a:off x="4297679" y="2697480"/>
            <a:ext cx="3593592" cy="228600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TextBox 11"/>
          <p:cNvSpPr txBox="1"/>
          <p:nvPr/>
        </p:nvSpPr>
        <p:spPr>
          <a:xfrm>
            <a:off x="4480559" y="2862072"/>
            <a:ext cx="3246120" cy="2011680"/>
          </a:xfrm>
          <a:prstGeom prst="rect">
            <a:avLst/>
          </a:prstGeom>
          <a:noFill/>
        </p:spPr>
        <p:txBody>
          <a:bodyPr wrap="square" lIns="0" rIns="0" tIns="0" bIns="0">
            <a:spAutoFit/>
          </a:bodyPr>
          <a:lstStyle/>
          <a:p>
            <a:pPr algn="l">
              <a:lnSpc>
                <a:spcPct val="112000"/>
              </a:lnSpc>
              <a:spcBef>
                <a:spcPts val="0"/>
              </a:spcBef>
              <a:spcAft>
                <a:spcPts val="600"/>
              </a:spcAft>
            </a:pPr>
            <a:r>
              <a:rPr sz="1400" b="1" i="0">
                <a:solidFill>
                  <a:srgbClr val="E8902A"/>
                </a:solidFill>
                <a:latin typeface="맑은 고딕"/>
                <a:ea typeface="맑은 고딕"/>
                <a:cs typeface="맑은 고딕"/>
              </a:rPr>
              <a:t>② 24명 마을 → 대조 3명</a:t>
            </a:r>
          </a:p>
          <a:p>
            <a:pPr algn="l">
              <a:lnSpc>
                <a:spcPct val="128000"/>
              </a:lnSpc>
              <a:spcBef>
                <a:spcPts val="0"/>
              </a:spcBef>
              <a:spcAft>
                <a:spcPts val="0"/>
              </a:spcAft>
            </a:pPr>
            <a:r>
              <a:rPr sz="1150" b="0" i="0">
                <a:solidFill>
                  <a:srgbClr val="1F2937"/>
                </a:solidFill>
                <a:latin typeface="맑은 고딕"/>
                <a:ea typeface="맑은 고딕"/>
                <a:cs typeface="맑은 고딕"/>
              </a:rPr>
              <a:t>24명 × 여러 시점은 해커톤에 무겁고 “24명이 대표성 있냐”는 공격에 약하다. 수혜/경계/사각 3명이면 갈림이 한 화면에.</a:t>
            </a:r>
          </a:p>
        </p:txBody>
      </p:sp>
      <p:sp>
        <p:nvSpPr>
          <p:cNvPr id="13" name="Rounded Rectangle 12"/>
          <p:cNvSpPr/>
          <p:nvPr/>
        </p:nvSpPr>
        <p:spPr>
          <a:xfrm>
            <a:off x="8046719" y="2697480"/>
            <a:ext cx="3593592" cy="2286000"/>
          </a:xfrm>
          <a:prstGeom prst="roundRect">
            <a:avLst>
              <a:gd name="adj" fmla="val 8000"/>
            </a:avLst>
          </a:prstGeom>
          <a:solidFill>
            <a:srgbClr val="EAF0F8"/>
          </a:solidFill>
          <a:ln w="12700">
            <a:solidFill>
              <a:srgbClr val="2D6C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8229599" y="2862072"/>
            <a:ext cx="3246120" cy="2011680"/>
          </a:xfrm>
          <a:prstGeom prst="rect">
            <a:avLst/>
          </a:prstGeom>
          <a:noFill/>
        </p:spPr>
        <p:txBody>
          <a:bodyPr wrap="square" lIns="0" rIns="0" tIns="0" bIns="0">
            <a:spAutoFit/>
          </a:bodyPr>
          <a:lstStyle/>
          <a:p>
            <a:pPr algn="l">
              <a:lnSpc>
                <a:spcPct val="112000"/>
              </a:lnSpc>
              <a:spcBef>
                <a:spcPts val="0"/>
              </a:spcBef>
              <a:spcAft>
                <a:spcPts val="600"/>
              </a:spcAft>
            </a:pPr>
            <a:r>
              <a:rPr sz="1400" b="1" i="0">
                <a:solidFill>
                  <a:srgbClr val="2D6CDF"/>
                </a:solidFill>
                <a:latin typeface="맑은 고딕"/>
                <a:ea typeface="맑은 고딕"/>
                <a:cs typeface="맑은 고딕"/>
              </a:rPr>
              <a:t>③ “예측”이라 부르지 않는다</a:t>
            </a:r>
          </a:p>
          <a:p>
            <a:pPr algn="l">
              <a:lnSpc>
                <a:spcPct val="128000"/>
              </a:lnSpc>
              <a:spcBef>
                <a:spcPts val="0"/>
              </a:spcBef>
              <a:spcAft>
                <a:spcPts val="0"/>
              </a:spcAft>
            </a:pPr>
            <a:r>
              <a:rPr sz="1150" b="0" i="0">
                <a:solidFill>
                  <a:srgbClr val="1F2937"/>
                </a:solidFill>
                <a:latin typeface="맑은 고딕"/>
                <a:ea typeface="맑은 고딕"/>
                <a:cs typeface="맑은 고딕"/>
              </a:rPr>
              <a:t>맞히는 도구라고 주장하는 순간 검증 공격을 받는다. ‘영향 시나리오’로 포지셔닝하고, 신뢰성은 ablation으로 방어한다.</a:t>
            </a:r>
          </a:p>
        </p:txBody>
      </p:sp>
      <p:sp>
        <p:nvSpPr>
          <p:cNvPr id="15" name="Rounded Rectangle 14"/>
          <p:cNvSpPr/>
          <p:nvPr/>
        </p:nvSpPr>
        <p:spPr>
          <a:xfrm>
            <a:off x="548640" y="5212080"/>
            <a:ext cx="11091672" cy="86868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6" name="TextBox 15"/>
          <p:cNvSpPr txBox="1"/>
          <p:nvPr/>
        </p:nvSpPr>
        <p:spPr>
          <a:xfrm>
            <a:off x="868680" y="5349240"/>
            <a:ext cx="10515600" cy="640080"/>
          </a:xfrm>
          <a:prstGeom prst="rect">
            <a:avLst/>
          </a:prstGeom>
          <a:noFill/>
        </p:spPr>
        <p:txBody>
          <a:bodyPr wrap="square" lIns="0" rIns="0" tIns="0" bIns="0" anchor="ctr">
            <a:spAutoFit/>
          </a:bodyPr>
          <a:lstStyle/>
          <a:p>
            <a:pPr algn="ctr">
              <a:lnSpc>
                <a:spcPct val="112000"/>
              </a:lnSpc>
              <a:spcBef>
                <a:spcPts val="0"/>
              </a:spcBef>
              <a:spcAft>
                <a:spcPts val="0"/>
              </a:spcAft>
            </a:pPr>
            <a:r>
              <a:rPr sz="1400" b="1" i="0">
                <a:solidFill>
                  <a:srgbClr val="2E9E6B"/>
                </a:solidFill>
                <a:latin typeface="맑은 고딕"/>
                <a:ea typeface="맑은 고딕"/>
                <a:cs typeface="맑은 고딕"/>
              </a:rPr>
              <a:t>좁힌 것은 버린 게 아니라 확장 경로 — </a:t>
            </a:r>
            <a:r>
              <a:rPr sz="1400" b="0" i="0">
                <a:solidFill>
                  <a:srgbClr val="1F2937"/>
                </a:solidFill>
                <a:latin typeface="맑은 고딕"/>
                <a:ea typeface="맑은 고딕"/>
                <a:cs typeface="맑은 고딕"/>
              </a:rPr>
              <a:t>전파는 ‘미리마을’로, RAG는 ‘게시판’으로 결국 돌아왔다 (05장)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03 시행착오</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시행착오 ① — ‘두 심판 문제’: 예측을 버리고 결과로</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10</a:t>
            </a:r>
          </a:p>
        </p:txBody>
      </p:sp>
      <p:sp>
        <p:nvSpPr>
          <p:cNvPr id="6" name="TextBox 5"/>
          <p:cNvSpPr txBox="1"/>
          <p:nvPr/>
        </p:nvSpPr>
        <p:spPr>
          <a:xfrm>
            <a:off x="548640" y="1645920"/>
            <a:ext cx="11091672" cy="1371600"/>
          </a:xfrm>
          <a:prstGeom prst="rect">
            <a:avLst/>
          </a:prstGeom>
          <a:noFill/>
        </p:spPr>
        <p:txBody>
          <a:bodyPr wrap="square" lIns="0" rIns="0" tIns="0" bIns="0">
            <a:spAutoFit/>
          </a:bodyPr>
          <a:lstStyle/>
          <a:p>
            <a:pPr algn="l">
              <a:lnSpc>
                <a:spcPct val="112000"/>
              </a:lnSpc>
              <a:spcBef>
                <a:spcPts val="0"/>
              </a:spcBef>
              <a:spcAft>
                <a:spcPts val="600"/>
              </a:spcAft>
            </a:pPr>
            <a:r>
              <a:rPr sz="1400" b="1" i="0">
                <a:solidFill>
                  <a:srgbClr val="D9534F"/>
                </a:solidFill>
                <a:latin typeface="맑은 고딕"/>
                <a:ea typeface="맑은 고딕"/>
                <a:cs typeface="맑은 고딕"/>
              </a:rPr>
              <a:t>증상  </a:t>
            </a:r>
            <a:r>
              <a:rPr sz="1400" b="0" i="0">
                <a:solidFill>
                  <a:srgbClr val="1F2937"/>
                </a:solidFill>
                <a:latin typeface="맑은 고딕"/>
                <a:ea typeface="맑은 고딕"/>
                <a:cs typeface="맑은 고딕"/>
              </a:rPr>
              <a:t>‘경계’로 뽑힌 신민재의 카드 서사가 “월세를 받았다” — 라벨과 이야기가 모순</a:t>
            </a:r>
          </a:p>
          <a:p>
            <a:pPr algn="l">
              <a:lnSpc>
                <a:spcPct val="112000"/>
              </a:lnSpc>
              <a:spcBef>
                <a:spcPts val="0"/>
              </a:spcBef>
              <a:spcAft>
                <a:spcPts val="600"/>
              </a:spcAft>
            </a:pPr>
            <a:r>
              <a:rPr sz="1400" b="1" i="0">
                <a:solidFill>
                  <a:srgbClr val="D9534F"/>
                </a:solidFill>
                <a:latin typeface="맑은 고딕"/>
                <a:ea typeface="맑은 고딕"/>
                <a:cs typeface="맑은 고딕"/>
              </a:rPr>
              <a:t>원인  </a:t>
            </a:r>
            <a:r>
              <a:rPr sz="1400" b="0" i="0">
                <a:solidFill>
                  <a:srgbClr val="1F2937"/>
                </a:solidFill>
                <a:latin typeface="맑은 고딕"/>
                <a:ea typeface="맑은 고딕"/>
                <a:cs typeface="맑은 고딕"/>
              </a:rPr>
              <a:t>심판이 둘 — 라벨은 시뮬 </a:t>
            </a:r>
            <a:r>
              <a:rPr sz="1400" b="1" i="0">
                <a:solidFill>
                  <a:srgbClr val="1F2937"/>
                </a:solidFill>
                <a:latin typeface="맑은 고딕"/>
                <a:ea typeface="맑은 고딕"/>
                <a:cs typeface="맑은 고딕"/>
              </a:rPr>
              <a:t>전</a:t>
            </a:r>
            <a:r>
              <a:rPr sz="1400" b="0" i="0">
                <a:solidFill>
                  <a:srgbClr val="1F2937"/>
                </a:solidFill>
                <a:latin typeface="맑은 고딕"/>
                <a:ea typeface="맑은 고딕"/>
                <a:cs typeface="맑은 고딕"/>
              </a:rPr>
              <a:t> 점수 매트릭스가, 이야기는 시뮬 </a:t>
            </a:r>
            <a:r>
              <a:rPr sz="1400" b="1" i="0">
                <a:solidFill>
                  <a:srgbClr val="1F2937"/>
                </a:solidFill>
                <a:latin typeface="맑은 고딕"/>
                <a:ea typeface="맑은 고딕"/>
                <a:cs typeface="맑은 고딕"/>
              </a:rPr>
              <a:t>후</a:t>
            </a:r>
            <a:r>
              <a:rPr sz="1400" b="0" i="0">
                <a:solidFill>
                  <a:srgbClr val="1F2937"/>
                </a:solidFill>
                <a:latin typeface="맑은 고딕"/>
                <a:ea typeface="맑은 고딕"/>
                <a:cs typeface="맑은 고딕"/>
              </a:rPr>
              <a:t> LLM이 정한다. 두 심판은 당연히 어긋난다.</a:t>
            </a:r>
          </a:p>
          <a:p>
            <a:pPr algn="l">
              <a:lnSpc>
                <a:spcPct val="112000"/>
              </a:lnSpc>
              <a:spcBef>
                <a:spcPts val="0"/>
              </a:spcBef>
              <a:spcAft>
                <a:spcPts val="0"/>
              </a:spcAft>
            </a:pPr>
            <a:r>
              <a:rPr sz="1400" b="1" i="0">
                <a:solidFill>
                  <a:srgbClr val="2D6CDF"/>
                </a:solidFill>
                <a:latin typeface="맑은 고딕"/>
                <a:ea typeface="맑은 고딕"/>
                <a:cs typeface="맑은 고딕"/>
              </a:rPr>
              <a:t>통찰  </a:t>
            </a:r>
            <a:r>
              <a:rPr sz="1400" b="0" i="0">
                <a:solidFill>
                  <a:srgbClr val="1F2937"/>
                </a:solidFill>
                <a:latin typeface="맑은 고딕"/>
                <a:ea typeface="맑은 고딕"/>
                <a:cs typeface="맑은 고딕"/>
              </a:rPr>
              <a:t>수혜/경계/사각은 점수가 아니라 </a:t>
            </a:r>
            <a:r>
              <a:rPr sz="1400" b="1" i="0">
                <a:solidFill>
                  <a:srgbClr val="2D6CDF"/>
                </a:solidFill>
                <a:latin typeface="맑은 고딕"/>
                <a:ea typeface="맑은 고딕"/>
                <a:cs typeface="맑은 고딕"/>
              </a:rPr>
              <a:t>결과(받음 / 막힘 / 못 닿음)</a:t>
            </a:r>
            <a:r>
              <a:rPr sz="1400" b="0" i="0">
                <a:solidFill>
                  <a:srgbClr val="1F2937"/>
                </a:solidFill>
                <a:latin typeface="맑은 고딕"/>
                <a:ea typeface="맑은 고딕"/>
                <a:cs typeface="맑은 고딕"/>
              </a:rPr>
              <a:t>다.</a:t>
            </a:r>
          </a:p>
        </p:txBody>
      </p:sp>
      <p:sp>
        <p:nvSpPr>
          <p:cNvPr id="7" name="Rounded Rectangle 6"/>
          <p:cNvSpPr/>
          <p:nvPr/>
        </p:nvSpPr>
        <p:spPr>
          <a:xfrm>
            <a:off x="548640" y="3246120"/>
            <a:ext cx="5394960" cy="265176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777240" y="3429000"/>
            <a:ext cx="4937760" cy="2286000"/>
          </a:xfrm>
          <a:prstGeom prst="rect">
            <a:avLst/>
          </a:prstGeom>
          <a:noFill/>
        </p:spPr>
        <p:txBody>
          <a:bodyPr wrap="square" lIns="0" rIns="0" tIns="0" bIns="0">
            <a:spAutoFit/>
          </a:bodyPr>
          <a:lstStyle/>
          <a:p>
            <a:pPr algn="l">
              <a:lnSpc>
                <a:spcPct val="112000"/>
              </a:lnSpc>
              <a:spcBef>
                <a:spcPts val="0"/>
              </a:spcBef>
              <a:spcAft>
                <a:spcPts val="600"/>
              </a:spcAft>
            </a:pPr>
            <a:r>
              <a:rPr sz="1450" b="1" i="0">
                <a:solidFill>
                  <a:srgbClr val="D9534F"/>
                </a:solidFill>
                <a:latin typeface="맑은 고딕"/>
                <a:ea typeface="맑은 고딕"/>
                <a:cs typeface="맑은 고딕"/>
              </a:rPr>
              <a:t>Before — 수치 예측 선별</a:t>
            </a:r>
          </a:p>
          <a:p>
            <a:pPr algn="l">
              <a:lnSpc>
                <a:spcPct val="118000"/>
              </a:lnSpc>
              <a:spcBef>
                <a:spcPts val="0"/>
              </a:spcBef>
              <a:spcAft>
                <a:spcPts val="500"/>
              </a:spcAft>
            </a:pPr>
            <a:r>
              <a:rPr sz="1200" b="1" i="0">
                <a:solidFill>
                  <a:srgbClr val="D9534F"/>
                </a:solidFill>
                <a:latin typeface="맑은 고딕"/>
                <a:ea typeface="맑은 고딕"/>
                <a:cs typeface="맑은 고딕"/>
              </a:rPr>
              <a:t>•  </a:t>
            </a:r>
            <a:r>
              <a:rPr sz="1200" b="0" i="0">
                <a:solidFill>
                  <a:srgbClr val="1F2937"/>
                </a:solidFill>
                <a:latin typeface="맑은 고딕"/>
                <a:ea typeface="맑은 고딕"/>
                <a:cs typeface="맑은 고딕"/>
              </a:rPr>
              <a:t>시뮬 전에 점수 매트릭스로 3명을 ‘점친다’</a:t>
            </a:r>
          </a:p>
          <a:p>
            <a:pPr algn="l">
              <a:lnSpc>
                <a:spcPct val="118000"/>
              </a:lnSpc>
              <a:spcBef>
                <a:spcPts val="0"/>
              </a:spcBef>
              <a:spcAft>
                <a:spcPts val="500"/>
              </a:spcAft>
            </a:pPr>
            <a:r>
              <a:rPr sz="1200" b="1" i="0">
                <a:solidFill>
                  <a:srgbClr val="D9534F"/>
                </a:solidFill>
                <a:latin typeface="맑은 고딕"/>
                <a:ea typeface="맑은 고딕"/>
                <a:cs typeface="맑은 고딕"/>
              </a:rPr>
              <a:t>•  </a:t>
            </a:r>
            <a:r>
              <a:rPr sz="1200" b="0" i="0">
                <a:solidFill>
                  <a:srgbClr val="1F2937"/>
                </a:solidFill>
                <a:latin typeface="맑은 고딕"/>
                <a:ea typeface="맑은 고딕"/>
                <a:cs typeface="맑은 고딕"/>
              </a:rPr>
              <a:t>라벨 따로, 서사 따로 → 구조적으로 어긋남</a:t>
            </a:r>
          </a:p>
          <a:p>
            <a:pPr algn="l">
              <a:lnSpc>
                <a:spcPct val="118000"/>
              </a:lnSpc>
              <a:spcBef>
                <a:spcPts val="0"/>
              </a:spcBef>
              <a:spcAft>
                <a:spcPts val="500"/>
              </a:spcAft>
            </a:pPr>
            <a:r>
              <a:rPr sz="1200" b="1" i="0">
                <a:solidFill>
                  <a:srgbClr val="D9534F"/>
                </a:solidFill>
                <a:latin typeface="맑은 고딕"/>
                <a:ea typeface="맑은 고딕"/>
                <a:cs typeface="맑은 고딕"/>
              </a:rPr>
              <a:t>•  </a:t>
            </a:r>
            <a:r>
              <a:rPr sz="1200" b="0" i="0">
                <a:solidFill>
                  <a:srgbClr val="1F2937"/>
                </a:solidFill>
                <a:latin typeface="맑은 고딕"/>
                <a:ea typeface="맑은 고딕"/>
                <a:cs typeface="맑은 고딕"/>
              </a:rPr>
              <a:t>반응 점수로 뽑아도 같은 함정 — 임수빈은 자기 수혜성을 18점으로 매기지만 실제론 요건에 막힌 사각지대</a:t>
            </a:r>
          </a:p>
        </p:txBody>
      </p:sp>
      <p:sp>
        <p:nvSpPr>
          <p:cNvPr id="9" name="Rounded Rectangle 8"/>
          <p:cNvSpPr/>
          <p:nvPr/>
        </p:nvSpPr>
        <p:spPr>
          <a:xfrm>
            <a:off x="6245352" y="3246120"/>
            <a:ext cx="5394960" cy="265176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6473952" y="3429000"/>
            <a:ext cx="4937760" cy="2286000"/>
          </a:xfrm>
          <a:prstGeom prst="rect">
            <a:avLst/>
          </a:prstGeom>
          <a:noFill/>
        </p:spPr>
        <p:txBody>
          <a:bodyPr wrap="square" lIns="0" rIns="0" tIns="0" bIns="0">
            <a:spAutoFit/>
          </a:bodyPr>
          <a:lstStyle/>
          <a:p>
            <a:pPr algn="l">
              <a:lnSpc>
                <a:spcPct val="112000"/>
              </a:lnSpc>
              <a:spcBef>
                <a:spcPts val="0"/>
              </a:spcBef>
              <a:spcAft>
                <a:spcPts val="600"/>
              </a:spcAft>
            </a:pPr>
            <a:r>
              <a:rPr sz="1450" b="1" i="0">
                <a:solidFill>
                  <a:srgbClr val="2E9E6B"/>
                </a:solidFill>
                <a:latin typeface="맑은 고딕"/>
                <a:ea typeface="맑은 고딕"/>
                <a:cs typeface="맑은 고딕"/>
              </a:rPr>
              <a:t>After — 결과 기반 선별</a:t>
            </a:r>
          </a:p>
          <a:p>
            <a:pPr algn="l">
              <a:lnSpc>
                <a:spcPct val="118000"/>
              </a:lnSpc>
              <a:spcBef>
                <a:spcPts val="0"/>
              </a:spcBef>
              <a:spcAft>
                <a:spcPts val="500"/>
              </a:spcAft>
            </a:pPr>
            <a:r>
              <a:rPr sz="1200" b="1" i="0">
                <a:solidFill>
                  <a:srgbClr val="2E9E6B"/>
                </a:solidFill>
                <a:latin typeface="맑은 고딕"/>
                <a:ea typeface="맑은 고딕"/>
                <a:cs typeface="맑은 고딕"/>
              </a:rPr>
              <a:t>•  </a:t>
            </a:r>
            <a:r>
              <a:rPr sz="1200" b="1" i="0">
                <a:solidFill>
                  <a:srgbClr val="1F2937"/>
                </a:solidFill>
                <a:latin typeface="맑은 고딕"/>
                <a:ea typeface="맑은 고딕"/>
                <a:cs typeface="맑은 고딕"/>
              </a:rPr>
              <a:t>전원을 먼저 ‘살게’ 한 뒤</a:t>
            </a:r>
            <a:r>
              <a:rPr sz="1200" b="0" i="0">
                <a:solidFill>
                  <a:srgbClr val="1F2937"/>
                </a:solidFill>
                <a:latin typeface="맑은 고딕"/>
                <a:ea typeface="맑은 고딕"/>
                <a:cs typeface="맑은 고딕"/>
              </a:rPr>
              <a:t>, 실제 궤적의 결과에서 3명을 고른다</a:t>
            </a:r>
          </a:p>
          <a:p>
            <a:pPr algn="l">
              <a:lnSpc>
                <a:spcPct val="118000"/>
              </a:lnSpc>
              <a:spcBef>
                <a:spcPts val="0"/>
              </a:spcBef>
              <a:spcAft>
                <a:spcPts val="500"/>
              </a:spcAft>
            </a:pPr>
            <a:r>
              <a:rPr sz="1200" b="1" i="0">
                <a:solidFill>
                  <a:srgbClr val="2E9E6B"/>
                </a:solidFill>
                <a:latin typeface="맑은 고딕"/>
                <a:ea typeface="맑은 고딕"/>
                <a:cs typeface="맑은 고딕"/>
              </a:rPr>
              <a:t>•  </a:t>
            </a:r>
            <a:r>
              <a:rPr sz="1200" b="0" i="0">
                <a:solidFill>
                  <a:srgbClr val="1F2937"/>
                </a:solidFill>
                <a:latin typeface="맑은 고딕"/>
                <a:ea typeface="맑은 고딕"/>
                <a:cs typeface="맑은 고딕"/>
              </a:rPr>
              <a:t>라벨과 이야기가 같은 궤적에서 나옴 → 어긋날 수 없음</a:t>
            </a:r>
          </a:p>
          <a:p>
            <a:pPr algn="l">
              <a:lnSpc>
                <a:spcPct val="118000"/>
              </a:lnSpc>
              <a:spcBef>
                <a:spcPts val="0"/>
              </a:spcBef>
              <a:spcAft>
                <a:spcPts val="500"/>
              </a:spcAft>
            </a:pPr>
            <a:r>
              <a:rPr sz="1200" b="1" i="0">
                <a:solidFill>
                  <a:srgbClr val="2E9E6B"/>
                </a:solidFill>
                <a:latin typeface="맑은 고딕"/>
                <a:ea typeface="맑은 고딕"/>
                <a:cs typeface="맑은 고딕"/>
              </a:rPr>
              <a:t>•  </a:t>
            </a:r>
            <a:r>
              <a:rPr sz="1200" b="0" i="0">
                <a:solidFill>
                  <a:srgbClr val="1F2937"/>
                </a:solidFill>
                <a:latin typeface="맑은 고딕"/>
                <a:ea typeface="맑은 고딕"/>
                <a:cs typeface="맑은 고딕"/>
              </a:rPr>
              <a:t>심판은 하나. 전원 시뮬 비용도 확인 결과 OK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03 시행착오</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시행착오 ② — “전 국민 10억 지급” 버그</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11</a:t>
            </a:r>
          </a:p>
        </p:txBody>
      </p:sp>
      <p:sp>
        <p:nvSpPr>
          <p:cNvPr id="6" name="Rounded Rectangle 5"/>
          <p:cNvSpPr/>
          <p:nvPr/>
        </p:nvSpPr>
        <p:spPr>
          <a:xfrm>
            <a:off x="548640" y="1755648"/>
            <a:ext cx="1005840" cy="310896"/>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실험</a:t>
            </a:r>
          </a:p>
        </p:txBody>
      </p:sp>
      <p:sp>
        <p:nvSpPr>
          <p:cNvPr id="7" name="Rounded Rectangle 6"/>
          <p:cNvSpPr/>
          <p:nvPr/>
        </p:nvSpPr>
        <p:spPr>
          <a:xfrm>
            <a:off x="1737360" y="1645920"/>
            <a:ext cx="9902952" cy="566928"/>
          </a:xfrm>
          <a:prstGeom prst="roundRect">
            <a:avLst>
              <a:gd name="adj" fmla="val 8000"/>
            </a:avLst>
          </a:prstGeom>
          <a:solidFill>
            <a:srgbClr val="FCECEB"/>
          </a:solidFill>
          <a:ln w="9525">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1920240" y="1691640"/>
            <a:ext cx="9509760" cy="475488"/>
          </a:xfrm>
          <a:prstGeom prst="rect">
            <a:avLst/>
          </a:prstGeom>
          <a:noFill/>
        </p:spPr>
        <p:txBody>
          <a:bodyPr wrap="square" lIns="0" rIns="0" tIns="0" bIns="0" anchor="ctr">
            <a:spAutoFit/>
          </a:bodyPr>
          <a:lstStyle/>
          <a:p>
            <a:pPr algn="l">
              <a:lnSpc>
                <a:spcPct val="112000"/>
              </a:lnSpc>
              <a:spcBef>
                <a:spcPts val="0"/>
              </a:spcBef>
              <a:spcAft>
                <a:spcPts val="0"/>
              </a:spcAft>
            </a:pPr>
            <a:r>
              <a:rPr sz="1250" b="0" i="0">
                <a:solidFill>
                  <a:srgbClr val="1F2937"/>
                </a:solidFill>
                <a:latin typeface="맑은 고딕"/>
                <a:ea typeface="맑은 고딕"/>
                <a:cs typeface="맑은 고딕"/>
              </a:rPr>
              <a:t>극단 정책 “전 국민에게 10억 지급” 입력</a:t>
            </a:r>
          </a:p>
        </p:txBody>
      </p:sp>
      <p:sp>
        <p:nvSpPr>
          <p:cNvPr id="9" name="Rounded Rectangle 8"/>
          <p:cNvSpPr/>
          <p:nvPr/>
        </p:nvSpPr>
        <p:spPr>
          <a:xfrm>
            <a:off x="548640" y="2468880"/>
            <a:ext cx="1005840" cy="310896"/>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증상</a:t>
            </a:r>
          </a:p>
        </p:txBody>
      </p:sp>
      <p:sp>
        <p:nvSpPr>
          <p:cNvPr id="10" name="Rounded Rectangle 9"/>
          <p:cNvSpPr/>
          <p:nvPr/>
        </p:nvSpPr>
        <p:spPr>
          <a:xfrm>
            <a:off x="1737360" y="2359152"/>
            <a:ext cx="9902952" cy="566928"/>
          </a:xfrm>
          <a:prstGeom prst="roundRect">
            <a:avLst>
              <a:gd name="adj" fmla="val 8000"/>
            </a:avLst>
          </a:prstGeom>
          <a:solidFill>
            <a:srgbClr val="FCECEB"/>
          </a:solidFill>
          <a:ln w="9525">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1920240" y="2404872"/>
            <a:ext cx="9509760" cy="475488"/>
          </a:xfrm>
          <a:prstGeom prst="rect">
            <a:avLst/>
          </a:prstGeom>
          <a:noFill/>
        </p:spPr>
        <p:txBody>
          <a:bodyPr wrap="square" lIns="0" rIns="0" tIns="0" bIns="0" anchor="ctr">
            <a:spAutoFit/>
          </a:bodyPr>
          <a:lstStyle/>
          <a:p>
            <a:pPr algn="l">
              <a:lnSpc>
                <a:spcPct val="112000"/>
              </a:lnSpc>
              <a:spcBef>
                <a:spcPts val="0"/>
              </a:spcBef>
              <a:spcAft>
                <a:spcPts val="0"/>
              </a:spcAft>
            </a:pPr>
            <a:r>
              <a:rPr sz="1250" b="0" i="0">
                <a:solidFill>
                  <a:srgbClr val="1F2937"/>
                </a:solidFill>
                <a:latin typeface="맑은 고딕"/>
                <a:ea typeface="맑은 고딕"/>
                <a:cs typeface="맑은 고딕"/>
              </a:rPr>
              <a:t>전원 찬성 · 혼란도 21 — 시민이 ‘이해득실 계산기’처럼 내 혜택만 따짐</a:t>
            </a:r>
          </a:p>
        </p:txBody>
      </p:sp>
      <p:sp>
        <p:nvSpPr>
          <p:cNvPr id="12" name="Rounded Rectangle 11"/>
          <p:cNvSpPr/>
          <p:nvPr/>
        </p:nvSpPr>
        <p:spPr>
          <a:xfrm>
            <a:off x="548640" y="3182112"/>
            <a:ext cx="1005840" cy="310896"/>
          </a:xfrm>
          <a:prstGeom prst="roundRect">
            <a:avLst>
              <a:gd name="adj" fmla="val 50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처방</a:t>
            </a:r>
          </a:p>
        </p:txBody>
      </p:sp>
      <p:sp>
        <p:nvSpPr>
          <p:cNvPr id="13" name="Rounded Rectangle 12"/>
          <p:cNvSpPr/>
          <p:nvPr/>
        </p:nvSpPr>
        <p:spPr>
          <a:xfrm>
            <a:off x="1737360" y="3072384"/>
            <a:ext cx="9902952" cy="566928"/>
          </a:xfrm>
          <a:prstGeom prst="roundRect">
            <a:avLst>
              <a:gd name="adj" fmla="val 8000"/>
            </a:avLst>
          </a:prstGeom>
          <a:solidFill>
            <a:srgbClr val="EAF0F8"/>
          </a:solidFill>
          <a:ln w="9525">
            <a:solidFill>
              <a:srgbClr val="2D6C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4" name="TextBox 13"/>
          <p:cNvSpPr txBox="1"/>
          <p:nvPr/>
        </p:nvSpPr>
        <p:spPr>
          <a:xfrm>
            <a:off x="1920240" y="3118104"/>
            <a:ext cx="9509760" cy="475488"/>
          </a:xfrm>
          <a:prstGeom prst="rect">
            <a:avLst/>
          </a:prstGeom>
          <a:noFill/>
        </p:spPr>
        <p:txBody>
          <a:bodyPr wrap="square" lIns="0" rIns="0" tIns="0" bIns="0" anchor="ctr">
            <a:spAutoFit/>
          </a:bodyPr>
          <a:lstStyle/>
          <a:p>
            <a:pPr algn="l">
              <a:lnSpc>
                <a:spcPct val="112000"/>
              </a:lnSpc>
              <a:spcBef>
                <a:spcPts val="0"/>
              </a:spcBef>
              <a:spcAft>
                <a:spcPts val="0"/>
              </a:spcAft>
            </a:pPr>
            <a:r>
              <a:rPr sz="1250" b="0" i="0">
                <a:solidFill>
                  <a:srgbClr val="1F2937"/>
                </a:solidFill>
                <a:latin typeface="맑은 고딕"/>
                <a:ea typeface="맑은 고딕"/>
                <a:cs typeface="맑은 고딕"/>
              </a:rPr>
              <a:t>프롬프트 최상단에 “현실적으로 판단하라” — 재원·물가·증세·형평성·과대공약 의심 (+ 합리적 정책엔 냉소 금지)</a:t>
            </a:r>
          </a:p>
        </p:txBody>
      </p:sp>
      <p:sp>
        <p:nvSpPr>
          <p:cNvPr id="15" name="Rounded Rectangle 14"/>
          <p:cNvSpPr/>
          <p:nvPr/>
        </p:nvSpPr>
        <p:spPr>
          <a:xfrm>
            <a:off x="548640" y="3895344"/>
            <a:ext cx="1005840" cy="310896"/>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결과</a:t>
            </a:r>
          </a:p>
        </p:txBody>
      </p:sp>
      <p:sp>
        <p:nvSpPr>
          <p:cNvPr id="16" name="Rounded Rectangle 15"/>
          <p:cNvSpPr/>
          <p:nvPr/>
        </p:nvSpPr>
        <p:spPr>
          <a:xfrm>
            <a:off x="1737360" y="3785616"/>
            <a:ext cx="9902952" cy="566928"/>
          </a:xfrm>
          <a:prstGeom prst="roundRect">
            <a:avLst>
              <a:gd name="adj" fmla="val 8000"/>
            </a:avLst>
          </a:prstGeom>
          <a:solidFill>
            <a:srgbClr val="EAF6F0"/>
          </a:solidFill>
          <a:ln w="9525">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7" name="TextBox 16"/>
          <p:cNvSpPr txBox="1"/>
          <p:nvPr/>
        </p:nvSpPr>
        <p:spPr>
          <a:xfrm>
            <a:off x="1920240" y="3831336"/>
            <a:ext cx="9509760" cy="475488"/>
          </a:xfrm>
          <a:prstGeom prst="rect">
            <a:avLst/>
          </a:prstGeom>
          <a:noFill/>
        </p:spPr>
        <p:txBody>
          <a:bodyPr wrap="square" lIns="0" rIns="0" tIns="0" bIns="0" anchor="ctr">
            <a:spAutoFit/>
          </a:bodyPr>
          <a:lstStyle/>
          <a:p>
            <a:pPr algn="l">
              <a:lnSpc>
                <a:spcPct val="112000"/>
              </a:lnSpc>
              <a:spcBef>
                <a:spcPts val="0"/>
              </a:spcBef>
              <a:spcAft>
                <a:spcPts val="0"/>
              </a:spcAft>
            </a:pPr>
            <a:r>
              <a:rPr sz="1250" b="0" i="0">
                <a:solidFill>
                  <a:srgbClr val="1F2937"/>
                </a:solidFill>
                <a:latin typeface="맑은 고딕"/>
                <a:ea typeface="맑은 고딕"/>
                <a:cs typeface="맑은 고딕"/>
              </a:rPr>
              <a:t>10억 지급 → 전원 반대로 전환. 현실성 판단 작동 확인</a:t>
            </a:r>
          </a:p>
        </p:txBody>
      </p:sp>
      <p:sp>
        <p:nvSpPr>
          <p:cNvPr id="18" name="Rounded Rectangle 17"/>
          <p:cNvSpPr/>
          <p:nvPr/>
        </p:nvSpPr>
        <p:spPr>
          <a:xfrm>
            <a:off x="548640" y="4572000"/>
            <a:ext cx="11091672" cy="155448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9" name="TextBox 18"/>
          <p:cNvSpPr txBox="1"/>
          <p:nvPr/>
        </p:nvSpPr>
        <p:spPr>
          <a:xfrm>
            <a:off x="868680" y="4754880"/>
            <a:ext cx="10515600" cy="1234440"/>
          </a:xfrm>
          <a:prstGeom prst="rect">
            <a:avLst/>
          </a:prstGeom>
          <a:noFill/>
        </p:spPr>
        <p:txBody>
          <a:bodyPr wrap="square" lIns="0" rIns="0" tIns="0" bIns="0">
            <a:spAutoFit/>
          </a:bodyPr>
          <a:lstStyle/>
          <a:p>
            <a:pPr algn="l">
              <a:lnSpc>
                <a:spcPct val="112000"/>
              </a:lnSpc>
              <a:spcBef>
                <a:spcPts val="0"/>
              </a:spcBef>
              <a:spcAft>
                <a:spcPts val="500"/>
              </a:spcAft>
            </a:pPr>
            <a:r>
              <a:rPr sz="1450" b="1" i="0">
                <a:solidFill>
                  <a:srgbClr val="E8902A"/>
                </a:solidFill>
                <a:latin typeface="맑은 고딕"/>
                <a:ea typeface="맑은 고딕"/>
                <a:cs typeface="맑은 고딕"/>
              </a:rPr>
              <a:t>정직한 노트 — 과교정</a:t>
            </a:r>
          </a:p>
          <a:p>
            <a:pPr algn="l">
              <a:lnSpc>
                <a:spcPct val="125000"/>
              </a:lnSpc>
              <a:spcBef>
                <a:spcPts val="0"/>
              </a:spcBef>
              <a:spcAft>
                <a:spcPts val="300"/>
              </a:spcAft>
            </a:pPr>
            <a:r>
              <a:rPr sz="1300" b="0" i="0">
                <a:solidFill>
                  <a:srgbClr val="1F2937"/>
                </a:solidFill>
                <a:latin typeface="맑은 고딕"/>
                <a:ea typeface="맑은 고딕"/>
                <a:cs typeface="맑은 고딕"/>
              </a:rPr>
              <a:t>현실성 원칙을 넣자 정상 정책(청년 월세)의 혼란도까지 다소 올랐다. 모든 정책에 기본 우려가 깔리는 ‘과교정’ 신호.</a:t>
            </a:r>
          </a:p>
          <a:p>
            <a:pPr algn="l">
              <a:lnSpc>
                <a:spcPct val="112000"/>
              </a:lnSpc>
              <a:spcBef>
                <a:spcPts val="0"/>
              </a:spcBef>
              <a:spcAft>
                <a:spcPts val="0"/>
              </a:spcAft>
            </a:pPr>
            <a:r>
              <a:rPr sz="1300" b="0" i="0">
                <a:solidFill>
                  <a:srgbClr val="1F2937"/>
                </a:solidFill>
                <a:latin typeface="맑은 고딕"/>
                <a:ea typeface="맑은 고딕"/>
                <a:cs typeface="맑은 고딕"/>
              </a:rPr>
              <a:t>→ ‘우려를 정책이 무리한 정도에 비례시키는’ 미세 튜닝은 </a:t>
            </a:r>
            <a:r>
              <a:rPr sz="1300" b="1" i="0">
                <a:solidFill>
                  <a:srgbClr val="1F2937"/>
                </a:solidFill>
                <a:latin typeface="맑은 고딕"/>
                <a:ea typeface="맑은 고딕"/>
                <a:cs typeface="맑은 고딕"/>
              </a:rPr>
              <a:t>남은 과제로 기록</a:t>
            </a:r>
            <a:r>
              <a:rPr sz="1300" b="0" i="0">
                <a:solidFill>
                  <a:srgbClr val="6B7280"/>
                </a:solidFill>
                <a:latin typeface="맑은 고딕"/>
                <a:ea typeface="맑은 고딕"/>
                <a:cs typeface="맑은 고딕"/>
              </a:rPr>
              <a:t> — 시행착오를 숨기지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E890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03 시행착오</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시행착오 ③ — 판단은 LLM에게, 불변식은 코드로</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12</a:t>
            </a:r>
          </a:p>
        </p:txBody>
      </p:sp>
      <p:sp>
        <p:nvSpPr>
          <p:cNvPr id="6" name="Rounded Rectangle 5"/>
          <p:cNvSpPr/>
          <p:nvPr/>
        </p:nvSpPr>
        <p:spPr>
          <a:xfrm>
            <a:off x="548640" y="1600200"/>
            <a:ext cx="11091672" cy="77724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868680" y="1737360"/>
            <a:ext cx="10515600" cy="548640"/>
          </a:xfrm>
          <a:prstGeom prst="rect">
            <a:avLst/>
          </a:prstGeom>
          <a:noFill/>
        </p:spPr>
        <p:txBody>
          <a:bodyPr wrap="square" lIns="0" rIns="0" tIns="0" bIns="0" anchor="ctr">
            <a:spAutoFit/>
          </a:bodyPr>
          <a:lstStyle/>
          <a:p>
            <a:pPr algn="ctr">
              <a:lnSpc>
                <a:spcPct val="112000"/>
              </a:lnSpc>
              <a:spcBef>
                <a:spcPts val="0"/>
              </a:spcBef>
              <a:spcAft>
                <a:spcPts val="0"/>
              </a:spcAft>
            </a:pPr>
            <a:r>
              <a:rPr sz="1500" b="0" i="0">
                <a:solidFill>
                  <a:srgbClr val="1F2937"/>
                </a:solidFill>
                <a:latin typeface="맑은 고딕"/>
                <a:ea typeface="맑은 고딕"/>
                <a:cs typeface="맑은 고딕"/>
              </a:rPr>
              <a:t>LLM은 확률적이다 — 서사와 판단은 LLM이, </a:t>
            </a:r>
            <a:r>
              <a:rPr sz="1500" b="1" i="0">
                <a:solidFill>
                  <a:srgbClr val="1F3A5F"/>
                </a:solidFill>
                <a:latin typeface="맑은 고딕"/>
                <a:ea typeface="맑은 고딕"/>
                <a:cs typeface="맑은 고딕"/>
              </a:rPr>
              <a:t>어겨선 안 되는 규칙은 코드 가드가 보증한다</a:t>
            </a:r>
          </a:p>
        </p:txBody>
      </p:sp>
      <p:sp>
        <p:nvSpPr>
          <p:cNvPr id="8" name="Rounded Rectangle 7"/>
          <p:cNvSpPr/>
          <p:nvPr/>
        </p:nvSpPr>
        <p:spPr>
          <a:xfrm>
            <a:off x="548640" y="2606040"/>
            <a:ext cx="3593592" cy="342900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731520" y="2788920"/>
            <a:ext cx="3246120" cy="3108960"/>
          </a:xfrm>
          <a:prstGeom prst="rect">
            <a:avLst/>
          </a:prstGeom>
          <a:noFill/>
        </p:spPr>
        <p:txBody>
          <a:bodyPr wrap="square" lIns="0" rIns="0" tIns="0" bIns="0">
            <a:spAutoFit/>
          </a:bodyPr>
          <a:lstStyle/>
          <a:p>
            <a:pPr algn="l">
              <a:lnSpc>
                <a:spcPct val="112000"/>
              </a:lnSpc>
              <a:spcBef>
                <a:spcPts val="0"/>
              </a:spcBef>
              <a:spcAft>
                <a:spcPts val="700"/>
              </a:spcAft>
            </a:pPr>
            <a:r>
              <a:rPr sz="1400" b="1" i="0">
                <a:solidFill>
                  <a:srgbClr val="2E9E6B"/>
                </a:solidFill>
                <a:latin typeface="맑은 고딕"/>
                <a:ea typeface="맑은 고딕"/>
                <a:cs typeface="맑은 고딕"/>
              </a:rPr>
              <a:t>상태 비퇴행 가드</a:t>
            </a:r>
          </a:p>
          <a:p>
            <a:pPr algn="l">
              <a:lnSpc>
                <a:spcPct val="122000"/>
              </a:lnSpc>
              <a:spcBef>
                <a:spcPts val="0"/>
              </a:spcBef>
              <a:spcAft>
                <a:spcPts val="700"/>
              </a:spcAft>
            </a:pPr>
            <a:r>
              <a:rPr sz="1080" b="0" i="0">
                <a:solidFill>
                  <a:srgbClr val="1F2937"/>
                </a:solidFill>
                <a:latin typeface="맑은 고딕"/>
                <a:ea typeface="맑은 고딕"/>
                <a:cs typeface="맑은 고딕"/>
              </a:rPr>
              <a:t>버그: ‘신청 → 모름’으로 궤적이 퇴행 (서류에 막혀 포기한 걸 LLM이 ‘몰랐다’로 오기)</a:t>
            </a:r>
          </a:p>
          <a:p>
            <a:pPr algn="l">
              <a:lnSpc>
                <a:spcPct val="122000"/>
              </a:lnSpc>
              <a:spcBef>
                <a:spcPts val="0"/>
              </a:spcBef>
              <a:spcAft>
                <a:spcPts val="700"/>
              </a:spcAft>
            </a:pPr>
            <a:r>
              <a:rPr sz="1080" b="0" i="0">
                <a:solidFill>
                  <a:srgbClr val="1F2937"/>
                </a:solidFill>
                <a:latin typeface="맑은 고딕"/>
                <a:ea typeface="맑은 고딕"/>
                <a:cs typeface="맑은 고딕"/>
              </a:rPr>
              <a:t>가드: 상태는 되돌아가지 않는다 — applied→unaware면 ‘막힘’으로 자동 교정</a:t>
            </a:r>
          </a:p>
          <a:p>
            <a:pPr algn="l">
              <a:lnSpc>
                <a:spcPct val="122000"/>
              </a:lnSpc>
              <a:spcBef>
                <a:spcPts val="0"/>
              </a:spcBef>
              <a:spcAft>
                <a:spcPts val="700"/>
              </a:spcAft>
            </a:pPr>
            <a:r>
              <a:rPr sz="1080" b="0" i="0">
                <a:solidFill>
                  <a:srgbClr val="1F2937"/>
                </a:solidFill>
                <a:latin typeface="맑은 고딕"/>
                <a:ea typeface="맑은 고딕"/>
                <a:cs typeface="맑은 고딕"/>
              </a:rPr>
              <a:t>결과: 조유정이 “자격은 되는데 서류에 막힘” 최고의 사각 사례가 됨</a:t>
            </a:r>
          </a:p>
        </p:txBody>
      </p:sp>
      <p:sp>
        <p:nvSpPr>
          <p:cNvPr id="10" name="Rounded Rectangle 9"/>
          <p:cNvSpPr/>
          <p:nvPr/>
        </p:nvSpPr>
        <p:spPr>
          <a:xfrm>
            <a:off x="4297679" y="2606040"/>
            <a:ext cx="3593592" cy="342900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4480559" y="2788920"/>
            <a:ext cx="3246120" cy="3108960"/>
          </a:xfrm>
          <a:prstGeom prst="rect">
            <a:avLst/>
          </a:prstGeom>
          <a:noFill/>
        </p:spPr>
        <p:txBody>
          <a:bodyPr wrap="square" lIns="0" rIns="0" tIns="0" bIns="0">
            <a:spAutoFit/>
          </a:bodyPr>
          <a:lstStyle/>
          <a:p>
            <a:pPr algn="l">
              <a:lnSpc>
                <a:spcPct val="112000"/>
              </a:lnSpc>
              <a:spcBef>
                <a:spcPts val="0"/>
              </a:spcBef>
              <a:spcAft>
                <a:spcPts val="700"/>
              </a:spcAft>
            </a:pPr>
            <a:r>
              <a:rPr sz="1400" b="1" i="0">
                <a:solidFill>
                  <a:srgbClr val="E8902A"/>
                </a:solidFill>
                <a:latin typeface="맑은 고딕"/>
                <a:ea typeface="맑은 고딕"/>
                <a:cs typeface="맑은 고딕"/>
              </a:rPr>
              <a:t>태그 대상 게이트</a:t>
            </a:r>
          </a:p>
          <a:p>
            <a:pPr algn="l">
              <a:lnSpc>
                <a:spcPct val="122000"/>
              </a:lnSpc>
              <a:spcBef>
                <a:spcPts val="0"/>
              </a:spcBef>
              <a:spcAft>
                <a:spcPts val="700"/>
              </a:spcAft>
            </a:pPr>
            <a:r>
              <a:rPr sz="1080" b="0" i="0">
                <a:solidFill>
                  <a:srgbClr val="1F2937"/>
                </a:solidFill>
                <a:latin typeface="맑은 고딕"/>
                <a:ea typeface="맑은 고딕"/>
                <a:cs typeface="맑은 고딕"/>
              </a:rPr>
              <a:t>버그: 46세 박성인이 ‘청년’ 정책의 사각지대로 오라벨</a:t>
            </a:r>
          </a:p>
          <a:p>
            <a:pPr algn="l">
              <a:lnSpc>
                <a:spcPct val="122000"/>
              </a:lnSpc>
              <a:spcBef>
                <a:spcPts val="0"/>
              </a:spcBef>
              <a:spcAft>
                <a:spcPts val="700"/>
              </a:spcAft>
            </a:pPr>
            <a:r>
              <a:rPr sz="1080" b="0" i="0">
                <a:solidFill>
                  <a:srgbClr val="1F2937"/>
                </a:solidFill>
                <a:latin typeface="맑은 고딕"/>
                <a:ea typeface="맑은 고딕"/>
                <a:cs typeface="맑은 고딕"/>
              </a:rPr>
              <a:t>가드: 대상 여부 = 태그(나이·소득·가구)로 판정하는 ‘사실’, 결과 = LLM 궤적 — 둘을 분리</a:t>
            </a:r>
          </a:p>
          <a:p>
            <a:pPr algn="l">
              <a:lnSpc>
                <a:spcPct val="122000"/>
              </a:lnSpc>
              <a:spcBef>
                <a:spcPts val="0"/>
              </a:spcBef>
              <a:spcAft>
                <a:spcPts val="700"/>
              </a:spcAft>
            </a:pPr>
            <a:r>
              <a:rPr sz="1080" b="0" i="0">
                <a:solidFill>
                  <a:srgbClr val="1F2937"/>
                </a:solidFill>
                <a:latin typeface="맑은 고딕"/>
                <a:ea typeface="맑은 고딕"/>
                <a:cs typeface="맑은 고딕"/>
              </a:rPr>
              <a:t>결과: 비대상자는 ‘무관’으로 정직하게 분류</a:t>
            </a:r>
          </a:p>
        </p:txBody>
      </p:sp>
      <p:sp>
        <p:nvSpPr>
          <p:cNvPr id="12" name="Rounded Rectangle 11"/>
          <p:cNvSpPr/>
          <p:nvPr/>
        </p:nvSpPr>
        <p:spPr>
          <a:xfrm>
            <a:off x="8046719" y="2606040"/>
            <a:ext cx="3593592" cy="342900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8229599" y="2788920"/>
            <a:ext cx="3246120" cy="3108960"/>
          </a:xfrm>
          <a:prstGeom prst="rect">
            <a:avLst/>
          </a:prstGeom>
          <a:noFill/>
        </p:spPr>
        <p:txBody>
          <a:bodyPr wrap="square" lIns="0" rIns="0" tIns="0" bIns="0">
            <a:spAutoFit/>
          </a:bodyPr>
          <a:lstStyle/>
          <a:p>
            <a:pPr algn="l">
              <a:lnSpc>
                <a:spcPct val="112000"/>
              </a:lnSpc>
              <a:spcBef>
                <a:spcPts val="0"/>
              </a:spcBef>
              <a:spcAft>
                <a:spcPts val="700"/>
              </a:spcAft>
            </a:pPr>
            <a:r>
              <a:rPr sz="1400" b="1" i="0">
                <a:solidFill>
                  <a:srgbClr val="D9534F"/>
                </a:solidFill>
                <a:latin typeface="맑은 고딕"/>
                <a:ea typeface="맑은 고딕"/>
                <a:cs typeface="맑은 고딕"/>
              </a:rPr>
              <a:t>전파 게이트</a:t>
            </a:r>
          </a:p>
          <a:p>
            <a:pPr algn="l">
              <a:lnSpc>
                <a:spcPct val="122000"/>
              </a:lnSpc>
              <a:spcBef>
                <a:spcPts val="0"/>
              </a:spcBef>
              <a:spcAft>
                <a:spcPts val="700"/>
              </a:spcAft>
            </a:pPr>
            <a:r>
              <a:rPr sz="1080" b="0" i="0">
                <a:solidFill>
                  <a:srgbClr val="1F2937"/>
                </a:solidFill>
                <a:latin typeface="맑은 고딕"/>
                <a:ea typeface="맑은 고딕"/>
                <a:cs typeface="맑은 고딕"/>
              </a:rPr>
              <a:t>무대: 잠시 후 소개할 ‘미리마을’ — 정책 소식이 사람을 타고 퍼지는 시뮬</a:t>
            </a:r>
          </a:p>
          <a:p>
            <a:pPr algn="l">
              <a:lnSpc>
                <a:spcPct val="122000"/>
              </a:lnSpc>
              <a:spcBef>
                <a:spcPts val="0"/>
              </a:spcBef>
              <a:spcAft>
                <a:spcPts val="700"/>
              </a:spcAft>
            </a:pPr>
            <a:r>
              <a:rPr sz="1080" b="0" i="0">
                <a:solidFill>
                  <a:srgbClr val="1F2937"/>
                </a:solidFill>
                <a:latin typeface="맑은 고딕"/>
                <a:ea typeface="맑은 고딕"/>
                <a:cs typeface="맑은 고딕"/>
              </a:rPr>
              <a:t>위험: LLM이 근거 없이 ‘어느새 다 알게 됨’으로 부풀릴 수 있음</a:t>
            </a:r>
          </a:p>
          <a:p>
            <a:pPr algn="l">
              <a:lnSpc>
                <a:spcPct val="122000"/>
              </a:lnSpc>
              <a:spcBef>
                <a:spcPts val="0"/>
              </a:spcBef>
              <a:spcAft>
                <a:spcPts val="700"/>
              </a:spcAft>
            </a:pPr>
            <a:r>
              <a:rPr sz="1080" b="0" i="0">
                <a:solidFill>
                  <a:srgbClr val="1F2937"/>
                </a:solidFill>
                <a:latin typeface="맑은 고딕"/>
                <a:ea typeface="맑은 고딕"/>
                <a:cs typeface="맑은 고딕"/>
              </a:rPr>
              <a:t>가드: 모르던 사람은 ‘아는 사람과 만났을 때만’ 새로 안다 — 코드가 강제</a:t>
            </a:r>
          </a:p>
          <a:p>
            <a:pPr algn="l">
              <a:lnSpc>
                <a:spcPct val="122000"/>
              </a:lnSpc>
              <a:spcBef>
                <a:spcPts val="0"/>
              </a:spcBef>
              <a:spcAft>
                <a:spcPts val="700"/>
              </a:spcAft>
            </a:pPr>
            <a:r>
              <a:rPr sz="1080" b="0" i="0">
                <a:solidFill>
                  <a:srgbClr val="1F2937"/>
                </a:solidFill>
                <a:latin typeface="맑은 고딕"/>
                <a:ea typeface="맑은 고딕"/>
                <a:cs typeface="맑은 고딕"/>
              </a:rPr>
              <a:t>결과: 전파 경로 추적이 신뢰 가능해짐 (인지 누수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04 검증</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신뢰성 ① — ablation: 반응은 페르소나에서 나오는가</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13</a:t>
            </a:r>
          </a:p>
        </p:txBody>
      </p:sp>
      <p:sp>
        <p:nvSpPr>
          <p:cNvPr id="6" name="TextBox 5"/>
          <p:cNvSpPr txBox="1"/>
          <p:nvPr/>
        </p:nvSpPr>
        <p:spPr>
          <a:xfrm>
            <a:off x="548640" y="1554480"/>
            <a:ext cx="5760720" cy="2194560"/>
          </a:xfrm>
          <a:prstGeom prst="rect">
            <a:avLst/>
          </a:prstGeom>
          <a:noFill/>
        </p:spPr>
        <p:txBody>
          <a:bodyPr wrap="square" lIns="0" rIns="0" tIns="0" bIns="0">
            <a:spAutoFit/>
          </a:bodyPr>
          <a:lstStyle/>
          <a:p>
            <a:pPr algn="l">
              <a:lnSpc>
                <a:spcPct val="112000"/>
              </a:lnSpc>
              <a:spcBef>
                <a:spcPts val="0"/>
              </a:spcBef>
              <a:spcAft>
                <a:spcPts val="500"/>
              </a:spcAft>
            </a:pPr>
            <a:r>
              <a:rPr sz="1400" b="1" i="0">
                <a:solidFill>
                  <a:srgbClr val="1F3A5F"/>
                </a:solidFill>
                <a:latin typeface="맑은 고딕"/>
                <a:ea typeface="맑은 고딕"/>
                <a:cs typeface="맑은 고딕"/>
              </a:rPr>
              <a:t>방법 (Park et al. 스타일 컴포넌트 ablation)</a:t>
            </a:r>
          </a:p>
          <a:p>
            <a:pPr algn="l">
              <a:lnSpc>
                <a:spcPct val="112000"/>
              </a:lnSpc>
              <a:spcBef>
                <a:spcPts val="0"/>
              </a:spcBef>
              <a:spcAft>
                <a:spcPts val="800"/>
              </a:spcAft>
            </a:pPr>
            <a:r>
              <a:rPr sz="1250" b="1" i="0">
                <a:solidFill>
                  <a:srgbClr val="2E9E6B"/>
                </a:solidFill>
                <a:latin typeface="맑은 고딕"/>
                <a:ea typeface="맑은 고딕"/>
                <a:cs typeface="맑은 고딕"/>
              </a:rPr>
              <a:t>grounding ON</a:t>
            </a:r>
            <a:r>
              <a:rPr sz="1250" b="0" i="0">
                <a:solidFill>
                  <a:srgbClr val="1F2937"/>
                </a:solidFill>
                <a:latin typeface="맑은 고딕"/>
                <a:ea typeface="맑은 고딕"/>
                <a:cs typeface="맑은 고딕"/>
              </a:rPr>
              <a:t> = 페르소나(나이·소득·디지털·신뢰) 주입   vs   </a:t>
            </a:r>
            <a:r>
              <a:rPr sz="1250" b="1" i="0">
                <a:solidFill>
                  <a:srgbClr val="D9534F"/>
                </a:solidFill>
                <a:latin typeface="맑은 고딕"/>
                <a:ea typeface="맑은 고딕"/>
                <a:cs typeface="맑은 고딕"/>
              </a:rPr>
              <a:t>OFF</a:t>
            </a:r>
            <a:r>
              <a:rPr sz="1250" b="0" i="0">
                <a:solidFill>
                  <a:srgbClr val="1F2937"/>
                </a:solidFill>
                <a:latin typeface="맑은 고딕"/>
                <a:ea typeface="맑은 고딕"/>
                <a:cs typeface="맑은 고딕"/>
              </a:rPr>
              <a:t> = 익명 시민</a:t>
            </a:r>
          </a:p>
          <a:p>
            <a:pPr algn="l">
              <a:lnSpc>
                <a:spcPct val="118000"/>
              </a:lnSpc>
              <a:spcBef>
                <a:spcPts val="0"/>
              </a:spcBef>
              <a:spcAft>
                <a:spcPts val="600"/>
              </a:spcAft>
            </a:pPr>
            <a:r>
              <a:rPr sz="1250" b="1" i="0">
                <a:solidFill>
                  <a:srgbClr val="2D6CDF"/>
                </a:solidFill>
                <a:latin typeface="맑은 고딕"/>
                <a:ea typeface="맑은 고딕"/>
                <a:cs typeface="맑은 고딕"/>
              </a:rPr>
              <a:t>•  </a:t>
            </a:r>
            <a:r>
              <a:rPr sz="1250" b="1" i="0">
                <a:solidFill>
                  <a:srgbClr val="1F2937"/>
                </a:solidFill>
                <a:latin typeface="맑은 고딕"/>
                <a:ea typeface="맑은 고딕"/>
                <a:cs typeface="맑은 고딕"/>
              </a:rPr>
              <a:t>인물 간 점수 표준편차 21 → 9로 붕괴</a:t>
            </a:r>
            <a:r>
              <a:rPr sz="1250" b="0" i="0">
                <a:solidFill>
                  <a:srgbClr val="6B7280"/>
                </a:solidFill>
                <a:latin typeface="맑은 고딕"/>
                <a:ea typeface="맑은 고딕"/>
                <a:cs typeface="맑은 고딕"/>
              </a:rPr>
              <a:t>  (OFF면 시민들이 비슷하게 뭉개짐)</a:t>
            </a:r>
          </a:p>
          <a:p>
            <a:pPr algn="l">
              <a:lnSpc>
                <a:spcPct val="118000"/>
              </a:lnSpc>
              <a:spcBef>
                <a:spcPts val="0"/>
              </a:spcBef>
              <a:spcAft>
                <a:spcPts val="600"/>
              </a:spcAft>
            </a:pPr>
            <a:r>
              <a:rPr sz="1250" b="1" i="0">
                <a:solidFill>
                  <a:srgbClr val="2D6CDF"/>
                </a:solidFill>
                <a:latin typeface="맑은 고딕"/>
                <a:ea typeface="맑은 고딕"/>
                <a:cs typeface="맑은 고딕"/>
              </a:rPr>
              <a:t>•  </a:t>
            </a:r>
            <a:r>
              <a:rPr sz="1250" b="1" i="0">
                <a:solidFill>
                  <a:srgbClr val="1F2937"/>
                </a:solidFill>
                <a:latin typeface="맑은 고딕"/>
                <a:ea typeface="맑은 고딕"/>
                <a:cs typeface="맑은 고딕"/>
              </a:rPr>
              <a:t>collapse score +0.25~0.29</a:t>
            </a:r>
            <a:r>
              <a:rPr sz="1250" b="0" i="0">
                <a:solidFill>
                  <a:srgbClr val="6B7280"/>
                </a:solidFill>
                <a:latin typeface="맑은 고딕"/>
                <a:ea typeface="맑은 고딕"/>
                <a:cs typeface="맑은 고딕"/>
              </a:rPr>
              <a:t>  — 반복 실행마다 일관되게 양수</a:t>
            </a:r>
          </a:p>
          <a:p>
            <a:pPr algn="l">
              <a:lnSpc>
                <a:spcPct val="118000"/>
              </a:lnSpc>
              <a:spcBef>
                <a:spcPts val="0"/>
              </a:spcBef>
              <a:spcAft>
                <a:spcPts val="600"/>
              </a:spcAft>
            </a:pPr>
            <a:r>
              <a:rPr sz="1250" b="1" i="0">
                <a:solidFill>
                  <a:srgbClr val="2D6CDF"/>
                </a:solidFill>
                <a:latin typeface="맑은 고딕"/>
                <a:ea typeface="맑은 고딕"/>
                <a:cs typeface="맑은 고딕"/>
              </a:rPr>
              <a:t>•  </a:t>
            </a:r>
            <a:r>
              <a:rPr sz="1250" b="1" i="0">
                <a:solidFill>
                  <a:srgbClr val="1F2937"/>
                </a:solidFill>
                <a:latin typeface="맑은 고딕"/>
                <a:ea typeface="맑은 고딕"/>
                <a:cs typeface="맑은 고딕"/>
              </a:rPr>
              <a:t>수렴 타당도: digital_literacy ↔ 이해도  r = 0.6~0.8</a:t>
            </a:r>
            <a:r>
              <a:rPr sz="1250" b="0" i="0">
                <a:solidFill>
                  <a:srgbClr val="6B7280"/>
                </a:solidFill>
                <a:latin typeface="맑은 고딕"/>
                <a:ea typeface="맑은 고딕"/>
                <a:cs typeface="맑은 고딕"/>
              </a:rPr>
              <a:t>  (OFF면 r은 0 부근)</a:t>
            </a:r>
          </a:p>
        </p:txBody>
      </p:sp>
      <p:sp>
        <p:nvSpPr>
          <p:cNvPr id="7" name="Rounded Rectangle 6"/>
          <p:cNvSpPr/>
          <p:nvPr/>
        </p:nvSpPr>
        <p:spPr>
          <a:xfrm>
            <a:off x="6492240" y="1554480"/>
            <a:ext cx="5148072" cy="219456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6720840" y="1719072"/>
            <a:ext cx="4709160" cy="1920240"/>
          </a:xfrm>
          <a:prstGeom prst="rect">
            <a:avLst/>
          </a:prstGeom>
          <a:noFill/>
        </p:spPr>
        <p:txBody>
          <a:bodyPr wrap="square" lIns="0" rIns="0" tIns="0" bIns="0">
            <a:spAutoFit/>
          </a:bodyPr>
          <a:lstStyle/>
          <a:p>
            <a:pPr algn="l">
              <a:lnSpc>
                <a:spcPct val="112000"/>
              </a:lnSpc>
              <a:spcBef>
                <a:spcPts val="0"/>
              </a:spcBef>
              <a:spcAft>
                <a:spcPts val="600"/>
              </a:spcAft>
            </a:pPr>
            <a:r>
              <a:rPr sz="1300" b="1" i="0">
                <a:solidFill>
                  <a:srgbClr val="1F3A5F"/>
                </a:solidFill>
                <a:latin typeface="맑은 고딕"/>
                <a:ea typeface="맑은 고딕"/>
                <a:cs typeface="맑은 고딕"/>
              </a:rPr>
              <a:t>숫자를 사람 말로 — 신선옥 (60세, 무직)</a:t>
            </a:r>
          </a:p>
          <a:p>
            <a:pPr algn="l">
              <a:lnSpc>
                <a:spcPct val="112000"/>
              </a:lnSpc>
              <a:spcBef>
                <a:spcPts val="0"/>
              </a:spcBef>
              <a:spcAft>
                <a:spcPts val="400"/>
              </a:spcAft>
            </a:pPr>
            <a:r>
              <a:rPr sz="1250" b="1" i="0">
                <a:solidFill>
                  <a:srgbClr val="2E9E6B"/>
                </a:solidFill>
                <a:latin typeface="맑은 고딕"/>
                <a:ea typeface="맑은 고딕"/>
                <a:cs typeface="맑은 고딕"/>
              </a:rPr>
              <a:t>ON   </a:t>
            </a:r>
            <a:r>
              <a:rPr sz="1250" b="0" i="0">
                <a:solidFill>
                  <a:srgbClr val="1F2937"/>
                </a:solidFill>
                <a:latin typeface="맑은 고딕"/>
                <a:ea typeface="맑은 고딕"/>
                <a:cs typeface="맑은 고딕"/>
              </a:rPr>
              <a:t>“나에게는 해당이 없다” — 반대 · 수혜 0</a:t>
            </a:r>
          </a:p>
          <a:p>
            <a:pPr algn="l">
              <a:lnSpc>
                <a:spcPct val="112000"/>
              </a:lnSpc>
              <a:spcBef>
                <a:spcPts val="0"/>
              </a:spcBef>
              <a:spcAft>
                <a:spcPts val="800"/>
              </a:spcAft>
            </a:pPr>
            <a:r>
              <a:rPr sz="1250" b="1" i="0">
                <a:solidFill>
                  <a:srgbClr val="D9534F"/>
                </a:solidFill>
                <a:latin typeface="맑은 고딕"/>
                <a:ea typeface="맑은 고딕"/>
                <a:cs typeface="맑은 고딕"/>
              </a:rPr>
              <a:t>OFF  </a:t>
            </a:r>
            <a:r>
              <a:rPr sz="1250" b="0" i="0">
                <a:solidFill>
                  <a:srgbClr val="1F2937"/>
                </a:solidFill>
                <a:latin typeface="맑은 고딕"/>
                <a:ea typeface="맑은 고딕"/>
                <a:cs typeface="맑은 고딕"/>
              </a:rPr>
              <a:t>“좋은 정책이다” — 찬성 · 수혜 90</a:t>
            </a:r>
          </a:p>
          <a:p>
            <a:pPr algn="l">
              <a:lnSpc>
                <a:spcPct val="125000"/>
              </a:lnSpc>
              <a:spcBef>
                <a:spcPts val="0"/>
              </a:spcBef>
              <a:spcAft>
                <a:spcPts val="0"/>
              </a:spcAft>
            </a:pPr>
            <a:r>
              <a:rPr sz="1150" b="0" i="0">
                <a:solidFill>
                  <a:srgbClr val="6B7280"/>
                </a:solidFill>
                <a:latin typeface="맑은 고딕"/>
                <a:ea typeface="맑은 고딕"/>
                <a:cs typeface="맑은 고딕"/>
              </a:rPr>
              <a:t>페르소나를 빼는 순간, 60세 무직 시민이 청년 정책의 수혜자가 ‘된다’. grounding이 차이를 만든다.</a:t>
            </a:r>
          </a:p>
        </p:txBody>
      </p:sp>
      <p:pic>
        <p:nvPicPr>
          <p:cNvPr id="9" name="Picture 8" descr="ablation_viz.png"/>
          <p:cNvPicPr>
            <a:picLocks noChangeAspect="1"/>
          </p:cNvPicPr>
          <p:nvPr/>
        </p:nvPicPr>
        <p:blipFill>
          <a:blip r:embed="rId2"/>
          <a:stretch>
            <a:fillRect/>
          </a:stretch>
        </p:blipFill>
        <p:spPr>
          <a:xfrm>
            <a:off x="2154773" y="3886200"/>
            <a:ext cx="7879404" cy="24688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04 검증</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신뢰성 ② — 720회 반복: 집단화 · 견고성 · 설득력</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14</a:t>
            </a:r>
          </a:p>
        </p:txBody>
      </p:sp>
      <p:sp>
        <p:nvSpPr>
          <p:cNvPr id="6" name="TextBox 5"/>
          <p:cNvSpPr txBox="1"/>
          <p:nvPr/>
        </p:nvSpPr>
        <p:spPr>
          <a:xfrm>
            <a:off x="548640" y="1554480"/>
            <a:ext cx="5212080" cy="4572000"/>
          </a:xfrm>
          <a:prstGeom prst="rect">
            <a:avLst/>
          </a:prstGeom>
          <a:noFill/>
        </p:spPr>
        <p:txBody>
          <a:bodyPr wrap="square" lIns="0" rIns="0" tIns="0" bIns="0">
            <a:spAutoFit/>
          </a:bodyPr>
          <a:lstStyle/>
          <a:p>
            <a:pPr algn="l">
              <a:lnSpc>
                <a:spcPct val="112000"/>
              </a:lnSpc>
              <a:spcBef>
                <a:spcPts val="0"/>
              </a:spcBef>
              <a:spcAft>
                <a:spcPts val="200"/>
              </a:spcAft>
            </a:pPr>
            <a:r>
              <a:rPr sz="1350" b="1" i="0">
                <a:solidFill>
                  <a:srgbClr val="1F3A5F"/>
                </a:solidFill>
                <a:latin typeface="맑은 고딕"/>
                <a:ea typeface="맑은 고딕"/>
                <a:cs typeface="맑은 고딕"/>
              </a:rPr>
              <a:t>방법  </a:t>
            </a:r>
            <a:r>
              <a:rPr sz="1300" b="0" i="0">
                <a:solidFill>
                  <a:srgbClr val="1F2937"/>
                </a:solidFill>
                <a:latin typeface="맑은 고딕"/>
                <a:ea typeface="맑은 고딕"/>
                <a:cs typeface="맑은 고딕"/>
              </a:rPr>
              <a:t>페르소나 24명 × 30회 반복 = 720회 반응 + LLM-judge 채점</a:t>
            </a:r>
          </a:p>
          <a:p>
            <a:pPr algn="l">
              <a:lnSpc>
                <a:spcPct val="112000"/>
              </a:lnSpc>
              <a:spcBef>
                <a:spcPts val="0"/>
              </a:spcBef>
              <a:spcAft>
                <a:spcPts val="900"/>
              </a:spcAft>
            </a:pPr>
            <a:r>
              <a:rPr sz="1100" b="0" i="0">
                <a:solidFill>
                  <a:srgbClr val="6B7280"/>
                </a:solidFill>
                <a:latin typeface="맑은 고딕"/>
                <a:ea typeface="맑은 고딕"/>
                <a:cs typeface="맑은 고딕"/>
              </a:rPr>
              <a:t>비용 약 $0.3 — 검증을 ‘반복 가능한 일상’으로 만드는 가격</a:t>
            </a:r>
          </a:p>
          <a:p>
            <a:pPr algn="l">
              <a:lnSpc>
                <a:spcPct val="125000"/>
              </a:lnSpc>
              <a:spcBef>
                <a:spcPts val="0"/>
              </a:spcBef>
              <a:spcAft>
                <a:spcPts val="900"/>
              </a:spcAft>
            </a:pPr>
            <a:r>
              <a:rPr sz="1300" b="1" i="0">
                <a:solidFill>
                  <a:srgbClr val="2D6CDF"/>
                </a:solidFill>
                <a:latin typeface="맑은 고딕"/>
                <a:ea typeface="맑은 고딕"/>
                <a:cs typeface="맑은 고딕"/>
              </a:rPr>
              <a:t>집단화</a:t>
            </a:r>
            <a:r>
              <a:rPr sz="1180" b="0" i="0">
                <a:solidFill>
                  <a:srgbClr val="1F2937"/>
                </a:solidFill>
                <a:latin typeface="맑은 고딕"/>
                <a:ea typeface="맑은 고딕"/>
                <a:cs typeface="맑은 고딕"/>
              </a:rPr>
              <a:t>   연령이 반응을 가른다 — eta² 수혜 0.81 · 의향 0.77 (이해도는 0.36 — 이해는 비슷해도 ‘내 혜택이냐’는 세대로 갈림)</a:t>
            </a:r>
          </a:p>
          <a:p>
            <a:pPr algn="l">
              <a:lnSpc>
                <a:spcPct val="125000"/>
              </a:lnSpc>
              <a:spcBef>
                <a:spcPts val="0"/>
              </a:spcBef>
              <a:spcAft>
                <a:spcPts val="900"/>
              </a:spcAft>
            </a:pPr>
            <a:r>
              <a:rPr sz="1300" b="1" i="0">
                <a:solidFill>
                  <a:srgbClr val="1F3A5F"/>
                </a:solidFill>
                <a:latin typeface="맑은 고딕"/>
                <a:ea typeface="맑은 고딕"/>
                <a:cs typeface="맑은 고딕"/>
              </a:rPr>
              <a:t>완전 분리</a:t>
            </a:r>
            <a:r>
              <a:rPr sz="1180" b="0" i="0">
                <a:solidFill>
                  <a:srgbClr val="1F2937"/>
                </a:solidFill>
                <a:latin typeface="맑은 고딕"/>
                <a:ea typeface="맑은 고딕"/>
                <a:cs typeface="맑은 고딕"/>
              </a:rPr>
              <a:t>   청년(대상)은 찬성 207·반대 0 — 노인은 찬성 0·반대 214</a:t>
            </a:r>
          </a:p>
          <a:p>
            <a:pPr algn="l">
              <a:lnSpc>
                <a:spcPct val="125000"/>
              </a:lnSpc>
              <a:spcBef>
                <a:spcPts val="0"/>
              </a:spcBef>
              <a:spcAft>
                <a:spcPts val="900"/>
              </a:spcAft>
            </a:pPr>
            <a:r>
              <a:rPr sz="1300" b="1" i="0">
                <a:solidFill>
                  <a:srgbClr val="2E9E6B"/>
                </a:solidFill>
                <a:latin typeface="맑은 고딕"/>
                <a:ea typeface="맑은 고딕"/>
                <a:cs typeface="맑은 고딕"/>
              </a:rPr>
              <a:t>견고성</a:t>
            </a:r>
            <a:r>
              <a:rPr sz="1180" b="0" i="0">
                <a:solidFill>
                  <a:srgbClr val="1F2937"/>
                </a:solidFill>
                <a:latin typeface="맑은 고딕"/>
                <a:ea typeface="맑은 고딕"/>
                <a:cs typeface="맑은 고딕"/>
              </a:rPr>
              <a:t>   같은 시민을 30회 돌려도 입장 안정성 82% (무작위면 약 33%) — 집단 구도는 우연이 아니다</a:t>
            </a:r>
          </a:p>
          <a:p>
            <a:pPr algn="l">
              <a:lnSpc>
                <a:spcPct val="125000"/>
              </a:lnSpc>
              <a:spcBef>
                <a:spcPts val="0"/>
              </a:spcBef>
              <a:spcAft>
                <a:spcPts val="900"/>
              </a:spcAft>
            </a:pPr>
            <a:r>
              <a:rPr sz="1300" b="1" i="0">
                <a:solidFill>
                  <a:srgbClr val="E8902A"/>
                </a:solidFill>
                <a:latin typeface="맑은 고딕"/>
                <a:ea typeface="맑은 고딕"/>
                <a:cs typeface="맑은 고딕"/>
              </a:rPr>
              <a:t>설득력</a:t>
            </a:r>
            <a:r>
              <a:rPr sz="1180" b="0" i="0">
                <a:solidFill>
                  <a:srgbClr val="1F2937"/>
                </a:solidFill>
                <a:latin typeface="맑은 고딕"/>
                <a:ea typeface="맑은 고딕"/>
                <a:cs typeface="맑은 고딕"/>
              </a:rPr>
              <a:t>   LLM-judge 평균 68점 — 각 집단이 자기 처지에 맞는 논리를 편다 (“66세 간호사 입장에서 보자면…”)</a:t>
            </a:r>
          </a:p>
          <a:p>
            <a:pPr algn="l">
              <a:lnSpc>
                <a:spcPct val="125000"/>
              </a:lnSpc>
              <a:spcBef>
                <a:spcPts val="0"/>
              </a:spcBef>
              <a:spcAft>
                <a:spcPts val="0"/>
              </a:spcAft>
            </a:pPr>
            <a:r>
              <a:rPr sz="1200" b="1" i="0">
                <a:solidFill>
                  <a:srgbClr val="6B7280"/>
                </a:solidFill>
                <a:latin typeface="맑은 고딕"/>
                <a:ea typeface="맑은 고딕"/>
                <a:cs typeface="맑은 고딕"/>
              </a:rPr>
              <a:t>정직한 노트  </a:t>
            </a:r>
            <a:r>
              <a:rPr sz="1150" b="0" i="0">
                <a:solidFill>
                  <a:srgbClr val="6B7280"/>
                </a:solidFill>
                <a:latin typeface="맑은 고딕"/>
                <a:ea typeface="맑은 고딕"/>
                <a:cs typeface="맑은 고딕"/>
              </a:rPr>
              <a:t>LLM은 비결정적이라 절대값은 출렁인다(eta² 0.94→0.81 등). 그러나 방향은 항상 일관 — eta²&gt;0.7, collapse&gt;0.</a:t>
            </a:r>
          </a:p>
        </p:txBody>
      </p:sp>
      <p:pic>
        <p:nvPicPr>
          <p:cNvPr id="7" name="Picture 6" descr="cluster_viz.png"/>
          <p:cNvPicPr>
            <a:picLocks noChangeAspect="1"/>
          </p:cNvPicPr>
          <p:nvPr/>
        </p:nvPicPr>
        <p:blipFill>
          <a:blip r:embed="rId2"/>
          <a:stretch>
            <a:fillRect/>
          </a:stretch>
        </p:blipFill>
        <p:spPr>
          <a:xfrm>
            <a:off x="5989320" y="1878036"/>
            <a:ext cx="5669280" cy="392488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05 확장</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게시판 RAG — 좁힌 확장 경로가 팀의 손으로 돌아오다</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15</a:t>
            </a:r>
          </a:p>
        </p:txBody>
      </p:sp>
      <p:sp>
        <p:nvSpPr>
          <p:cNvPr id="6" name="TextBox 5"/>
          <p:cNvSpPr txBox="1"/>
          <p:nvPr/>
        </p:nvSpPr>
        <p:spPr>
          <a:xfrm>
            <a:off x="548640" y="1645920"/>
            <a:ext cx="5212080" cy="4480560"/>
          </a:xfrm>
          <a:prstGeom prst="rect">
            <a:avLst/>
          </a:prstGeom>
          <a:noFill/>
        </p:spPr>
        <p:txBody>
          <a:bodyPr wrap="square" lIns="0" rIns="0" tIns="0" bIns="0">
            <a:spAutoFit/>
          </a:bodyPr>
          <a:lstStyle/>
          <a:p>
            <a:pPr algn="l">
              <a:lnSpc>
                <a:spcPct val="112000"/>
              </a:lnSpc>
              <a:spcBef>
                <a:spcPts val="0"/>
              </a:spcBef>
              <a:spcAft>
                <a:spcPts val="800"/>
              </a:spcAft>
            </a:pPr>
            <a:r>
              <a:rPr sz="1550" b="1" i="0">
                <a:solidFill>
                  <a:srgbClr val="1F3A5F"/>
                </a:solidFill>
                <a:latin typeface="맑은 고딕"/>
                <a:ea typeface="맑은 고딕"/>
                <a:cs typeface="맑은 고딕"/>
              </a:rPr>
              <a:t>정책 문의 게시판 + 문서 근거 답변</a:t>
            </a:r>
          </a:p>
          <a:p>
            <a:pPr algn="l">
              <a:lnSpc>
                <a:spcPct val="118000"/>
              </a:lnSpc>
              <a:spcBef>
                <a:spcPts val="0"/>
              </a:spcBef>
              <a:spcAft>
                <a:spcPts val="700"/>
              </a:spcAft>
            </a:pPr>
            <a:r>
              <a:rPr sz="1250" b="1" i="0">
                <a:solidFill>
                  <a:srgbClr val="2D6CDF"/>
                </a:solidFill>
                <a:latin typeface="맑은 고딕"/>
                <a:ea typeface="맑은 고딕"/>
                <a:cs typeface="맑은 고딕"/>
              </a:rPr>
              <a:t>•  </a:t>
            </a:r>
            <a:r>
              <a:rPr sz="1250" b="1" i="0">
                <a:solidFill>
                  <a:srgbClr val="1F2937"/>
                </a:solidFill>
                <a:latin typeface="맑은 고딕"/>
                <a:ea typeface="맑은 고딕"/>
                <a:cs typeface="맑은 고딕"/>
              </a:rPr>
              <a:t>질문 → 검색된 근거 ‘안에서만’ 답변</a:t>
            </a:r>
            <a:r>
              <a:rPr sz="1250" b="0" i="0">
                <a:solidFill>
                  <a:srgbClr val="6B7280"/>
                </a:solidFill>
                <a:latin typeface="맑은 고딕"/>
                <a:ea typeface="맑은 고딕"/>
                <a:cs typeface="맑은 고딕"/>
              </a:rPr>
              <a:t>  (환각 억제)</a:t>
            </a:r>
          </a:p>
          <a:p>
            <a:pPr algn="l">
              <a:lnSpc>
                <a:spcPct val="118000"/>
              </a:lnSpc>
              <a:spcBef>
                <a:spcPts val="0"/>
              </a:spcBef>
              <a:spcAft>
                <a:spcPts val="700"/>
              </a:spcAft>
            </a:pPr>
            <a:r>
              <a:rPr sz="1250" b="1" i="0">
                <a:solidFill>
                  <a:srgbClr val="2D6CDF"/>
                </a:solidFill>
                <a:latin typeface="맑은 고딕"/>
                <a:ea typeface="맑은 고딕"/>
                <a:cs typeface="맑은 고딕"/>
              </a:rPr>
              <a:t>•  </a:t>
            </a:r>
            <a:r>
              <a:rPr sz="1250" b="0" i="0">
                <a:solidFill>
                  <a:srgbClr val="1F2937"/>
                </a:solidFill>
                <a:latin typeface="맑은 고딕"/>
                <a:ea typeface="맑은 고딕"/>
                <a:cs typeface="맑은 고딕"/>
              </a:rPr>
              <a:t>현재 정책은 항상 기본 근거 + PDF/TXT/MD 업로드로 문서 확장</a:t>
            </a:r>
          </a:p>
          <a:p>
            <a:pPr algn="l">
              <a:lnSpc>
                <a:spcPct val="118000"/>
              </a:lnSpc>
              <a:spcBef>
                <a:spcPts val="0"/>
              </a:spcBef>
              <a:spcAft>
                <a:spcPts val="700"/>
              </a:spcAft>
            </a:pPr>
            <a:r>
              <a:rPr sz="1250" b="1" i="0">
                <a:solidFill>
                  <a:srgbClr val="2D6CDF"/>
                </a:solidFill>
                <a:latin typeface="맑은 고딕"/>
                <a:ea typeface="맑은 고딕"/>
                <a:cs typeface="맑은 고딕"/>
              </a:rPr>
              <a:t>•  </a:t>
            </a:r>
            <a:r>
              <a:rPr sz="1250" b="0" i="0">
                <a:solidFill>
                  <a:srgbClr val="1F2937"/>
                </a:solidFill>
                <a:latin typeface="맑은 고딕"/>
                <a:ea typeface="맑은 고딕"/>
                <a:cs typeface="맑은 고딕"/>
              </a:rPr>
              <a:t>Chroma 벡터 검색 + OpenAI 임베딩 → 근거·품질지표 함께 표시</a:t>
            </a:r>
          </a:p>
          <a:p>
            <a:pPr algn="l">
              <a:lnSpc>
                <a:spcPct val="118000"/>
              </a:lnSpc>
              <a:spcBef>
                <a:spcPts val="0"/>
              </a:spcBef>
              <a:spcAft>
                <a:spcPts val="700"/>
              </a:spcAft>
            </a:pPr>
            <a:r>
              <a:rPr sz="1250" b="1" i="0">
                <a:solidFill>
                  <a:srgbClr val="2D6CDF"/>
                </a:solidFill>
                <a:latin typeface="맑은 고딕"/>
                <a:ea typeface="맑은 고딕"/>
                <a:cs typeface="맑은 고딕"/>
              </a:rPr>
              <a:t>•  </a:t>
            </a:r>
            <a:r>
              <a:rPr sz="1250" b="0" i="0">
                <a:solidFill>
                  <a:srgbClr val="1F2937"/>
                </a:solidFill>
                <a:latin typeface="맑은 고딕"/>
                <a:ea typeface="맑은 고딕"/>
                <a:cs typeface="맑은 고딕"/>
              </a:rPr>
              <a:t>API 키가 없으면 추출식 폴백 — 데모는 항상 동작</a:t>
            </a:r>
          </a:p>
          <a:p>
            <a:pPr algn="l">
              <a:lnSpc>
                <a:spcPct val="112000"/>
              </a:lnSpc>
              <a:spcBef>
                <a:spcPts val="0"/>
              </a:spcBef>
              <a:spcAft>
                <a:spcPts val="200"/>
              </a:spcAft>
            </a:pPr>
            <a:r>
              <a:rPr sz="400" b="0" i="0">
                <a:solidFill>
                  <a:srgbClr val="1F2937"/>
                </a:solidFill>
                <a:latin typeface="맑은 고딕"/>
                <a:ea typeface="맑은 고딕"/>
                <a:cs typeface="맑은 고딕"/>
              </a:rPr>
              <a:t/>
            </a:r>
          </a:p>
        </p:txBody>
      </p:sp>
      <p:sp>
        <p:nvSpPr>
          <p:cNvPr id="7" name="Rounded Rectangle 6"/>
          <p:cNvSpPr/>
          <p:nvPr/>
        </p:nvSpPr>
        <p:spPr>
          <a:xfrm>
            <a:off x="548640" y="4297680"/>
            <a:ext cx="5212080" cy="178308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777240" y="4462272"/>
            <a:ext cx="4754880" cy="1463040"/>
          </a:xfrm>
          <a:prstGeom prst="rect">
            <a:avLst/>
          </a:prstGeom>
          <a:noFill/>
        </p:spPr>
        <p:txBody>
          <a:bodyPr wrap="square" lIns="0" rIns="0" tIns="0" bIns="0">
            <a:spAutoFit/>
          </a:bodyPr>
          <a:lstStyle/>
          <a:p>
            <a:pPr algn="l">
              <a:lnSpc>
                <a:spcPct val="112000"/>
              </a:lnSpc>
              <a:spcBef>
                <a:spcPts val="0"/>
              </a:spcBef>
              <a:spcAft>
                <a:spcPts val="500"/>
              </a:spcAft>
            </a:pPr>
            <a:r>
              <a:rPr sz="1350" b="1" i="0">
                <a:solidFill>
                  <a:srgbClr val="2E9E6B"/>
                </a:solidFill>
                <a:latin typeface="맑은 고딕"/>
                <a:ea typeface="맑은 고딕"/>
                <a:cs typeface="맑은 고딕"/>
              </a:rPr>
              <a:t>협업 방식이 곧 설계였다</a:t>
            </a:r>
          </a:p>
          <a:p>
            <a:pPr algn="l">
              <a:lnSpc>
                <a:spcPct val="130000"/>
              </a:lnSpc>
              <a:spcBef>
                <a:spcPts val="0"/>
              </a:spcBef>
              <a:spcAft>
                <a:spcPts val="0"/>
              </a:spcAft>
            </a:pPr>
            <a:r>
              <a:rPr sz="1180" b="0" i="0">
                <a:solidFill>
                  <a:srgbClr val="1F2937"/>
                </a:solidFill>
                <a:latin typeface="맑은 고딕"/>
                <a:ea typeface="맑은 고딕"/>
                <a:cs typeface="맑은 고딕"/>
              </a:rPr>
              <a:t>본체에 ‘자리(시임)와 반환 계약’만 미리 설계해 두고, 팀원이 독립 패키지로 RAG 엔진을 구현 → 마지막에 끼워 넣음. 모듈 경계를 지킨 덕에 본체는 한 줄도 안 깨졌다.</a:t>
            </a:r>
          </a:p>
        </p:txBody>
      </p:sp>
      <p:sp>
        <p:nvSpPr>
          <p:cNvPr id="9" name="Rounded Rectangle 8"/>
          <p:cNvSpPr/>
          <p:nvPr/>
        </p:nvSpPr>
        <p:spPr>
          <a:xfrm>
            <a:off x="6035040" y="1645920"/>
            <a:ext cx="5605272" cy="4434840"/>
          </a:xfrm>
          <a:prstGeom prst="roundRect">
            <a:avLst>
              <a:gd name="adj" fmla="val 4000"/>
            </a:avLst>
          </a:prstGeom>
          <a:solidFill>
            <a:srgbClr val="F1F3F7"/>
          </a:solidFill>
          <a:ln w="1524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200"/>
              </a:spcAft>
            </a:pPr>
            <a:r>
              <a:rPr sz="1400" b="1" i="0">
                <a:solidFill>
                  <a:srgbClr val="6B7280"/>
                </a:solidFill>
                <a:latin typeface="맑은 고딕"/>
                <a:ea typeface="맑은 고딕"/>
                <a:cs typeface="맑은 고딕"/>
              </a:rPr>
              <a:t>📸 ‘게시판’ 탭 캡처</a:t>
            </a:r>
          </a:p>
          <a:p>
            <a:pPr algn="ctr">
              <a:lnSpc>
                <a:spcPct val="112000"/>
              </a:lnSpc>
              <a:spcBef>
                <a:spcPts val="0"/>
              </a:spcBef>
              <a:spcAft>
                <a:spcPts val="0"/>
              </a:spcAft>
            </a:pPr>
            <a:r>
              <a:rPr sz="1000" b="0" i="0">
                <a:solidFill>
                  <a:srgbClr val="9AA5B1"/>
                </a:solidFill>
                <a:latin typeface="맑은 고딕"/>
                <a:ea typeface="맑은 고딕"/>
                <a:cs typeface="맑은 고딕"/>
              </a:rPr>
              <a:t>질문 → 답변 + 📎근거 + 품질지표 표가 보이는 화면 추천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05 확장</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미리마을 — 시민이 ‘살아가는’ 마을 (Generative Agents)</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16</a:t>
            </a:r>
          </a:p>
        </p:txBody>
      </p:sp>
      <p:sp>
        <p:nvSpPr>
          <p:cNvPr id="6" name="TextBox 5"/>
          <p:cNvSpPr txBox="1"/>
          <p:nvPr/>
        </p:nvSpPr>
        <p:spPr>
          <a:xfrm>
            <a:off x="548640" y="1600200"/>
            <a:ext cx="5577840" cy="2834640"/>
          </a:xfrm>
          <a:prstGeom prst="rect">
            <a:avLst/>
          </a:prstGeom>
          <a:noFill/>
        </p:spPr>
        <p:txBody>
          <a:bodyPr wrap="square" lIns="0" rIns="0" tIns="0" bIns="0">
            <a:spAutoFit/>
          </a:bodyPr>
          <a:lstStyle/>
          <a:p>
            <a:pPr algn="l">
              <a:lnSpc>
                <a:spcPct val="125000"/>
              </a:lnSpc>
              <a:spcBef>
                <a:spcPts val="0"/>
              </a:spcBef>
              <a:spcAft>
                <a:spcPts val="800"/>
              </a:spcAft>
            </a:pPr>
            <a:r>
              <a:rPr sz="1350" b="1" i="0">
                <a:solidFill>
                  <a:srgbClr val="2D6CDF"/>
                </a:solidFill>
                <a:latin typeface="맑은 고딕"/>
                <a:ea typeface="맑은 고딕"/>
                <a:cs typeface="맑은 고딕"/>
              </a:rPr>
              <a:t>Park et al. (2023) </a:t>
            </a:r>
            <a:r>
              <a:rPr sz="1350" b="0" i="0">
                <a:solidFill>
                  <a:srgbClr val="1F2937"/>
                </a:solidFill>
                <a:latin typeface="맑은 고딕"/>
                <a:ea typeface="맑은 고딕"/>
                <a:cs typeface="맑은 고딕"/>
              </a:rPr>
              <a:t>의 원형 — 에이전트가 공간에서 자기 스케줄대로 살아가는 마을</a:t>
            </a:r>
          </a:p>
          <a:p>
            <a:pPr algn="l">
              <a:lnSpc>
                <a:spcPct val="118000"/>
              </a:lnSpc>
              <a:spcBef>
                <a:spcPts val="0"/>
              </a:spcBef>
              <a:spcAft>
                <a:spcPts val="550"/>
              </a:spcAft>
            </a:pPr>
            <a:r>
              <a:rPr sz="1200" b="1" i="0">
                <a:solidFill>
                  <a:srgbClr val="2D6CDF"/>
                </a:solidFill>
                <a:latin typeface="맑은 고딕"/>
                <a:ea typeface="맑은 고딕"/>
                <a:cs typeface="맑은 고딕"/>
              </a:rPr>
              <a:t>•  </a:t>
            </a:r>
            <a:r>
              <a:rPr sz="1200" b="1" i="0">
                <a:solidFill>
                  <a:srgbClr val="1F2937"/>
                </a:solidFill>
                <a:latin typeface="맑은 고딕"/>
                <a:ea typeface="맑은 고딕"/>
                <a:cs typeface="맑은 고딕"/>
              </a:rPr>
              <a:t>10명 손제작 고정 캐스트</a:t>
            </a:r>
            <a:r>
              <a:rPr sz="1200" b="0" i="0">
                <a:solidFill>
                  <a:srgbClr val="1F2937"/>
                </a:solidFill>
                <a:latin typeface="맑은 고딕"/>
                <a:ea typeface="맑은 고딕"/>
                <a:cs typeface="맑은 고딕"/>
              </a:rPr>
              <a:t> — 무작위 통계 샘플엔 ‘관계’가 없다. 전파 무대엔 서로 아는 마을이 필요 (축 A·B와 목적이 다른 의도된 선택)</a:t>
            </a:r>
          </a:p>
          <a:p>
            <a:pPr algn="l">
              <a:lnSpc>
                <a:spcPct val="118000"/>
              </a:lnSpc>
              <a:spcBef>
                <a:spcPts val="0"/>
              </a:spcBef>
              <a:spcAft>
                <a:spcPts val="550"/>
              </a:spcAft>
            </a:pPr>
            <a:r>
              <a:rPr sz="1200" b="1" i="0">
                <a:solidFill>
                  <a:srgbClr val="2D6CDF"/>
                </a:solidFill>
                <a:latin typeface="맑은 고딕"/>
                <a:ea typeface="맑은 고딕"/>
                <a:cs typeface="맑은 고딕"/>
              </a:rPr>
              <a:t>•  </a:t>
            </a:r>
            <a:r>
              <a:rPr sz="1200" b="0" i="0">
                <a:solidFill>
                  <a:srgbClr val="1F2937"/>
                </a:solidFill>
                <a:latin typeface="맑은 고딕"/>
                <a:ea typeface="맑은 고딕"/>
                <a:cs typeface="맑은 고딕"/>
              </a:rPr>
              <a:t>LLM이 각자의 하루 일과(시간 → 장소 → 행동)를 생성</a:t>
            </a:r>
          </a:p>
          <a:p>
            <a:pPr algn="l">
              <a:lnSpc>
                <a:spcPct val="118000"/>
              </a:lnSpc>
              <a:spcBef>
                <a:spcPts val="0"/>
              </a:spcBef>
              <a:spcAft>
                <a:spcPts val="550"/>
              </a:spcAft>
            </a:pPr>
            <a:r>
              <a:rPr sz="1200" b="1" i="0">
                <a:solidFill>
                  <a:srgbClr val="2D6CDF"/>
                </a:solidFill>
                <a:latin typeface="맑은 고딕"/>
                <a:ea typeface="맑은 고딕"/>
                <a:cs typeface="맑은 고딕"/>
              </a:rPr>
              <a:t>•  </a:t>
            </a:r>
            <a:r>
              <a:rPr sz="1200" b="1" i="0">
                <a:solidFill>
                  <a:srgbClr val="1F2937"/>
                </a:solidFill>
                <a:latin typeface="맑은 고딕"/>
                <a:ea typeface="맑은 고딕"/>
                <a:cs typeface="맑은 고딕"/>
              </a:rPr>
              <a:t>“녹화 후 재생” — 하루를 미리 생성, 브라우저는 LLM 0콜로 재생</a:t>
            </a:r>
            <a:r>
              <a:rPr sz="1200" b="0" i="0">
                <a:solidFill>
                  <a:srgbClr val="6B7280"/>
                </a:solidFill>
                <a:latin typeface="맑은 고딕"/>
                <a:ea typeface="맑은 고딕"/>
                <a:cs typeface="맑은 고딕"/>
              </a:rPr>
              <a:t>  (즉시·반복·오프라인 = 발표 안전망)</a:t>
            </a:r>
          </a:p>
          <a:p>
            <a:pPr algn="l">
              <a:lnSpc>
                <a:spcPct val="118000"/>
              </a:lnSpc>
              <a:spcBef>
                <a:spcPts val="0"/>
              </a:spcBef>
              <a:spcAft>
                <a:spcPts val="550"/>
              </a:spcAft>
            </a:pPr>
            <a:r>
              <a:rPr sz="1200" b="1" i="0">
                <a:solidFill>
                  <a:srgbClr val="2D6CDF"/>
                </a:solidFill>
                <a:latin typeface="맑은 고딕"/>
                <a:ea typeface="맑은 고딕"/>
                <a:cs typeface="맑은 고딕"/>
              </a:rPr>
              <a:t>•  </a:t>
            </a:r>
            <a:r>
              <a:rPr sz="1200" b="0" i="0">
                <a:solidFill>
                  <a:srgbClr val="1F2937"/>
                </a:solidFill>
                <a:latin typeface="맑은 고딕"/>
                <a:ea typeface="맑은 고딕"/>
                <a:cs typeface="맑은 고딕"/>
              </a:rPr>
              <a:t>도로 waypoint 652개 → 그래프 + BFS 길찾기로 실제 ‘도보’ 이동</a:t>
            </a:r>
          </a:p>
          <a:p>
            <a:pPr algn="l">
              <a:lnSpc>
                <a:spcPct val="118000"/>
              </a:lnSpc>
              <a:spcBef>
                <a:spcPts val="0"/>
              </a:spcBef>
              <a:spcAft>
                <a:spcPts val="550"/>
              </a:spcAft>
            </a:pPr>
            <a:r>
              <a:rPr sz="1200" b="1" i="0">
                <a:solidFill>
                  <a:srgbClr val="2D6CDF"/>
                </a:solidFill>
                <a:latin typeface="맑은 고딕"/>
                <a:ea typeface="맑은 고딕"/>
                <a:cs typeface="맑은 고딕"/>
              </a:rPr>
              <a:t>•  </a:t>
            </a:r>
            <a:r>
              <a:rPr sz="1200" b="0" i="0">
                <a:solidFill>
                  <a:srgbClr val="1F2937"/>
                </a:solidFill>
                <a:latin typeface="맑은 고딕"/>
                <a:ea typeface="맑은 고딕"/>
                <a:cs typeface="맑은 고딕"/>
              </a:rPr>
              <a:t>마주치면 — 그날 동선·관계가 묻어나는 맥락 대화</a:t>
            </a:r>
          </a:p>
        </p:txBody>
      </p:sp>
      <p:sp>
        <p:nvSpPr>
          <p:cNvPr id="7" name="Rounded Rectangle 6"/>
          <p:cNvSpPr/>
          <p:nvPr/>
        </p:nvSpPr>
        <p:spPr>
          <a:xfrm>
            <a:off x="548640" y="4526280"/>
            <a:ext cx="5577840" cy="155448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TextBox 7"/>
          <p:cNvSpPr txBox="1"/>
          <p:nvPr/>
        </p:nvSpPr>
        <p:spPr>
          <a:xfrm>
            <a:off x="777240" y="4663440"/>
            <a:ext cx="5120640" cy="1325880"/>
          </a:xfrm>
          <a:prstGeom prst="rect">
            <a:avLst/>
          </a:prstGeom>
          <a:noFill/>
        </p:spPr>
        <p:txBody>
          <a:bodyPr wrap="square" lIns="0" rIns="0" tIns="0" bIns="0">
            <a:spAutoFit/>
          </a:bodyPr>
          <a:lstStyle/>
          <a:p>
            <a:pPr algn="l">
              <a:lnSpc>
                <a:spcPct val="112000"/>
              </a:lnSpc>
              <a:spcBef>
                <a:spcPts val="0"/>
              </a:spcBef>
              <a:spcAft>
                <a:spcPts val="400"/>
              </a:spcAft>
            </a:pPr>
            <a:r>
              <a:rPr sz="1300" b="1" i="0">
                <a:solidFill>
                  <a:srgbClr val="E8902A"/>
                </a:solidFill>
                <a:latin typeface="맑은 고딕"/>
                <a:ea typeface="맑은 고딕"/>
                <a:cs typeface="맑은 고딕"/>
              </a:rPr>
              <a:t>시행착오 — “스케줄은 순간이동, 재생은 도보”</a:t>
            </a:r>
          </a:p>
          <a:p>
            <a:pPr algn="l">
              <a:lnSpc>
                <a:spcPct val="128000"/>
              </a:lnSpc>
              <a:spcBef>
                <a:spcPts val="0"/>
              </a:spcBef>
              <a:spcAft>
                <a:spcPts val="0"/>
              </a:spcAft>
            </a:pPr>
            <a:r>
              <a:rPr sz="1150" b="0" i="0">
                <a:solidFill>
                  <a:srgbClr val="1F2937"/>
                </a:solidFill>
                <a:latin typeface="맑은 고딕"/>
                <a:ea typeface="맑은 고딕"/>
                <a:cs typeface="맑은 고딕"/>
              </a:rPr>
              <a:t>LLM이 짠 스케줄은 이동시간 0을 가정 → 막상 재생하니 만남 14개 중 7개가 ‘도착 전에 끝남’. 실제 걸어서 도착하는 시간을 시뮬해 만남을 다시 뽑자 발화 6/6 보장.</a:t>
            </a:r>
          </a:p>
        </p:txBody>
      </p:sp>
      <p:pic>
        <p:nvPicPr>
          <p:cNvPr id="9" name="Picture 8" descr="map.png"/>
          <p:cNvPicPr>
            <a:picLocks noChangeAspect="1"/>
          </p:cNvPicPr>
          <p:nvPr/>
        </p:nvPicPr>
        <p:blipFill>
          <a:blip r:embed="rId2"/>
          <a:stretch>
            <a:fillRect/>
          </a:stretch>
        </p:blipFill>
        <p:spPr>
          <a:xfrm>
            <a:off x="6568440" y="1600200"/>
            <a:ext cx="4876800" cy="3657600"/>
          </a:xfrm>
          <a:prstGeom prst="rect">
            <a:avLst/>
          </a:prstGeom>
        </p:spPr>
      </p:pic>
      <p:sp>
        <p:nvSpPr>
          <p:cNvPr id="10" name="Rounded Rectangle 9"/>
          <p:cNvSpPr/>
          <p:nvPr/>
        </p:nvSpPr>
        <p:spPr>
          <a:xfrm>
            <a:off x="6355080" y="5349240"/>
            <a:ext cx="5303520" cy="73152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6537960" y="5440680"/>
            <a:ext cx="4937760" cy="566928"/>
          </a:xfrm>
          <a:prstGeom prst="rect">
            <a:avLst/>
          </a:prstGeom>
          <a:noFill/>
        </p:spPr>
        <p:txBody>
          <a:bodyPr wrap="square" lIns="0" rIns="0" tIns="0" bIns="0" anchor="ctr">
            <a:spAutoFit/>
          </a:bodyPr>
          <a:lstStyle/>
          <a:p>
            <a:pPr algn="l">
              <a:lnSpc>
                <a:spcPct val="120000"/>
              </a:lnSpc>
              <a:spcBef>
                <a:spcPts val="0"/>
              </a:spcBef>
              <a:spcAft>
                <a:spcPts val="0"/>
              </a:spcAft>
            </a:pPr>
            <a:r>
              <a:rPr sz="1200" b="1" i="0">
                <a:solidFill>
                  <a:srgbClr val="2E9E6B"/>
                </a:solidFill>
                <a:latin typeface="맑은 고딕"/>
                <a:ea typeface="맑은 고딕"/>
                <a:cs typeface="맑은 고딕"/>
              </a:rPr>
              <a:t>창발 —  </a:t>
            </a:r>
            <a:r>
              <a:rPr sz="1130" b="0" i="0">
                <a:solidFill>
                  <a:srgbClr val="1F2937"/>
                </a:solidFill>
                <a:latin typeface="맑은 고딕"/>
                <a:ea typeface="맑은 고딕"/>
                <a:cs typeface="맑은 고딕"/>
              </a:rPr>
              <a:t>시키지 않았는데 — 민수·수아가 광장 산책을 약속하고, 같은 카페 사장이 세 손님과 ‘각자의 하루’로 다른 대화를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05 확장</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미리마을 × 정책 — 소식은 누구에게, 어떤 경로로 닿는가</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17</a:t>
            </a:r>
          </a:p>
        </p:txBody>
      </p:sp>
      <p:sp>
        <p:nvSpPr>
          <p:cNvPr id="6" name="Rounded Rectangle 5"/>
          <p:cNvSpPr/>
          <p:nvPr/>
        </p:nvSpPr>
        <p:spPr>
          <a:xfrm>
            <a:off x="548640" y="1600200"/>
            <a:ext cx="11091672" cy="731520"/>
          </a:xfrm>
          <a:prstGeom prst="roundRect">
            <a:avLst>
              <a:gd name="adj" fmla="val 8000"/>
            </a:avLst>
          </a:prstGeom>
          <a:solidFill>
            <a:srgbClr val="EAF0F8"/>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868680" y="1719072"/>
            <a:ext cx="10515600" cy="530352"/>
          </a:xfrm>
          <a:prstGeom prst="rect">
            <a:avLst/>
          </a:prstGeom>
          <a:noFill/>
        </p:spPr>
        <p:txBody>
          <a:bodyPr wrap="square" lIns="0" rIns="0" tIns="0" bIns="0" anchor="ctr">
            <a:spAutoFit/>
          </a:bodyPr>
          <a:lstStyle/>
          <a:p>
            <a:pPr algn="ctr">
              <a:lnSpc>
                <a:spcPct val="112000"/>
              </a:lnSpc>
              <a:spcBef>
                <a:spcPts val="0"/>
              </a:spcBef>
              <a:spcAft>
                <a:spcPts val="0"/>
              </a:spcAft>
            </a:pPr>
            <a:r>
              <a:rPr sz="1450" b="0" i="0">
                <a:solidFill>
                  <a:srgbClr val="1F2937"/>
                </a:solidFill>
                <a:latin typeface="맑은 고딕"/>
                <a:ea typeface="맑은 고딕"/>
                <a:cs typeface="맑은 고딕"/>
              </a:rPr>
              <a:t>질문의 전환:  “정책이 각자에게 어떤 효과인가”  →  </a:t>
            </a:r>
            <a:r>
              <a:rPr sz="1450" b="1" i="0">
                <a:solidFill>
                  <a:srgbClr val="1F3A5F"/>
                </a:solidFill>
                <a:latin typeface="맑은 고딕"/>
                <a:ea typeface="맑은 고딕"/>
                <a:cs typeface="맑은 고딕"/>
              </a:rPr>
              <a:t>“정책 ‘소식’이 누구에게 · 어떤 경로로 닿는가”</a:t>
            </a:r>
          </a:p>
        </p:txBody>
      </p:sp>
      <p:sp>
        <p:nvSpPr>
          <p:cNvPr id="8" name="Rounded Rectangle 7"/>
          <p:cNvSpPr/>
          <p:nvPr/>
        </p:nvSpPr>
        <p:spPr>
          <a:xfrm>
            <a:off x="548640" y="2560320"/>
            <a:ext cx="2468880" cy="1371600"/>
          </a:xfrm>
          <a:prstGeom prst="roundRect">
            <a:avLst>
              <a:gd name="adj" fmla="val 8000"/>
            </a:avLst>
          </a:prstGeom>
          <a:solidFill>
            <a:srgbClr val="FCECEB"/>
          </a:solidFill>
          <a:ln w="1270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658368" y="2633472"/>
            <a:ext cx="2249424" cy="1225296"/>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D9534F"/>
                </a:solidFill>
                <a:latin typeface="맑은 고딕"/>
                <a:ea typeface="맑은 고딕"/>
                <a:cs typeface="맑은 고딕"/>
              </a:rPr>
              <a:t>① 시드 주입</a:t>
            </a:r>
          </a:p>
          <a:p>
            <a:pPr algn="l">
              <a:lnSpc>
                <a:spcPct val="112000"/>
              </a:lnSpc>
              <a:spcBef>
                <a:spcPts val="0"/>
              </a:spcBef>
              <a:spcAft>
                <a:spcPts val="100"/>
              </a:spcAft>
            </a:pPr>
            <a:r>
              <a:rPr sz="1100" b="0" i="0">
                <a:solidFill>
                  <a:srgbClr val="1F2937"/>
                </a:solidFill>
                <a:latin typeface="맑은 고딕"/>
                <a:ea typeface="맑은 고딕"/>
                <a:cs typeface="맑은 고딕"/>
              </a:rPr>
              <a:t>복지관 어르신 2명만 정책을 알고 시작</a:t>
            </a:r>
          </a:p>
        </p:txBody>
      </p:sp>
      <p:sp>
        <p:nvSpPr>
          <p:cNvPr id="10" name="TextBox 9"/>
          <p:cNvSpPr txBox="1"/>
          <p:nvPr/>
        </p:nvSpPr>
        <p:spPr>
          <a:xfrm>
            <a:off x="3035808" y="3063240"/>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1600" b="1" i="0">
                <a:solidFill>
                  <a:srgbClr val="6B7280"/>
                </a:solidFill>
                <a:latin typeface="맑은 고딕"/>
                <a:ea typeface="맑은 고딕"/>
                <a:cs typeface="맑은 고딕"/>
              </a:rPr>
              <a:t>→</a:t>
            </a:r>
          </a:p>
        </p:txBody>
      </p:sp>
      <p:sp>
        <p:nvSpPr>
          <p:cNvPr id="11" name="Rounded Rectangle 10"/>
          <p:cNvSpPr/>
          <p:nvPr/>
        </p:nvSpPr>
        <p:spPr>
          <a:xfrm>
            <a:off x="3511296" y="2560320"/>
            <a:ext cx="2468880" cy="1371600"/>
          </a:xfrm>
          <a:prstGeom prst="roundRect">
            <a:avLst>
              <a:gd name="adj" fmla="val 8000"/>
            </a:avLst>
          </a:prstGeom>
          <a:solidFill>
            <a:srgbClr val="FDF3E4"/>
          </a:solidFill>
          <a:ln w="12700">
            <a:solidFill>
              <a:srgbClr val="E8902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TextBox 11"/>
          <p:cNvSpPr txBox="1"/>
          <p:nvPr/>
        </p:nvSpPr>
        <p:spPr>
          <a:xfrm>
            <a:off x="3621024" y="2633472"/>
            <a:ext cx="2249424" cy="1225296"/>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E8902A"/>
                </a:solidFill>
                <a:latin typeface="맑은 고딕"/>
                <a:ea typeface="맑은 고딕"/>
                <a:cs typeface="맑은 고딕"/>
              </a:rPr>
              <a:t>② 만남 전파</a:t>
            </a:r>
          </a:p>
          <a:p>
            <a:pPr algn="l">
              <a:lnSpc>
                <a:spcPct val="112000"/>
              </a:lnSpc>
              <a:spcBef>
                <a:spcPts val="0"/>
              </a:spcBef>
              <a:spcAft>
                <a:spcPts val="100"/>
              </a:spcAft>
            </a:pPr>
            <a:r>
              <a:rPr sz="1100" b="0" i="0">
                <a:solidFill>
                  <a:srgbClr val="1F2937"/>
                </a:solidFill>
                <a:latin typeface="맑은 고딕"/>
                <a:ea typeface="맑은 고딕"/>
                <a:cs typeface="맑은 고딕"/>
              </a:rPr>
              <a:t>스케줄대로 살다 마주친 대화에서 소식이 옮음</a:t>
            </a:r>
          </a:p>
        </p:txBody>
      </p:sp>
      <p:sp>
        <p:nvSpPr>
          <p:cNvPr id="13" name="TextBox 12"/>
          <p:cNvSpPr txBox="1"/>
          <p:nvPr/>
        </p:nvSpPr>
        <p:spPr>
          <a:xfrm>
            <a:off x="5998464" y="3063240"/>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1600" b="1" i="0">
                <a:solidFill>
                  <a:srgbClr val="6B7280"/>
                </a:solidFill>
                <a:latin typeface="맑은 고딕"/>
                <a:ea typeface="맑은 고딕"/>
                <a:cs typeface="맑은 고딕"/>
              </a:rPr>
              <a:t>→</a:t>
            </a:r>
          </a:p>
        </p:txBody>
      </p:sp>
      <p:sp>
        <p:nvSpPr>
          <p:cNvPr id="14" name="Rounded Rectangle 13"/>
          <p:cNvSpPr/>
          <p:nvPr/>
        </p:nvSpPr>
        <p:spPr>
          <a:xfrm>
            <a:off x="6473952" y="2560320"/>
            <a:ext cx="2468880" cy="1371600"/>
          </a:xfrm>
          <a:prstGeom prst="roundRect">
            <a:avLst>
              <a:gd name="adj" fmla="val 8000"/>
            </a:avLst>
          </a:prstGeom>
          <a:solidFill>
            <a:srgbClr val="EAF0F8"/>
          </a:solidFill>
          <a:ln w="12700">
            <a:solidFill>
              <a:srgbClr val="2D6CD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TextBox 14"/>
          <p:cNvSpPr txBox="1"/>
          <p:nvPr/>
        </p:nvSpPr>
        <p:spPr>
          <a:xfrm>
            <a:off x="6583680" y="2633472"/>
            <a:ext cx="2249424" cy="1225296"/>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2D6CDF"/>
                </a:solidFill>
                <a:latin typeface="맑은 고딕"/>
                <a:ea typeface="맑은 고딕"/>
                <a:cs typeface="맑은 고딕"/>
              </a:rPr>
              <a:t>③ 밤 일기 (reflection)</a:t>
            </a:r>
          </a:p>
          <a:p>
            <a:pPr algn="l">
              <a:lnSpc>
                <a:spcPct val="112000"/>
              </a:lnSpc>
              <a:spcBef>
                <a:spcPts val="0"/>
              </a:spcBef>
              <a:spcAft>
                <a:spcPts val="100"/>
              </a:spcAft>
            </a:pPr>
            <a:r>
              <a:rPr sz="1100" b="0" i="0">
                <a:solidFill>
                  <a:srgbClr val="1F2937"/>
                </a:solidFill>
                <a:latin typeface="맑은 고딕"/>
                <a:ea typeface="맑은 고딕"/>
                <a:cs typeface="맑은 고딕"/>
              </a:rPr>
              <a:t>하루를 일기로 압축 → 다음날의 기억으로</a:t>
            </a:r>
          </a:p>
        </p:txBody>
      </p:sp>
      <p:sp>
        <p:nvSpPr>
          <p:cNvPr id="16" name="TextBox 15"/>
          <p:cNvSpPr txBox="1"/>
          <p:nvPr/>
        </p:nvSpPr>
        <p:spPr>
          <a:xfrm>
            <a:off x="8961119" y="3063240"/>
            <a:ext cx="457200" cy="365760"/>
          </a:xfrm>
          <a:prstGeom prst="rect">
            <a:avLst/>
          </a:prstGeom>
          <a:noFill/>
        </p:spPr>
        <p:txBody>
          <a:bodyPr wrap="square" lIns="0" rIns="0" tIns="0" bIns="0">
            <a:spAutoFit/>
          </a:bodyPr>
          <a:lstStyle/>
          <a:p>
            <a:pPr algn="ctr">
              <a:lnSpc>
                <a:spcPct val="112000"/>
              </a:lnSpc>
              <a:spcBef>
                <a:spcPts val="0"/>
              </a:spcBef>
              <a:spcAft>
                <a:spcPts val="0"/>
              </a:spcAft>
            </a:pPr>
            <a:r>
              <a:rPr sz="1600" b="1" i="0">
                <a:solidFill>
                  <a:srgbClr val="6B7280"/>
                </a:solidFill>
                <a:latin typeface="맑은 고딕"/>
                <a:ea typeface="맑은 고딕"/>
                <a:cs typeface="맑은 고딕"/>
              </a:rPr>
              <a:t>→</a:t>
            </a:r>
          </a:p>
        </p:txBody>
      </p:sp>
      <p:sp>
        <p:nvSpPr>
          <p:cNvPr id="17" name="Rounded Rectangle 16"/>
          <p:cNvSpPr/>
          <p:nvPr/>
        </p:nvSpPr>
        <p:spPr>
          <a:xfrm>
            <a:off x="9436608" y="2560320"/>
            <a:ext cx="2203704" cy="137160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TextBox 17"/>
          <p:cNvSpPr txBox="1"/>
          <p:nvPr/>
        </p:nvSpPr>
        <p:spPr>
          <a:xfrm>
            <a:off x="9546336" y="2633472"/>
            <a:ext cx="1984248" cy="1225296"/>
          </a:xfrm>
          <a:prstGeom prst="rect">
            <a:avLst/>
          </a:prstGeom>
          <a:noFill/>
        </p:spPr>
        <p:txBody>
          <a:bodyPr wrap="square" lIns="0" rIns="0" tIns="0" bIns="0">
            <a:spAutoFit/>
          </a:bodyPr>
          <a:lstStyle/>
          <a:p>
            <a:pPr algn="l">
              <a:lnSpc>
                <a:spcPct val="112000"/>
              </a:lnSpc>
              <a:spcBef>
                <a:spcPts val="0"/>
              </a:spcBef>
              <a:spcAft>
                <a:spcPts val="200"/>
              </a:spcAft>
            </a:pPr>
            <a:r>
              <a:rPr sz="1250" b="1" i="0">
                <a:solidFill>
                  <a:srgbClr val="2E9E6B"/>
                </a:solidFill>
                <a:latin typeface="맑은 고딕"/>
                <a:ea typeface="맑은 고딕"/>
                <a:cs typeface="맑은 고딕"/>
              </a:rPr>
              <a:t>④ [▶다음날]</a:t>
            </a:r>
          </a:p>
          <a:p>
            <a:pPr algn="l">
              <a:lnSpc>
                <a:spcPct val="112000"/>
              </a:lnSpc>
              <a:spcBef>
                <a:spcPts val="0"/>
              </a:spcBef>
              <a:spcAft>
                <a:spcPts val="100"/>
              </a:spcAft>
            </a:pPr>
            <a:r>
              <a:rPr sz="1100" b="0" i="0">
                <a:solidFill>
                  <a:srgbClr val="1F2937"/>
                </a:solidFill>
                <a:latin typeface="맑은 고딕"/>
                <a:ea typeface="맑은 고딕"/>
                <a:cs typeface="맑은 고딕"/>
              </a:rPr>
              <a:t>며칠이고 이어서 — 전파의 시간 구조</a:t>
            </a:r>
          </a:p>
        </p:txBody>
      </p:sp>
      <p:sp>
        <p:nvSpPr>
          <p:cNvPr id="19" name="Rounded Rectangle 18"/>
          <p:cNvSpPr/>
          <p:nvPr/>
        </p:nvSpPr>
        <p:spPr>
          <a:xfrm>
            <a:off x="548640" y="4160520"/>
            <a:ext cx="5394960" cy="192024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0" name="TextBox 19"/>
          <p:cNvSpPr txBox="1"/>
          <p:nvPr/>
        </p:nvSpPr>
        <p:spPr>
          <a:xfrm>
            <a:off x="777240" y="4315968"/>
            <a:ext cx="4937760" cy="1645920"/>
          </a:xfrm>
          <a:prstGeom prst="rect">
            <a:avLst/>
          </a:prstGeom>
          <a:noFill/>
        </p:spPr>
        <p:txBody>
          <a:bodyPr wrap="square" lIns="0" rIns="0" tIns="0" bIns="0">
            <a:spAutoFit/>
          </a:bodyPr>
          <a:lstStyle/>
          <a:p>
            <a:pPr algn="l">
              <a:lnSpc>
                <a:spcPct val="112000"/>
              </a:lnSpc>
              <a:spcBef>
                <a:spcPts val="0"/>
              </a:spcBef>
              <a:spcAft>
                <a:spcPts val="600"/>
              </a:spcAft>
            </a:pPr>
            <a:r>
              <a:rPr sz="1350" b="1" i="0">
                <a:solidFill>
                  <a:srgbClr val="1F3A5F"/>
                </a:solidFill>
                <a:latin typeface="맑은 고딕"/>
                <a:ea typeface="맑은 고딕"/>
                <a:cs typeface="맑은 고딕"/>
              </a:rPr>
              <a:t>1일차 실측 (실제 LLM)</a:t>
            </a:r>
          </a:p>
          <a:p>
            <a:pPr algn="l">
              <a:lnSpc>
                <a:spcPct val="118000"/>
              </a:lnSpc>
              <a:spcBef>
                <a:spcPts val="0"/>
              </a:spcBef>
              <a:spcAft>
                <a:spcPts val="500"/>
              </a:spcAft>
            </a:pPr>
            <a:r>
              <a:rPr sz="1200" b="1" i="0">
                <a:solidFill>
                  <a:srgbClr val="2D6CDF"/>
                </a:solidFill>
                <a:latin typeface="맑은 고딕"/>
                <a:ea typeface="맑은 고딕"/>
                <a:cs typeface="맑은 고딕"/>
              </a:rPr>
              <a:t>•  </a:t>
            </a:r>
            <a:r>
              <a:rPr sz="1200" b="1" i="0">
                <a:solidFill>
                  <a:srgbClr val="1F2937"/>
                </a:solidFill>
                <a:latin typeface="맑은 고딕"/>
                <a:ea typeface="맑은 고딕"/>
                <a:cs typeface="맑은 고딕"/>
              </a:rPr>
              <a:t>10명 중 8명에게 전파</a:t>
            </a:r>
            <a:r>
              <a:rPr sz="1200" b="0" i="0">
                <a:solidFill>
                  <a:srgbClr val="6B7280"/>
                </a:solidFill>
                <a:latin typeface="맑은 고딕"/>
                <a:ea typeface="맑은 고딕"/>
                <a:cs typeface="맑은 고딕"/>
              </a:rPr>
              <a:t> — 카페가 허브 역할</a:t>
            </a:r>
          </a:p>
          <a:p>
            <a:pPr algn="l">
              <a:lnSpc>
                <a:spcPct val="118000"/>
              </a:lnSpc>
              <a:spcBef>
                <a:spcPts val="0"/>
              </a:spcBef>
              <a:spcAft>
                <a:spcPts val="500"/>
              </a:spcAft>
            </a:pPr>
            <a:r>
              <a:rPr sz="1200" b="1" i="0">
                <a:solidFill>
                  <a:srgbClr val="2D6CDF"/>
                </a:solidFill>
                <a:latin typeface="맑은 고딕"/>
                <a:ea typeface="맑은 고딕"/>
                <a:cs typeface="맑은 고딕"/>
              </a:rPr>
              <a:t>•  </a:t>
            </a:r>
            <a:r>
              <a:rPr sz="1200" b="1" i="0">
                <a:solidFill>
                  <a:srgbClr val="D9534F"/>
                </a:solidFill>
                <a:latin typeface="맑은 고딕"/>
                <a:ea typeface="맑은 고딕"/>
                <a:cs typeface="맑은 고딕"/>
              </a:rPr>
              <a:t>사각지대 2명</a:t>
            </a:r>
            <a:r>
              <a:rPr sz="1200" b="0" i="0">
                <a:solidFill>
                  <a:srgbClr val="6B7280"/>
                </a:solidFill>
                <a:latin typeface="맑은 고딕"/>
                <a:ea typeface="맑은 고딕"/>
                <a:cs typeface="맑은 고딕"/>
              </a:rPr>
              <a:t> — 동선이 겹치지 않은 모자(母子)</a:t>
            </a:r>
          </a:p>
          <a:p>
            <a:pPr algn="l">
              <a:lnSpc>
                <a:spcPct val="118000"/>
              </a:lnSpc>
              <a:spcBef>
                <a:spcPts val="0"/>
              </a:spcBef>
              <a:spcAft>
                <a:spcPts val="500"/>
              </a:spcAft>
            </a:pPr>
            <a:r>
              <a:rPr sz="1200" b="1" i="0">
                <a:solidFill>
                  <a:srgbClr val="2D6CDF"/>
                </a:solidFill>
                <a:latin typeface="맑은 고딕"/>
                <a:ea typeface="맑은 고딕"/>
                <a:cs typeface="맑은 고딕"/>
              </a:rPr>
              <a:t>•  </a:t>
            </a:r>
            <a:r>
              <a:rPr sz="1200" b="1" i="0">
                <a:solidFill>
                  <a:srgbClr val="2E9E6B"/>
                </a:solidFill>
                <a:latin typeface="맑은 고딕"/>
                <a:ea typeface="맑은 고딕"/>
                <a:cs typeface="맑은 고딕"/>
              </a:rPr>
              <a:t>근거 없는 인지 누수 0</a:t>
            </a:r>
            <a:r>
              <a:rPr sz="1200" b="0" i="0">
                <a:solidFill>
                  <a:srgbClr val="6B7280"/>
                </a:solidFill>
                <a:latin typeface="맑은 고딕"/>
                <a:ea typeface="맑은 고딕"/>
                <a:cs typeface="맑은 고딕"/>
              </a:rPr>
              <a:t> — 전파 게이트가 코드로 보증</a:t>
            </a:r>
          </a:p>
        </p:txBody>
      </p:sp>
      <p:sp>
        <p:nvSpPr>
          <p:cNvPr id="21" name="Rounded Rectangle 20"/>
          <p:cNvSpPr/>
          <p:nvPr/>
        </p:nvSpPr>
        <p:spPr>
          <a:xfrm>
            <a:off x="6245352" y="4160520"/>
            <a:ext cx="5394960" cy="1920240"/>
          </a:xfrm>
          <a:prstGeom prst="roundRect">
            <a:avLst>
              <a:gd name="adj" fmla="val 8000"/>
            </a:avLst>
          </a:prstGeom>
          <a:solidFill>
            <a:srgbClr val="EAF6F0"/>
          </a:solidFill>
          <a:ln w="12700">
            <a:solidFill>
              <a:srgbClr val="2E9E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2" name="TextBox 21"/>
          <p:cNvSpPr txBox="1"/>
          <p:nvPr/>
        </p:nvSpPr>
        <p:spPr>
          <a:xfrm>
            <a:off x="6473952" y="4315968"/>
            <a:ext cx="4937760" cy="1645920"/>
          </a:xfrm>
          <a:prstGeom prst="rect">
            <a:avLst/>
          </a:prstGeom>
          <a:noFill/>
        </p:spPr>
        <p:txBody>
          <a:bodyPr wrap="square" lIns="0" rIns="0" tIns="0" bIns="0">
            <a:spAutoFit/>
          </a:bodyPr>
          <a:lstStyle/>
          <a:p>
            <a:pPr algn="l">
              <a:lnSpc>
                <a:spcPct val="112000"/>
              </a:lnSpc>
              <a:spcBef>
                <a:spcPts val="0"/>
              </a:spcBef>
              <a:spcAft>
                <a:spcPts val="600"/>
              </a:spcAft>
            </a:pPr>
            <a:r>
              <a:rPr sz="1350" b="1" i="0">
                <a:solidFill>
                  <a:srgbClr val="2E9E6B"/>
                </a:solidFill>
                <a:latin typeface="맑은 고딕"/>
                <a:ea typeface="맑은 고딕"/>
                <a:cs typeface="맑은 고딕"/>
              </a:rPr>
              <a:t>폐기했던 ‘전파’가 정당하게 부활</a:t>
            </a:r>
          </a:p>
          <a:p>
            <a:pPr algn="l">
              <a:lnSpc>
                <a:spcPct val="130000"/>
              </a:lnSpc>
              <a:spcBef>
                <a:spcPts val="0"/>
              </a:spcBef>
              <a:spcAft>
                <a:spcPts val="0"/>
              </a:spcAft>
            </a:pPr>
            <a:r>
              <a:rPr sz="1200" b="0" i="0">
                <a:solidFill>
                  <a:srgbClr val="1F2937"/>
                </a:solidFill>
                <a:latin typeface="맑은 고딕"/>
                <a:ea typeface="맑은 고딕"/>
                <a:cs typeface="맑은 고딕"/>
              </a:rPr>
              <a:t>축 A의 전파 그래프는 ‘서로 모르는 통계 샘플’이라 버렸다(03장). 미리마을은 서로 아는 고정 캐스트 — 여기서의 전파는 연출이 아니라 관계와 동선의 결과다.</a:t>
            </a:r>
          </a:p>
        </p:txBody>
      </p:sp>
      <p:sp>
        <p:nvSpPr>
          <p:cNvPr id="23" name="TextBox 22"/>
          <p:cNvSpPr txBox="1"/>
          <p:nvPr/>
        </p:nvSpPr>
        <p:spPr>
          <a:xfrm>
            <a:off x="548640" y="6144768"/>
            <a:ext cx="11091672" cy="329184"/>
          </a:xfrm>
          <a:prstGeom prst="rect">
            <a:avLst/>
          </a:prstGeom>
          <a:noFill/>
        </p:spPr>
        <p:txBody>
          <a:bodyPr wrap="square" lIns="0" rIns="0" tIns="0" bIns="0">
            <a:spAutoFit/>
          </a:bodyPr>
          <a:lstStyle/>
          <a:p>
            <a:pPr algn="ctr">
              <a:lnSpc>
                <a:spcPct val="112000"/>
              </a:lnSpc>
              <a:spcBef>
                <a:spcPts val="0"/>
              </a:spcBef>
              <a:spcAft>
                <a:spcPts val="0"/>
              </a:spcAft>
            </a:pPr>
            <a:r>
              <a:rPr sz="1250" b="1" i="0">
                <a:solidFill>
                  <a:srgbClr val="D9534F"/>
                </a:solidFill>
                <a:latin typeface="맑은 고딕"/>
                <a:ea typeface="맑은 고딕"/>
                <a:cs typeface="맑은 고딕"/>
              </a:rPr>
              <a:t>🎬 여기서 라이브 데모 — 미리마을 재생 60~90초 (재생은 LLM 0콜 = 네트워크가 죽어도 안전)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06 마무리</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4일 · 4명 — 서로를 깨지 않기 위한 규율</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18</a:t>
            </a:r>
          </a:p>
        </p:txBody>
      </p:sp>
      <p:sp>
        <p:nvSpPr>
          <p:cNvPr id="6" name="Rounded Rectangle 5"/>
          <p:cNvSpPr/>
          <p:nvPr/>
        </p:nvSpPr>
        <p:spPr>
          <a:xfrm>
            <a:off x="548640" y="1691640"/>
            <a:ext cx="5394960" cy="123444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749808" y="1810512"/>
            <a:ext cx="5029200" cy="1005840"/>
          </a:xfrm>
          <a:prstGeom prst="rect">
            <a:avLst/>
          </a:prstGeom>
          <a:noFill/>
        </p:spPr>
        <p:txBody>
          <a:bodyPr wrap="square" lIns="0" rIns="0" tIns="0" bIns="0">
            <a:spAutoFit/>
          </a:bodyPr>
          <a:lstStyle/>
          <a:p>
            <a:pPr algn="l">
              <a:lnSpc>
                <a:spcPct val="112000"/>
              </a:lnSpc>
              <a:spcBef>
                <a:spcPts val="0"/>
              </a:spcBef>
              <a:spcAft>
                <a:spcPts val="300"/>
              </a:spcAft>
            </a:pPr>
            <a:r>
              <a:rPr sz="1350" b="1" i="0">
                <a:solidFill>
                  <a:srgbClr val="1F3A5F"/>
                </a:solidFill>
                <a:latin typeface="맑은 고딕"/>
                <a:ea typeface="맑은 고딕"/>
                <a:cs typeface="맑은 고딕"/>
              </a:rPr>
              <a:t>state.py = 팀 계약</a:t>
            </a:r>
          </a:p>
          <a:p>
            <a:pPr algn="l">
              <a:lnSpc>
                <a:spcPct val="120000"/>
              </a:lnSpc>
              <a:spcBef>
                <a:spcPts val="0"/>
              </a:spcBef>
              <a:spcAft>
                <a:spcPts val="0"/>
              </a:spcAft>
            </a:pPr>
            <a:r>
              <a:rPr sz="1100" b="0" i="0">
                <a:solidFill>
                  <a:srgbClr val="1F2937"/>
                </a:solidFill>
                <a:latin typeface="맑은 고딕"/>
                <a:ea typeface="맑은 고딕"/>
                <a:cs typeface="맑은 고딕"/>
              </a:rPr>
              <a:t>공유 스키마는 기존 필드 변경 금지, 추가만(additive). 4명이 같은 계약을 읽고 쓴다.</a:t>
            </a:r>
          </a:p>
        </p:txBody>
      </p:sp>
      <p:sp>
        <p:nvSpPr>
          <p:cNvPr id="8" name="Rounded Rectangle 7"/>
          <p:cNvSpPr/>
          <p:nvPr/>
        </p:nvSpPr>
        <p:spPr>
          <a:xfrm>
            <a:off x="6245352" y="1691640"/>
            <a:ext cx="5394960" cy="123444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6446520" y="1810512"/>
            <a:ext cx="5029200" cy="1005840"/>
          </a:xfrm>
          <a:prstGeom prst="rect">
            <a:avLst/>
          </a:prstGeom>
          <a:noFill/>
        </p:spPr>
        <p:txBody>
          <a:bodyPr wrap="square" lIns="0" rIns="0" tIns="0" bIns="0">
            <a:spAutoFit/>
          </a:bodyPr>
          <a:lstStyle/>
          <a:p>
            <a:pPr algn="l">
              <a:lnSpc>
                <a:spcPct val="112000"/>
              </a:lnSpc>
              <a:spcBef>
                <a:spcPts val="0"/>
              </a:spcBef>
              <a:spcAft>
                <a:spcPts val="300"/>
              </a:spcAft>
            </a:pPr>
            <a:r>
              <a:rPr sz="1350" b="1" i="0">
                <a:solidFill>
                  <a:srgbClr val="1F3A5F"/>
                </a:solidFill>
                <a:latin typeface="맑은 고딕"/>
                <a:ea typeface="맑은 고딕"/>
                <a:cs typeface="맑은 고딕"/>
              </a:rPr>
              <a:t>mock 모드 = 발표 안전망</a:t>
            </a:r>
          </a:p>
          <a:p>
            <a:pPr algn="l">
              <a:lnSpc>
                <a:spcPct val="120000"/>
              </a:lnSpc>
              <a:spcBef>
                <a:spcPts val="0"/>
              </a:spcBef>
              <a:spcAft>
                <a:spcPts val="0"/>
              </a:spcAft>
            </a:pPr>
            <a:r>
              <a:rPr sz="1100" b="0" i="0">
                <a:solidFill>
                  <a:srgbClr val="1F2937"/>
                </a:solidFill>
                <a:latin typeface="맑은 고딕"/>
                <a:ea typeface="맑은 고딕"/>
                <a:cs typeface="맑은 고딕"/>
              </a:rPr>
              <a:t>API 키·네트워크 없이 전체 UI 시연. 발표 중 장애에도 데모는 죽지 않는다.</a:t>
            </a:r>
          </a:p>
        </p:txBody>
      </p:sp>
      <p:sp>
        <p:nvSpPr>
          <p:cNvPr id="10" name="Rounded Rectangle 9"/>
          <p:cNvSpPr/>
          <p:nvPr/>
        </p:nvSpPr>
        <p:spPr>
          <a:xfrm>
            <a:off x="548640" y="3063240"/>
            <a:ext cx="5394960" cy="123444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749808" y="3182112"/>
            <a:ext cx="5029200" cy="1005840"/>
          </a:xfrm>
          <a:prstGeom prst="rect">
            <a:avLst/>
          </a:prstGeom>
          <a:noFill/>
        </p:spPr>
        <p:txBody>
          <a:bodyPr wrap="square" lIns="0" rIns="0" tIns="0" bIns="0">
            <a:spAutoFit/>
          </a:bodyPr>
          <a:lstStyle/>
          <a:p>
            <a:pPr algn="l">
              <a:lnSpc>
                <a:spcPct val="112000"/>
              </a:lnSpc>
              <a:spcBef>
                <a:spcPts val="0"/>
              </a:spcBef>
              <a:spcAft>
                <a:spcPts val="300"/>
              </a:spcAft>
            </a:pPr>
            <a:r>
              <a:rPr sz="1350" b="1" i="0">
                <a:solidFill>
                  <a:srgbClr val="1F3A5F"/>
                </a:solidFill>
                <a:latin typeface="맑은 고딕"/>
                <a:ea typeface="맑은 고딕"/>
                <a:cs typeface="맑은 고딕"/>
              </a:rPr>
              <a:t>import 부작용 0</a:t>
            </a:r>
          </a:p>
          <a:p>
            <a:pPr algn="l">
              <a:lnSpc>
                <a:spcPct val="120000"/>
              </a:lnSpc>
              <a:spcBef>
                <a:spcPts val="0"/>
              </a:spcBef>
              <a:spcAft>
                <a:spcPts val="0"/>
              </a:spcAft>
            </a:pPr>
            <a:r>
              <a:rPr sz="1100" b="0" i="0">
                <a:solidFill>
                  <a:srgbClr val="1F2937"/>
                </a:solidFill>
                <a:latin typeface="맑은 고딕"/>
                <a:ea typeface="맑은 고딕"/>
                <a:cs typeface="맑은 고딕"/>
              </a:rPr>
              <a:t>어떤 모듈도 import 시 네트워크/LLM 호출 없음. 실행은 버튼을 눌렀을 때만.</a:t>
            </a:r>
          </a:p>
        </p:txBody>
      </p:sp>
      <p:sp>
        <p:nvSpPr>
          <p:cNvPr id="12" name="Rounded Rectangle 11"/>
          <p:cNvSpPr/>
          <p:nvPr/>
        </p:nvSpPr>
        <p:spPr>
          <a:xfrm>
            <a:off x="6245352" y="3063240"/>
            <a:ext cx="5394960" cy="123444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6446520" y="3182112"/>
            <a:ext cx="5029200" cy="1005840"/>
          </a:xfrm>
          <a:prstGeom prst="rect">
            <a:avLst/>
          </a:prstGeom>
          <a:noFill/>
        </p:spPr>
        <p:txBody>
          <a:bodyPr wrap="square" lIns="0" rIns="0" tIns="0" bIns="0">
            <a:spAutoFit/>
          </a:bodyPr>
          <a:lstStyle/>
          <a:p>
            <a:pPr algn="l">
              <a:lnSpc>
                <a:spcPct val="112000"/>
              </a:lnSpc>
              <a:spcBef>
                <a:spcPts val="0"/>
              </a:spcBef>
              <a:spcAft>
                <a:spcPts val="300"/>
              </a:spcAft>
            </a:pPr>
            <a:r>
              <a:rPr sz="1350" b="1" i="0">
                <a:solidFill>
                  <a:srgbClr val="1F3A5F"/>
                </a:solidFill>
                <a:latin typeface="맑은 고딕"/>
                <a:ea typeface="맑은 고딕"/>
                <a:cs typeface="맑은 고딕"/>
              </a:rPr>
              <a:t>헤드리스 회귀 스크립트</a:t>
            </a:r>
          </a:p>
          <a:p>
            <a:pPr algn="l">
              <a:lnSpc>
                <a:spcPct val="120000"/>
              </a:lnSpc>
              <a:spcBef>
                <a:spcPts val="0"/>
              </a:spcBef>
              <a:spcAft>
                <a:spcPts val="0"/>
              </a:spcAft>
            </a:pPr>
            <a:r>
              <a:rPr sz="1100" b="0" i="0">
                <a:solidFill>
                  <a:srgbClr val="1F2937"/>
                </a:solidFill>
                <a:latin typeface="맑은 고딕"/>
                <a:ea typeface="맑은 고딕"/>
                <a:cs typeface="맑은 고딕"/>
              </a:rPr>
              <a:t>선별·게이지·히트맵·전체 앱 스모크 — 변경할 때마다 키 없이 자동 검증.</a:t>
            </a:r>
          </a:p>
        </p:txBody>
      </p:sp>
      <p:sp>
        <p:nvSpPr>
          <p:cNvPr id="14" name="Rounded Rectangle 13"/>
          <p:cNvSpPr/>
          <p:nvPr/>
        </p:nvSpPr>
        <p:spPr>
          <a:xfrm>
            <a:off x="548640" y="4434840"/>
            <a:ext cx="5394960" cy="123444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TextBox 14"/>
          <p:cNvSpPr txBox="1"/>
          <p:nvPr/>
        </p:nvSpPr>
        <p:spPr>
          <a:xfrm>
            <a:off x="749808" y="4553712"/>
            <a:ext cx="5029200" cy="1005840"/>
          </a:xfrm>
          <a:prstGeom prst="rect">
            <a:avLst/>
          </a:prstGeom>
          <a:noFill/>
        </p:spPr>
        <p:txBody>
          <a:bodyPr wrap="square" lIns="0" rIns="0" tIns="0" bIns="0">
            <a:spAutoFit/>
          </a:bodyPr>
          <a:lstStyle/>
          <a:p>
            <a:pPr algn="l">
              <a:lnSpc>
                <a:spcPct val="112000"/>
              </a:lnSpc>
              <a:spcBef>
                <a:spcPts val="0"/>
              </a:spcBef>
              <a:spcAft>
                <a:spcPts val="300"/>
              </a:spcAft>
            </a:pPr>
            <a:r>
              <a:rPr sz="1350" b="1" i="0">
                <a:solidFill>
                  <a:srgbClr val="1F3A5F"/>
                </a:solidFill>
                <a:latin typeface="맑은 고딕"/>
                <a:ea typeface="맑은 고딕"/>
                <a:cs typeface="맑은 고딕"/>
              </a:rPr>
              <a:t>탭 격리</a:t>
            </a:r>
          </a:p>
          <a:p>
            <a:pPr algn="l">
              <a:lnSpc>
                <a:spcPct val="120000"/>
              </a:lnSpc>
              <a:spcBef>
                <a:spcPts val="0"/>
              </a:spcBef>
              <a:spcAft>
                <a:spcPts val="0"/>
              </a:spcAft>
            </a:pPr>
            <a:r>
              <a:rPr sz="1100" b="0" i="0">
                <a:solidFill>
                  <a:srgbClr val="1F2937"/>
                </a:solidFill>
                <a:latin typeface="맑은 고딕"/>
                <a:ea typeface="맑은 고딕"/>
                <a:cs typeface="맑은 고딕"/>
              </a:rPr>
              <a:t>한 탭이 죽어도 다른 탭은 산다 — 각 탭을 try/except로 격리.</a:t>
            </a:r>
          </a:p>
        </p:txBody>
      </p:sp>
      <p:sp>
        <p:nvSpPr>
          <p:cNvPr id="16" name="Rounded Rectangle 15"/>
          <p:cNvSpPr/>
          <p:nvPr/>
        </p:nvSpPr>
        <p:spPr>
          <a:xfrm>
            <a:off x="6245352" y="4434840"/>
            <a:ext cx="5394960" cy="1234440"/>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7" name="TextBox 16"/>
          <p:cNvSpPr txBox="1"/>
          <p:nvPr/>
        </p:nvSpPr>
        <p:spPr>
          <a:xfrm>
            <a:off x="6446520" y="4553712"/>
            <a:ext cx="5029200" cy="1005840"/>
          </a:xfrm>
          <a:prstGeom prst="rect">
            <a:avLst/>
          </a:prstGeom>
          <a:noFill/>
        </p:spPr>
        <p:txBody>
          <a:bodyPr wrap="square" lIns="0" rIns="0" tIns="0" bIns="0">
            <a:spAutoFit/>
          </a:bodyPr>
          <a:lstStyle/>
          <a:p>
            <a:pPr algn="l">
              <a:lnSpc>
                <a:spcPct val="112000"/>
              </a:lnSpc>
              <a:spcBef>
                <a:spcPts val="0"/>
              </a:spcBef>
              <a:spcAft>
                <a:spcPts val="300"/>
              </a:spcAft>
            </a:pPr>
            <a:r>
              <a:rPr sz="1350" b="1" i="0">
                <a:solidFill>
                  <a:srgbClr val="1F3A5F"/>
                </a:solidFill>
                <a:latin typeface="맑은 고딕"/>
                <a:ea typeface="맑은 고딕"/>
                <a:cs typeface="맑은 고딕"/>
              </a:rPr>
              <a:t>XSS 방어</a:t>
            </a:r>
          </a:p>
          <a:p>
            <a:pPr algn="l">
              <a:lnSpc>
                <a:spcPct val="120000"/>
              </a:lnSpc>
              <a:spcBef>
                <a:spcPts val="0"/>
              </a:spcBef>
              <a:spcAft>
                <a:spcPts val="0"/>
              </a:spcAft>
            </a:pPr>
            <a:r>
              <a:rPr sz="1100" b="0" i="0">
                <a:solidFill>
                  <a:srgbClr val="1F2937"/>
                </a:solidFill>
                <a:latin typeface="맑은 고딕"/>
                <a:ea typeface="맑은 고딕"/>
                <a:cs typeface="맑은 고딕"/>
              </a:rPr>
              <a:t>LLM 자유 텍스트·시민 이름은 화면에 닿기 전 전부 escape.</a:t>
            </a:r>
          </a:p>
        </p:txBody>
      </p:sp>
      <p:sp>
        <p:nvSpPr>
          <p:cNvPr id="18" name="TextBox 17"/>
          <p:cNvSpPr txBox="1"/>
          <p:nvPr/>
        </p:nvSpPr>
        <p:spPr>
          <a:xfrm>
            <a:off x="548640" y="5852160"/>
            <a:ext cx="11091672" cy="457200"/>
          </a:xfrm>
          <a:prstGeom prst="rect">
            <a:avLst/>
          </a:prstGeom>
          <a:noFill/>
        </p:spPr>
        <p:txBody>
          <a:bodyPr wrap="square" lIns="0" rIns="0" tIns="0" bIns="0">
            <a:spAutoFit/>
          </a:bodyPr>
          <a:lstStyle/>
          <a:p>
            <a:pPr algn="ctr">
              <a:lnSpc>
                <a:spcPct val="112000"/>
              </a:lnSpc>
              <a:spcBef>
                <a:spcPts val="0"/>
              </a:spcBef>
              <a:spcAft>
                <a:spcPts val="0"/>
              </a:spcAft>
            </a:pPr>
            <a:r>
              <a:rPr sz="1150" b="0" i="0">
                <a:solidFill>
                  <a:srgbClr val="6B7280"/>
                </a:solidFill>
                <a:latin typeface="맑은 고딕"/>
                <a:ea typeface="맑은 고딕"/>
                <a:cs typeface="맑은 고딕"/>
              </a:rPr>
              <a:t>역할 분담 — (발표 전 채워주세요: 데이터/페르소나 · Agent/프롬프트 · 대시보드/지표 · UI/시각화)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600200" cy="29260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12000"/>
              </a:lnSpc>
              <a:spcBef>
                <a:spcPts val="0"/>
              </a:spcBef>
              <a:spcAft>
                <a:spcPts val="0"/>
              </a:spcAft>
            </a:pPr>
            <a:r>
              <a:rPr sz="1100" b="1" i="0">
                <a:solidFill>
                  <a:srgbClr val="FFFFFF"/>
                </a:solidFill>
                <a:latin typeface="맑은 고딕"/>
                <a:ea typeface="맑은 고딕"/>
                <a:cs typeface="맑은 고딕"/>
              </a:rPr>
              <a:t>06 마무리</a:t>
            </a:r>
          </a:p>
        </p:txBody>
      </p:sp>
      <p:sp>
        <p:nvSpPr>
          <p:cNvPr id="3" name="TextBox 2"/>
          <p:cNvSpPr txBox="1"/>
          <p:nvPr/>
        </p:nvSpPr>
        <p:spPr>
          <a:xfrm>
            <a:off x="548640" y="749808"/>
            <a:ext cx="11094415" cy="685800"/>
          </a:xfrm>
          <a:prstGeom prst="rect">
            <a:avLst/>
          </a:prstGeom>
          <a:noFill/>
        </p:spPr>
        <p:txBody>
          <a:bodyPr wrap="square" lIns="0" rIns="0" tIns="0" bIns="0">
            <a:spAutoFit/>
          </a:bodyPr>
          <a:lstStyle/>
          <a:p>
            <a:pPr algn="l">
              <a:lnSpc>
                <a:spcPct val="112000"/>
              </a:lnSpc>
              <a:spcBef>
                <a:spcPts val="0"/>
              </a:spcBef>
              <a:spcAft>
                <a:spcPts val="0"/>
              </a:spcAft>
            </a:pPr>
            <a:r>
              <a:rPr sz="2700" b="1" i="0">
                <a:solidFill>
                  <a:srgbClr val="1F3A5F"/>
                </a:solidFill>
                <a:latin typeface="맑은 고딕"/>
                <a:ea typeface="맑은 고딕"/>
                <a:cs typeface="맑은 고딕"/>
              </a:rPr>
              <a:t>한계 — 검증 공격을 받기 전에, 우리가 먼저 말한다</a:t>
            </a:r>
          </a:p>
        </p:txBody>
      </p:sp>
      <p:sp>
        <p:nvSpPr>
          <p:cNvPr id="4" name="TextBox 3"/>
          <p:cNvSpPr txBox="1"/>
          <p:nvPr/>
        </p:nvSpPr>
        <p:spPr>
          <a:xfrm>
            <a:off x="548640" y="6528816"/>
            <a:ext cx="11094415" cy="274320"/>
          </a:xfrm>
          <a:prstGeom prst="rect">
            <a:avLst/>
          </a:prstGeom>
          <a:noFill/>
        </p:spPr>
        <p:txBody>
          <a:bodyPr wrap="square" lIns="0" rIns="0" tIns="0" bIns="0">
            <a:spAutoFit/>
          </a:bodyPr>
          <a:lstStyle/>
          <a:p>
            <a:pPr algn="l">
              <a:lnSpc>
                <a:spcPct val="112000"/>
              </a:lnSpc>
              <a:spcBef>
                <a:spcPts val="0"/>
              </a:spcBef>
              <a:spcAft>
                <a:spcPts val="0"/>
              </a:spcAft>
            </a:pPr>
            <a:r>
              <a:rPr sz="900" b="1" i="0">
                <a:solidFill>
                  <a:srgbClr val="6B7280"/>
                </a:solidFill>
                <a:latin typeface="맑은 고딕"/>
                <a:ea typeface="맑은 고딕"/>
                <a:cs typeface="맑은 고딕"/>
              </a:rPr>
              <a:t>미리랩</a:t>
            </a:r>
            <a:r>
              <a:rPr sz="900" b="0" i="0">
                <a:solidFill>
                  <a:srgbClr val="6B7280"/>
                </a:solidFill>
                <a:latin typeface="맑은 고딕"/>
                <a:ea typeface="맑은 고딕"/>
                <a:cs typeface="맑은 고딕"/>
              </a:rPr>
              <a:t>  ·  AI 시민 사회 정책 실험실</a:t>
            </a:r>
          </a:p>
        </p:txBody>
      </p:sp>
      <p:sp>
        <p:nvSpPr>
          <p:cNvPr id="5" name="TextBox 4"/>
          <p:cNvSpPr txBox="1"/>
          <p:nvPr/>
        </p:nvSpPr>
        <p:spPr>
          <a:xfrm>
            <a:off x="11094415" y="6528816"/>
            <a:ext cx="548640" cy="274320"/>
          </a:xfrm>
          <a:prstGeom prst="rect">
            <a:avLst/>
          </a:prstGeom>
          <a:noFill/>
        </p:spPr>
        <p:txBody>
          <a:bodyPr wrap="square" lIns="0" rIns="0" tIns="0" bIns="0">
            <a:spAutoFit/>
          </a:bodyPr>
          <a:lstStyle/>
          <a:p>
            <a:pPr algn="r">
              <a:lnSpc>
                <a:spcPct val="112000"/>
              </a:lnSpc>
              <a:spcBef>
                <a:spcPts val="0"/>
              </a:spcBef>
              <a:spcAft>
                <a:spcPts val="0"/>
              </a:spcAft>
            </a:pPr>
            <a:r>
              <a:rPr sz="900" b="0" i="0">
                <a:solidFill>
                  <a:srgbClr val="6B7280"/>
                </a:solidFill>
                <a:latin typeface="맑은 고딕"/>
                <a:ea typeface="맑은 고딕"/>
                <a:cs typeface="맑은 고딕"/>
              </a:rPr>
              <a:t>19</a:t>
            </a:r>
          </a:p>
        </p:txBody>
      </p:sp>
      <p:sp>
        <p:nvSpPr>
          <p:cNvPr id="6" name="Rounded Rectangle 5"/>
          <p:cNvSpPr/>
          <p:nvPr/>
        </p:nvSpPr>
        <p:spPr>
          <a:xfrm>
            <a:off x="548640" y="1645920"/>
            <a:ext cx="11091672" cy="795528"/>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804672" y="1719072"/>
            <a:ext cx="10607040" cy="658368"/>
          </a:xfrm>
          <a:prstGeom prst="rect">
            <a:avLst/>
          </a:prstGeom>
          <a:noFill/>
        </p:spPr>
        <p:txBody>
          <a:bodyPr wrap="square" lIns="0" rIns="0" tIns="0" bIns="0">
            <a:spAutoFit/>
          </a:bodyPr>
          <a:lstStyle/>
          <a:p>
            <a:pPr algn="l">
              <a:lnSpc>
                <a:spcPct val="118000"/>
              </a:lnSpc>
              <a:spcBef>
                <a:spcPts val="0"/>
              </a:spcBef>
              <a:spcAft>
                <a:spcPts val="0"/>
              </a:spcAft>
            </a:pPr>
            <a:r>
              <a:rPr sz="1300" b="1" i="0">
                <a:solidFill>
                  <a:srgbClr val="1F3A5F"/>
                </a:solidFill>
                <a:latin typeface="맑은 고딕"/>
                <a:ea typeface="맑은 고딕"/>
                <a:cs typeface="맑은 고딕"/>
              </a:rPr>
              <a:t>미래를 맞히는 도구가 아니다   </a:t>
            </a:r>
            <a:r>
              <a:rPr sz="1180" b="0" i="0">
                <a:solidFill>
                  <a:srgbClr val="1F2937"/>
                </a:solidFill>
                <a:latin typeface="맑은 고딕"/>
                <a:ea typeface="맑은 고딕"/>
                <a:cs typeface="맑은 고딕"/>
              </a:rPr>
              <a:t>일관되게 ‘영향 시나리오’로 포지셔닝. 신뢰성은 예측 정확도가 아니라 ablation·집단화·견고성으로 방어한다.</a:t>
            </a:r>
          </a:p>
        </p:txBody>
      </p:sp>
      <p:sp>
        <p:nvSpPr>
          <p:cNvPr id="8" name="Rounded Rectangle 7"/>
          <p:cNvSpPr/>
          <p:nvPr/>
        </p:nvSpPr>
        <p:spPr>
          <a:xfrm>
            <a:off x="548640" y="2532888"/>
            <a:ext cx="11091672" cy="795528"/>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804672" y="2606040"/>
            <a:ext cx="10607040" cy="658368"/>
          </a:xfrm>
          <a:prstGeom prst="rect">
            <a:avLst/>
          </a:prstGeom>
          <a:noFill/>
        </p:spPr>
        <p:txBody>
          <a:bodyPr wrap="square" lIns="0" rIns="0" tIns="0" bIns="0">
            <a:spAutoFit/>
          </a:bodyPr>
          <a:lstStyle/>
          <a:p>
            <a:pPr algn="l">
              <a:lnSpc>
                <a:spcPct val="118000"/>
              </a:lnSpc>
              <a:spcBef>
                <a:spcPts val="0"/>
              </a:spcBef>
              <a:spcAft>
                <a:spcPts val="0"/>
              </a:spcAft>
            </a:pPr>
            <a:r>
              <a:rPr sz="1300" b="1" i="0">
                <a:solidFill>
                  <a:srgbClr val="1F3A5F"/>
                </a:solidFill>
                <a:latin typeface="맑은 고딕"/>
                <a:ea typeface="맑은 고딕"/>
                <a:cs typeface="맑은 고딕"/>
              </a:rPr>
              <a:t>소득 판정은 근사다   </a:t>
            </a:r>
            <a:r>
              <a:rPr sz="1180" b="0" i="0">
                <a:solidFill>
                  <a:srgbClr val="1F2937"/>
                </a:solidFill>
                <a:latin typeface="맑은 고딕"/>
                <a:ea typeface="맑은 고딕"/>
                <a:cs typeface="맑은 고딕"/>
              </a:rPr>
              <a:t>직업→소득 버킷은 휴리스틱. 나이는 하드 체크지만 소득은 그만큼 확실하지 않다.</a:t>
            </a:r>
          </a:p>
        </p:txBody>
      </p:sp>
      <p:sp>
        <p:nvSpPr>
          <p:cNvPr id="10" name="Rounded Rectangle 9"/>
          <p:cNvSpPr/>
          <p:nvPr/>
        </p:nvSpPr>
        <p:spPr>
          <a:xfrm>
            <a:off x="548640" y="3419856"/>
            <a:ext cx="11091672" cy="795528"/>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804672" y="3493008"/>
            <a:ext cx="10607040" cy="658368"/>
          </a:xfrm>
          <a:prstGeom prst="rect">
            <a:avLst/>
          </a:prstGeom>
          <a:noFill/>
        </p:spPr>
        <p:txBody>
          <a:bodyPr wrap="square" lIns="0" rIns="0" tIns="0" bIns="0">
            <a:spAutoFit/>
          </a:bodyPr>
          <a:lstStyle/>
          <a:p>
            <a:pPr algn="l">
              <a:lnSpc>
                <a:spcPct val="118000"/>
              </a:lnSpc>
              <a:spcBef>
                <a:spcPts val="0"/>
              </a:spcBef>
              <a:spcAft>
                <a:spcPts val="0"/>
              </a:spcAft>
            </a:pPr>
            <a:r>
              <a:rPr sz="1300" b="1" i="0">
                <a:solidFill>
                  <a:srgbClr val="1F3A5F"/>
                </a:solidFill>
                <a:latin typeface="맑은 고딕"/>
                <a:ea typeface="맑은 고딕"/>
                <a:cs typeface="맑은 고딕"/>
              </a:rPr>
              <a:t>현실성 프롬프트의 과교정   </a:t>
            </a:r>
            <a:r>
              <a:rPr sz="1180" b="0" i="0">
                <a:solidFill>
                  <a:srgbClr val="1F2937"/>
                </a:solidFill>
                <a:latin typeface="맑은 고딕"/>
                <a:ea typeface="맑은 고딕"/>
                <a:cs typeface="맑은 고딕"/>
              </a:rPr>
              <a:t>정상 정책의 혼란도도 다소 올라간다 — 미세 튜닝은 남은 과제.</a:t>
            </a:r>
          </a:p>
        </p:txBody>
      </p:sp>
      <p:sp>
        <p:nvSpPr>
          <p:cNvPr id="12" name="Rounded Rectangle 11"/>
          <p:cNvSpPr/>
          <p:nvPr/>
        </p:nvSpPr>
        <p:spPr>
          <a:xfrm>
            <a:off x="548640" y="4306824"/>
            <a:ext cx="11091672" cy="795528"/>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TextBox 12"/>
          <p:cNvSpPr txBox="1"/>
          <p:nvPr/>
        </p:nvSpPr>
        <p:spPr>
          <a:xfrm>
            <a:off x="804672" y="4379976"/>
            <a:ext cx="10607040" cy="658368"/>
          </a:xfrm>
          <a:prstGeom prst="rect">
            <a:avLst/>
          </a:prstGeom>
          <a:noFill/>
        </p:spPr>
        <p:txBody>
          <a:bodyPr wrap="square" lIns="0" rIns="0" tIns="0" bIns="0">
            <a:spAutoFit/>
          </a:bodyPr>
          <a:lstStyle/>
          <a:p>
            <a:pPr algn="l">
              <a:lnSpc>
                <a:spcPct val="118000"/>
              </a:lnSpc>
              <a:spcBef>
                <a:spcPts val="0"/>
              </a:spcBef>
              <a:spcAft>
                <a:spcPts val="0"/>
              </a:spcAft>
            </a:pPr>
            <a:r>
              <a:rPr sz="1300" b="1" i="0">
                <a:solidFill>
                  <a:srgbClr val="1F3A5F"/>
                </a:solidFill>
                <a:latin typeface="맑은 고딕"/>
                <a:ea typeface="맑은 고딕"/>
                <a:cs typeface="맑은 고딕"/>
              </a:rPr>
              <a:t>표본이 작다   </a:t>
            </a:r>
            <a:r>
              <a:rPr sz="1180" b="0" i="0">
                <a:solidFill>
                  <a:srgbClr val="1F2937"/>
                </a:solidFill>
                <a:latin typeface="맑은 고딕"/>
                <a:ea typeface="맑은 고딕"/>
                <a:cs typeface="맑은 고딕"/>
              </a:rPr>
              <a:t>시민 8~24명. 통계적 일반화가 아니라 ‘구조가 나타나는지’의 시연이다. 3명 대조는 의도된 좁힘 — 위에 전체 분포 헤드라인으로 보완.</a:t>
            </a:r>
          </a:p>
        </p:txBody>
      </p:sp>
      <p:sp>
        <p:nvSpPr>
          <p:cNvPr id="14" name="Rounded Rectangle 13"/>
          <p:cNvSpPr/>
          <p:nvPr/>
        </p:nvSpPr>
        <p:spPr>
          <a:xfrm>
            <a:off x="548640" y="5193792"/>
            <a:ext cx="11091672" cy="795528"/>
          </a:xfrm>
          <a:prstGeom prst="roundRect">
            <a:avLst>
              <a:gd name="adj" fmla="val 8000"/>
            </a:avLst>
          </a:prstGeom>
          <a:solidFill>
            <a:srgbClr val="F4F6FA"/>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TextBox 14"/>
          <p:cNvSpPr txBox="1"/>
          <p:nvPr/>
        </p:nvSpPr>
        <p:spPr>
          <a:xfrm>
            <a:off x="804672" y="5266944"/>
            <a:ext cx="10607040" cy="658368"/>
          </a:xfrm>
          <a:prstGeom prst="rect">
            <a:avLst/>
          </a:prstGeom>
          <a:noFill/>
        </p:spPr>
        <p:txBody>
          <a:bodyPr wrap="square" lIns="0" rIns="0" tIns="0" bIns="0">
            <a:spAutoFit/>
          </a:bodyPr>
          <a:lstStyle/>
          <a:p>
            <a:pPr algn="l">
              <a:lnSpc>
                <a:spcPct val="118000"/>
              </a:lnSpc>
              <a:spcBef>
                <a:spcPts val="0"/>
              </a:spcBef>
              <a:spcAft>
                <a:spcPts val="0"/>
              </a:spcAft>
            </a:pPr>
            <a:r>
              <a:rPr sz="1300" b="1" i="0">
                <a:solidFill>
                  <a:srgbClr val="1F3A5F"/>
                </a:solidFill>
                <a:latin typeface="맑은 고딕"/>
                <a:ea typeface="맑은 고딕"/>
                <a:cs typeface="맑은 고딕"/>
              </a:rPr>
              <a:t>LLM-judge의 순환   </a:t>
            </a:r>
            <a:r>
              <a:rPr sz="1180" b="0" i="0">
                <a:solidFill>
                  <a:srgbClr val="1F2937"/>
                </a:solidFill>
                <a:latin typeface="맑은 고딕"/>
                <a:ea typeface="맑은 고딕"/>
                <a:cs typeface="맑은 고딕"/>
              </a:rPr>
              <a:t>LLM이 LLM을 채점하는 한계 — 절대 점수보다 집단 간 비교와 대표 예시로 해석한다.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TextBox 2"/>
          <p:cNvSpPr txBox="1"/>
          <p:nvPr/>
        </p:nvSpPr>
        <p:spPr>
          <a:xfrm>
            <a:off x="914400" y="1051560"/>
            <a:ext cx="10362895" cy="2103120"/>
          </a:xfrm>
          <a:prstGeom prst="rect">
            <a:avLst/>
          </a:prstGeom>
          <a:noFill/>
        </p:spPr>
        <p:txBody>
          <a:bodyPr wrap="square" lIns="0" rIns="0" tIns="0" bIns="0">
            <a:spAutoFit/>
          </a:bodyPr>
          <a:lstStyle/>
          <a:p>
            <a:pPr algn="ctr">
              <a:lnSpc>
                <a:spcPct val="112000"/>
              </a:lnSpc>
              <a:spcBef>
                <a:spcPts val="0"/>
              </a:spcBef>
              <a:spcAft>
                <a:spcPts val="1000"/>
              </a:spcAft>
            </a:pPr>
            <a:r>
              <a:rPr sz="4000" b="1" i="0">
                <a:solidFill>
                  <a:srgbClr val="1F3A5F"/>
                </a:solidFill>
                <a:latin typeface="맑은 고딕"/>
                <a:ea typeface="맑은 고딕"/>
                <a:cs typeface="맑은 고딕"/>
              </a:rPr>
              <a:t>“같은 정책, 다른 인생.”</a:t>
            </a:r>
          </a:p>
          <a:p>
            <a:pPr algn="ctr">
              <a:lnSpc>
                <a:spcPct val="112000"/>
              </a:lnSpc>
              <a:spcBef>
                <a:spcPts val="0"/>
              </a:spcBef>
              <a:spcAft>
                <a:spcPts val="400"/>
              </a:spcAft>
            </a:pPr>
            <a:r>
              <a:rPr sz="1800" b="0" i="0">
                <a:solidFill>
                  <a:srgbClr val="1F2937"/>
                </a:solidFill>
                <a:latin typeface="맑은 고딕"/>
                <a:ea typeface="맑은 고딕"/>
                <a:cs typeface="맑은 고딕"/>
              </a:rPr>
              <a:t>미리랩은 그 갈림을 </a:t>
            </a:r>
            <a:r>
              <a:rPr sz="1800" b="1" i="0">
                <a:solidFill>
                  <a:srgbClr val="2D6CDF"/>
                </a:solidFill>
                <a:latin typeface="맑은 고딕"/>
                <a:ea typeface="맑은 고딕"/>
                <a:cs typeface="맑은 고딕"/>
              </a:rPr>
              <a:t>배포 전에</a:t>
            </a:r>
            <a:r>
              <a:rPr sz="1800" b="0" i="0">
                <a:solidFill>
                  <a:srgbClr val="1F2937"/>
                </a:solidFill>
                <a:latin typeface="맑은 고딕"/>
                <a:ea typeface="맑은 고딕"/>
                <a:cs typeface="맑은 고딕"/>
              </a:rPr>
              <a:t> 보여줍니다</a:t>
            </a:r>
          </a:p>
          <a:p>
            <a:pPr algn="ctr">
              <a:lnSpc>
                <a:spcPct val="112000"/>
              </a:lnSpc>
              <a:spcBef>
                <a:spcPts val="0"/>
              </a:spcBef>
              <a:spcAft>
                <a:spcPts val="0"/>
              </a:spcAft>
            </a:pPr>
            <a:r>
              <a:rPr sz="1500" b="0" i="0">
                <a:solidFill>
                  <a:srgbClr val="6B7280"/>
                </a:solidFill>
                <a:latin typeface="맑은 고딕"/>
                <a:ea typeface="맑은 고딕"/>
                <a:cs typeface="맑은 고딕"/>
              </a:rPr>
              <a:t>— 누가 이해 못 하고 · 누가 신청 못 하고 · 어디서 막히는지</a:t>
            </a:r>
          </a:p>
        </p:txBody>
      </p:sp>
      <p:sp>
        <p:nvSpPr>
          <p:cNvPr id="4" name="Rounded Rectangle 3"/>
          <p:cNvSpPr/>
          <p:nvPr/>
        </p:nvSpPr>
        <p:spPr>
          <a:xfrm>
            <a:off x="640080" y="3429000"/>
            <a:ext cx="2633472" cy="1234440"/>
          </a:xfrm>
          <a:prstGeom prst="roundRect">
            <a:avLst>
              <a:gd name="adj" fmla="val 8000"/>
            </a:avLst>
          </a:prstGeom>
          <a:solidFill>
            <a:srgbClr val="EAF0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804671" y="3566160"/>
            <a:ext cx="2331720" cy="1005840"/>
          </a:xfrm>
          <a:prstGeom prst="rect">
            <a:avLst/>
          </a:prstGeom>
          <a:noFill/>
        </p:spPr>
        <p:txBody>
          <a:bodyPr wrap="square" lIns="0" rIns="0" tIns="0" bIns="0">
            <a:spAutoFit/>
          </a:bodyPr>
          <a:lstStyle/>
          <a:p>
            <a:pPr algn="l">
              <a:lnSpc>
                <a:spcPct val="112000"/>
              </a:lnSpc>
              <a:spcBef>
                <a:spcPts val="0"/>
              </a:spcBef>
              <a:spcAft>
                <a:spcPts val="300"/>
              </a:spcAft>
            </a:pPr>
            <a:r>
              <a:rPr sz="1200" b="1" i="0">
                <a:solidFill>
                  <a:srgbClr val="1F3A5F"/>
                </a:solidFill>
                <a:latin typeface="맑은 고딕"/>
                <a:ea typeface="맑은 고딕"/>
                <a:cs typeface="맑은 고딕"/>
              </a:rPr>
              <a:t>다음 — 실데이터 대조</a:t>
            </a:r>
          </a:p>
          <a:p>
            <a:pPr algn="l">
              <a:lnSpc>
                <a:spcPct val="118000"/>
              </a:lnSpc>
              <a:spcBef>
                <a:spcPts val="0"/>
              </a:spcBef>
              <a:spcAft>
                <a:spcPts val="0"/>
              </a:spcAft>
            </a:pPr>
            <a:r>
              <a:rPr sz="1050" b="0" i="0">
                <a:solidFill>
                  <a:srgbClr val="1F2937"/>
                </a:solidFill>
                <a:latin typeface="맑은 고딕"/>
                <a:ea typeface="맑은 고딕"/>
                <a:cs typeface="맑은 고딕"/>
              </a:rPr>
              <a:t>실제 신청률·인지율 통계와 방향 대조 — 1순위</a:t>
            </a:r>
          </a:p>
        </p:txBody>
      </p:sp>
      <p:sp>
        <p:nvSpPr>
          <p:cNvPr id="6" name="Rounded Rectangle 5"/>
          <p:cNvSpPr/>
          <p:nvPr/>
        </p:nvSpPr>
        <p:spPr>
          <a:xfrm>
            <a:off x="3438144" y="3429000"/>
            <a:ext cx="2633472" cy="1234440"/>
          </a:xfrm>
          <a:prstGeom prst="roundRect">
            <a:avLst>
              <a:gd name="adj" fmla="val 8000"/>
            </a:avLst>
          </a:prstGeom>
          <a:solidFill>
            <a:srgbClr val="EAF0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7" name="TextBox 6"/>
          <p:cNvSpPr txBox="1"/>
          <p:nvPr/>
        </p:nvSpPr>
        <p:spPr>
          <a:xfrm>
            <a:off x="3602736" y="3566160"/>
            <a:ext cx="2331720" cy="1005840"/>
          </a:xfrm>
          <a:prstGeom prst="rect">
            <a:avLst/>
          </a:prstGeom>
          <a:noFill/>
        </p:spPr>
        <p:txBody>
          <a:bodyPr wrap="square" lIns="0" rIns="0" tIns="0" bIns="0">
            <a:spAutoFit/>
          </a:bodyPr>
          <a:lstStyle/>
          <a:p>
            <a:pPr algn="l">
              <a:lnSpc>
                <a:spcPct val="112000"/>
              </a:lnSpc>
              <a:spcBef>
                <a:spcPts val="0"/>
              </a:spcBef>
              <a:spcAft>
                <a:spcPts val="300"/>
              </a:spcAft>
            </a:pPr>
            <a:r>
              <a:rPr sz="1200" b="1" i="0">
                <a:solidFill>
                  <a:srgbClr val="1F3A5F"/>
                </a:solidFill>
                <a:latin typeface="맑은 고딕"/>
                <a:ea typeface="맑은 고딕"/>
                <a:cs typeface="맑은 고딕"/>
              </a:rPr>
              <a:t>다음 — 페르소나 RAG</a:t>
            </a:r>
          </a:p>
          <a:p>
            <a:pPr algn="l">
              <a:lnSpc>
                <a:spcPct val="118000"/>
              </a:lnSpc>
              <a:spcBef>
                <a:spcPts val="0"/>
              </a:spcBef>
              <a:spcAft>
                <a:spcPts val="0"/>
              </a:spcAft>
            </a:pPr>
            <a:r>
              <a:rPr sz="1050" b="0" i="0">
                <a:solidFill>
                  <a:srgbClr val="1F2937"/>
                </a:solidFill>
                <a:latin typeface="맑은 고딕"/>
                <a:ea typeface="맑은 고딕"/>
                <a:cs typeface="맑은 고딕"/>
              </a:rPr>
              <a:t>정책 태그를 검색 키로 · 스키마 확보</a:t>
            </a:r>
          </a:p>
        </p:txBody>
      </p:sp>
      <p:sp>
        <p:nvSpPr>
          <p:cNvPr id="8" name="Rounded Rectangle 7"/>
          <p:cNvSpPr/>
          <p:nvPr/>
        </p:nvSpPr>
        <p:spPr>
          <a:xfrm>
            <a:off x="6236208" y="3429000"/>
            <a:ext cx="2633472" cy="1234440"/>
          </a:xfrm>
          <a:prstGeom prst="roundRect">
            <a:avLst>
              <a:gd name="adj" fmla="val 8000"/>
            </a:avLst>
          </a:prstGeom>
          <a:solidFill>
            <a:srgbClr val="EAF0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TextBox 8"/>
          <p:cNvSpPr txBox="1"/>
          <p:nvPr/>
        </p:nvSpPr>
        <p:spPr>
          <a:xfrm>
            <a:off x="6400800" y="3566160"/>
            <a:ext cx="2331720" cy="1005840"/>
          </a:xfrm>
          <a:prstGeom prst="rect">
            <a:avLst/>
          </a:prstGeom>
          <a:noFill/>
        </p:spPr>
        <p:txBody>
          <a:bodyPr wrap="square" lIns="0" rIns="0" tIns="0" bIns="0">
            <a:spAutoFit/>
          </a:bodyPr>
          <a:lstStyle/>
          <a:p>
            <a:pPr algn="l">
              <a:lnSpc>
                <a:spcPct val="112000"/>
              </a:lnSpc>
              <a:spcBef>
                <a:spcPts val="0"/>
              </a:spcBef>
              <a:spcAft>
                <a:spcPts val="300"/>
              </a:spcAft>
            </a:pPr>
            <a:r>
              <a:rPr sz="1200" b="1" i="0">
                <a:solidFill>
                  <a:srgbClr val="1F3A5F"/>
                </a:solidFill>
                <a:latin typeface="맑은 고딕"/>
                <a:ea typeface="맑은 고딕"/>
                <a:cs typeface="맑은 고딕"/>
              </a:rPr>
              <a:t>다음 — 미리마을 확장</a:t>
            </a:r>
          </a:p>
          <a:p>
            <a:pPr algn="l">
              <a:lnSpc>
                <a:spcPct val="118000"/>
              </a:lnSpc>
              <a:spcBef>
                <a:spcPts val="0"/>
              </a:spcBef>
              <a:spcAft>
                <a:spcPts val="0"/>
              </a:spcAft>
            </a:pPr>
            <a:r>
              <a:rPr sz="1050" b="0" i="0">
                <a:solidFill>
                  <a:srgbClr val="1F2937"/>
                </a:solidFill>
                <a:latin typeface="맑은 고딕"/>
                <a:ea typeface="맑은 고딕"/>
                <a:cs typeface="맑은 고딕"/>
              </a:rPr>
              <a:t>누적 기억(B단계) · 적응 스케줄</a:t>
            </a:r>
          </a:p>
        </p:txBody>
      </p:sp>
      <p:sp>
        <p:nvSpPr>
          <p:cNvPr id="10" name="Rounded Rectangle 9"/>
          <p:cNvSpPr/>
          <p:nvPr/>
        </p:nvSpPr>
        <p:spPr>
          <a:xfrm>
            <a:off x="9034272" y="3429000"/>
            <a:ext cx="2633472" cy="1234440"/>
          </a:xfrm>
          <a:prstGeom prst="roundRect">
            <a:avLst>
              <a:gd name="adj" fmla="val 8000"/>
            </a:avLst>
          </a:prstGeom>
          <a:solidFill>
            <a:srgbClr val="EAF0F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1" name="TextBox 10"/>
          <p:cNvSpPr txBox="1"/>
          <p:nvPr/>
        </p:nvSpPr>
        <p:spPr>
          <a:xfrm>
            <a:off x="9198864" y="3566160"/>
            <a:ext cx="2331720" cy="1005840"/>
          </a:xfrm>
          <a:prstGeom prst="rect">
            <a:avLst/>
          </a:prstGeom>
          <a:noFill/>
        </p:spPr>
        <p:txBody>
          <a:bodyPr wrap="square" lIns="0" rIns="0" tIns="0" bIns="0">
            <a:spAutoFit/>
          </a:bodyPr>
          <a:lstStyle/>
          <a:p>
            <a:pPr algn="l">
              <a:lnSpc>
                <a:spcPct val="112000"/>
              </a:lnSpc>
              <a:spcBef>
                <a:spcPts val="0"/>
              </a:spcBef>
              <a:spcAft>
                <a:spcPts val="300"/>
              </a:spcAft>
            </a:pPr>
            <a:r>
              <a:rPr sz="1200" b="1" i="0">
                <a:solidFill>
                  <a:srgbClr val="1F3A5F"/>
                </a:solidFill>
                <a:latin typeface="맑은 고딕"/>
                <a:ea typeface="맑은 고딕"/>
                <a:cs typeface="맑은 고딕"/>
              </a:rPr>
              <a:t>다음 — 튜닝 고도화</a:t>
            </a:r>
          </a:p>
          <a:p>
            <a:pPr algn="l">
              <a:lnSpc>
                <a:spcPct val="118000"/>
              </a:lnSpc>
              <a:spcBef>
                <a:spcPts val="0"/>
              </a:spcBef>
              <a:spcAft>
                <a:spcPts val="0"/>
              </a:spcAft>
            </a:pPr>
            <a:r>
              <a:rPr sz="1050" b="0" i="0">
                <a:solidFill>
                  <a:srgbClr val="1F2937"/>
                </a:solidFill>
                <a:latin typeface="맑은 고딕"/>
                <a:ea typeface="맑은 고딕"/>
                <a:cs typeface="맑은 고딕"/>
              </a:rPr>
              <a:t>현실성 과교정 보정 · 게이지 정밀화</a:t>
            </a:r>
          </a:p>
        </p:txBody>
      </p:sp>
      <p:pic>
        <p:nvPicPr>
          <p:cNvPr id="12" name="Picture 11" descr="sprite_grandma.png"/>
          <p:cNvPicPr>
            <a:picLocks noChangeAspect="1"/>
          </p:cNvPicPr>
          <p:nvPr/>
        </p:nvPicPr>
        <p:blipFill>
          <a:blip r:embed="rId2"/>
          <a:stretch>
            <a:fillRect/>
          </a:stretch>
        </p:blipFill>
        <p:spPr>
          <a:xfrm>
            <a:off x="4381347" y="4892040"/>
            <a:ext cx="548640" cy="548640"/>
          </a:xfrm>
          <a:prstGeom prst="rect">
            <a:avLst/>
          </a:prstGeom>
        </p:spPr>
      </p:pic>
      <p:pic>
        <p:nvPicPr>
          <p:cNvPr id="13" name="Picture 12" descr="sprite_minsu.png"/>
          <p:cNvPicPr>
            <a:picLocks noChangeAspect="1"/>
          </p:cNvPicPr>
          <p:nvPr/>
        </p:nvPicPr>
        <p:blipFill>
          <a:blip r:embed="rId3"/>
          <a:stretch>
            <a:fillRect/>
          </a:stretch>
        </p:blipFill>
        <p:spPr>
          <a:xfrm>
            <a:off x="5067147" y="4892040"/>
            <a:ext cx="548640" cy="548640"/>
          </a:xfrm>
          <a:prstGeom prst="rect">
            <a:avLst/>
          </a:prstGeom>
        </p:spPr>
      </p:pic>
      <p:pic>
        <p:nvPicPr>
          <p:cNvPr id="14" name="Picture 13" descr="sprite_sua.png"/>
          <p:cNvPicPr>
            <a:picLocks noChangeAspect="1"/>
          </p:cNvPicPr>
          <p:nvPr/>
        </p:nvPicPr>
        <p:blipFill>
          <a:blip r:embed="rId4"/>
          <a:stretch>
            <a:fillRect/>
          </a:stretch>
        </p:blipFill>
        <p:spPr>
          <a:xfrm>
            <a:off x="5752947" y="4892040"/>
            <a:ext cx="548640" cy="548640"/>
          </a:xfrm>
          <a:prstGeom prst="rect">
            <a:avLst/>
          </a:prstGeom>
        </p:spPr>
      </p:pic>
      <p:pic>
        <p:nvPicPr>
          <p:cNvPr id="15" name="Picture 14" descr="sprite_owner.png"/>
          <p:cNvPicPr>
            <a:picLocks noChangeAspect="1"/>
          </p:cNvPicPr>
          <p:nvPr/>
        </p:nvPicPr>
        <p:blipFill>
          <a:blip r:embed="rId5"/>
          <a:stretch>
            <a:fillRect/>
          </a:stretch>
        </p:blipFill>
        <p:spPr>
          <a:xfrm>
            <a:off x="6438747" y="4892040"/>
            <a:ext cx="548640" cy="548640"/>
          </a:xfrm>
          <a:prstGeom prst="rect">
            <a:avLst/>
          </a:prstGeom>
        </p:spPr>
      </p:pic>
      <p:pic>
        <p:nvPicPr>
          <p:cNvPr id="16" name="Picture 15" descr="sprite_oldman.png"/>
          <p:cNvPicPr>
            <a:picLocks noChangeAspect="1"/>
          </p:cNvPicPr>
          <p:nvPr/>
        </p:nvPicPr>
        <p:blipFill>
          <a:blip r:embed="rId6"/>
          <a:stretch>
            <a:fillRect/>
          </a:stretch>
        </p:blipFill>
        <p:spPr>
          <a:xfrm>
            <a:off x="7124547" y="4892040"/>
            <a:ext cx="548640" cy="548640"/>
          </a:xfrm>
          <a:prstGeom prst="rect">
            <a:avLst/>
          </a:prstGeom>
        </p:spPr>
      </p:pic>
      <p:sp>
        <p:nvSpPr>
          <p:cNvPr id="17" name="TextBox 16"/>
          <p:cNvSpPr txBox="1"/>
          <p:nvPr/>
        </p:nvSpPr>
        <p:spPr>
          <a:xfrm>
            <a:off x="914400" y="5623560"/>
            <a:ext cx="10362895" cy="822960"/>
          </a:xfrm>
          <a:prstGeom prst="rect">
            <a:avLst/>
          </a:prstGeom>
          <a:noFill/>
        </p:spPr>
        <p:txBody>
          <a:bodyPr wrap="square" lIns="0" rIns="0" tIns="0" bIns="0">
            <a:spAutoFit/>
          </a:bodyPr>
          <a:lstStyle/>
          <a:p>
            <a:pPr algn="ctr">
              <a:lnSpc>
                <a:spcPct val="112000"/>
              </a:lnSpc>
              <a:spcBef>
                <a:spcPts val="0"/>
              </a:spcBef>
              <a:spcAft>
                <a:spcPts val="400"/>
              </a:spcAft>
            </a:pPr>
            <a:r>
              <a:rPr sz="2200" b="1" i="0">
                <a:solidFill>
                  <a:srgbClr val="1F3A5F"/>
                </a:solidFill>
                <a:latin typeface="맑은 고딕"/>
                <a:ea typeface="맑은 고딕"/>
                <a:cs typeface="맑은 고딕"/>
              </a:rPr>
              <a:t>감사합니다 — Q&amp;A</a:t>
            </a:r>
          </a:p>
          <a:p>
            <a:pPr algn="ctr">
              <a:lnSpc>
                <a:spcPct val="112000"/>
              </a:lnSpc>
              <a:spcBef>
                <a:spcPts val="0"/>
              </a:spcBef>
              <a:spcAft>
                <a:spcPts val="0"/>
              </a:spcAft>
            </a:pPr>
            <a:r>
              <a:rPr sz="1000" b="0" i="0">
                <a:solidFill>
                  <a:srgbClr val="6B7280"/>
                </a:solidFill>
                <a:latin typeface="맑은 고딕"/>
                <a:ea typeface="맑은 고딕"/>
                <a:cs typeface="맑은 고딕"/>
              </a:rPr>
              <a:t>데이터 nvidia/Nemotron-Personas-Korea (CC BY 4.0) · LangGraph · Streamlit · gpt-4o-mini · Generative Agents (Park et al.,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